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3683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LogInsight AI
Subtitle: AI-Powered Enterprise Log Analysis. Gemini 3.1 Flash Lite. Model Context Protocol.
Stats: 5 ML Engines, 4 Parsers, 6 Compliance Standards, Python 3.10+.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Millions of daily log lines, manual analysis misses cascading failures.
grep and ELK search but do not reason: no root cause, no prediction.
No single tool unifies parsing, detection, prediction, and compliance.
Solution:
One-click upload triggers an AI-run 5-step pipeline.
LLM chooses what to analyze and in what order.
Five independent engines reduce single-point failure.
Auto-generates root cause, severity, trends, compliance score, and fix list.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User -&gt; Frontend SPA (port 8000) -&gt; REST API -&gt; FastAPI Backend (Pydantic v2 schemas) -&gt; Google GenAI function calling -&gt; Gemini 3.1 Flash Lite -&gt; MCP Protocol over SSE -&gt; MCP Tool Server on port 8001 using FastMCP 2.0 -&gt; 5 tools -&gt; parsers, detectors, ML engines -&gt; Gemini synthesis -&gt; AI Report -&gt; User.
Three tiers: Presentation, Application, Intelligence.
Two servers: Backend on 8000, MCP on 8001.
Frontend served as static files from FastAPI.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MCP? Open standard by Anthropic for LLM-to-tool communication. Like USB-C for AI: one protocol connects any LLM to any tool server.
Server side: mcp_server/server.py on port 8001. Initialized with FastMCP("LogInsightMCP") from fastmcp library. Five tools are registered using @mcp.tool(); each wraps a dedicated analysis module. Each accepts log_content and config params, then returns JSON string. Runs standalone with mcp.run(transport="sse").
Client side: backend/services/mcp_client.py. MCPClient connects with from mcp.client.sse import sse_client. Per-call session connects to http://127.0.0.1:8001/sse, initializes, calls tool, parses text content block, and returns dict. Health check logs warning if unreachable, while backend still starts.
Tool flow: Gemini returns function_call; LLMOrchestrator intercepts; full original log_content is injected; MCPClient.call_tool routes over SSE; MCP server executes tool; results return to Gemini for the next iteration.
Architecture reason: tools are decoupled. Any tool can be swapped, scaled, or tested independently without touching AI logic.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orchestration flow:
Backend sends log content and system prompt to Gemini 3.1 Flash Lite.
Gemini sees five tool declarations as function schemas and autonomously chooses which tool to call first.
Backend intercepts each function call, routes it to MCP server, gets the result, feeds it back, and lets Gemini choose the next tool.
Repeats until all tools are called, with max 8 iterations.
Report sections: Log Overview, Key Findings, Error Analysis, Anomaly Detection, Event Correlation, Predictive Analysis, Compliance, Recommended Actions, Health Assessment.
Design decisions: temperature 0.3, full original log injected, tool results capped at 50K chars, three modes: full, parse, detect, and structured output enforced by system prompt.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parsers run by parse_logs:
Drain3: template mining, clusters messages, masks IPs, paths, timestamps.
Grok/PyGrok: Logstash-style extraction for six log formats.
JSON: NDJSON parsing with 10+ field alias normalization.
Regex: fallback parser for six timestamp formats, twelve level types, and components.
5 detectors run by detect_errors:
Salesforce LogAI: Drain parsing plus Isolation Forest anomaly scoring.
DeepLog LSTM: two-layer LSTM predicts next template and flags deviations.
PyOD IForest: seven-feature vector per line through Isolation Forest.
FlashText: Aho-Corasick O(n) scan with 50+ keywords and five severity tiers.
Regex Patterns: eleven compiled patterns for exceptions, HTTP, disk, memory, auth, SSL.
Aggregation: all five run independently, error lines are deduplicated, severity is merged, and health is assessed from CRITICAL to HEALTHY.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PII detection covers six patterns: email, IPv4, SSN, credit cards, phone, API keys.
Security rules:
Unencrypted protocols for SOC2/HIPAA, catches http, ftp, telnet.
Auth failure bursts for SOC2, catches five or more failed passwords as brute force.
Privilege escalation for ISO27001, catches sudo, root, admin events.
Certificate errors for PCI-DSS, catches expired or invalid SSL/TLS.
Debug data exposure for OWASP, catches production stack traces.
Service account issues for SOC2, catches failed system identity actions.
Audit trail checks: session IDs, user identity, timestamps, action types.
Scoring: passed over total times 100 minus severity penalty, then grade A/B/C/F with fix recommendations per violation.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Frontend: Vanilla JS, HTML, CSS, Vanta.js, AOS, Typed.js.
Backend: FastAPI, Uvicorn, Pydantic v2, aiofiles.
AI/LLM: Google Gemini 3.1 Flash Lite using google-genai SDK.
Protocol: MCP plus FastMCP 2.0 and SSE transport.
Parsing: Drain3, PyGrok.
Detection: PyTorch LSTM, PyOD, scikit-learn, LogAI, FlashText.
Data: NumPy, Pandas.
Project size: 16 packages, about 2500 LOC, 25 source files, Python 3.10+.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Capabilities:
Log formats: seven - Syslog, Apache access/error, HDFS, Zookeeper, JSON, Generic.
Detection engines: five - ML, DL, statistical, keyword, rule.
Compliance standards: six - SOC2, HIPAA, PCI-DSS, ISO27001, OWASP, GDPR.
Analysis modes: three - Full AI, parse-only, detect-only.
Comparison: side-by-side before/after deployment analysis.
Max file size: 10 MB / 5000 lines.
AI report delivers root cause with line numbers, severity ranking, cascading failure chains, error trend direction, compliance grade, and a numbered fix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enhancements:
Real-time log streaming using WebSocket.
Multi-file cross-service correlation.
Custom detection rule builder.
Historical trend dashboard.
PDF/JSON export and alerting.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2.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5.png"/><Relationship Id="rId4" Type="http://schemas.openxmlformats.org/officeDocument/2006/relationships/image" Target="../media/image26.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742810" y="961240"/>
            <a:ext cx="2057400" cy="201168"/>
          </a:xfrm>
          <a:prstGeom prst="rect">
            <a:avLst/>
          </a:prstGeom>
          <a:noFill/>
          <a:ln/>
        </p:spPr>
        <p:txBody>
          <a:bodyPr wrap="square" lIns="0" tIns="0" rIns="0" bIns="0" rtlCol="0" anchor="t">
            <a:normAutofit/>
          </a:bodyPr>
          <a:lstStyle/>
          <a:p>
            <a:pPr marL="0" indent="0" algn="l">
              <a:buNone/>
            </a:pPr>
            <a:r>
              <a:rPr lang="en-US" sz="1100" b="1" kern="0" spc="200" dirty="0">
                <a:solidFill>
                  <a:srgbClr val="00A8C8"/>
                </a:solidFill>
                <a:latin typeface="Aptos" pitchFamily="34" charset="0"/>
                <a:ea typeface="Aptos" pitchFamily="34" charset="-122"/>
                <a:cs typeface="Aptos" pitchFamily="34" charset="-120"/>
              </a:rPr>
              <a:t>LOGINSIGHT AI</a:t>
            </a:r>
            <a:endParaRPr lang="en-US" sz="1100" dirty="0"/>
          </a:p>
        </p:txBody>
      </p:sp>
      <p:sp>
        <p:nvSpPr>
          <p:cNvPr id="4" name="Text 1"/>
          <p:cNvSpPr/>
          <p:nvPr/>
        </p:nvSpPr>
        <p:spPr>
          <a:xfrm>
            <a:off x="742810" y="1354432"/>
            <a:ext cx="8728228" cy="1901952"/>
          </a:xfrm>
          <a:prstGeom prst="rect">
            <a:avLst/>
          </a:prstGeom>
          <a:noFill/>
          <a:ln/>
        </p:spPr>
        <p:txBody>
          <a:bodyPr wrap="square" lIns="0" tIns="0" rIns="0" bIns="0" rtlCol="0" anchor="t">
            <a:normAutofit/>
          </a:bodyPr>
          <a:lstStyle/>
          <a:p>
            <a:pPr marL="0" indent="0" algn="l">
              <a:lnSpc>
                <a:spcPct val="85000"/>
              </a:lnSpc>
              <a:buNone/>
            </a:pPr>
            <a:r>
              <a:rPr lang="en-US" sz="4800" b="1" dirty="0">
                <a:solidFill>
                  <a:srgbClr val="102033"/>
                </a:solidFill>
                <a:latin typeface="Aptos Display" pitchFamily="34" charset="0"/>
                <a:ea typeface="Aptos Display" pitchFamily="34" charset="-122"/>
                <a:cs typeface="Aptos Display" pitchFamily="34" charset="-120"/>
              </a:rPr>
              <a:t>AI-Powered</a:t>
            </a:r>
            <a:r>
              <a:rPr lang="en-US" sz="4800" dirty="0"/>
              <a:t> </a:t>
            </a:r>
            <a:r>
              <a:rPr lang="en-US" sz="4800" b="1" dirty="0">
                <a:solidFill>
                  <a:srgbClr val="102033"/>
                </a:solidFill>
                <a:latin typeface="Aptos Display" pitchFamily="34" charset="0"/>
                <a:ea typeface="Aptos Display" pitchFamily="34" charset="-122"/>
                <a:cs typeface="Aptos Display" pitchFamily="34" charset="-120"/>
              </a:rPr>
              <a:t>Enterprise</a:t>
            </a:r>
            <a:endParaRPr lang="en-US" sz="4800" dirty="0"/>
          </a:p>
          <a:p>
            <a:pPr marL="0" indent="0" algn="l">
              <a:lnSpc>
                <a:spcPct val="85000"/>
              </a:lnSpc>
              <a:buNone/>
            </a:pPr>
            <a:r>
              <a:rPr lang="en-US" sz="4800" b="1" dirty="0">
                <a:solidFill>
                  <a:srgbClr val="102033"/>
                </a:solidFill>
                <a:latin typeface="Aptos Display" pitchFamily="34" charset="0"/>
                <a:ea typeface="Aptos Display" pitchFamily="34" charset="-122"/>
                <a:cs typeface="Aptos Display" pitchFamily="34" charset="-120"/>
              </a:rPr>
              <a:t>Log Analysis</a:t>
            </a:r>
            <a:endParaRPr lang="en-US" sz="4800" dirty="0"/>
          </a:p>
        </p:txBody>
      </p:sp>
      <p:sp>
        <p:nvSpPr>
          <p:cNvPr id="5" name="Text 2"/>
          <p:cNvSpPr/>
          <p:nvPr/>
        </p:nvSpPr>
        <p:spPr>
          <a:xfrm>
            <a:off x="694944" y="3127248"/>
            <a:ext cx="5401056" cy="129136"/>
          </a:xfrm>
          <a:prstGeom prst="rect">
            <a:avLst/>
          </a:prstGeom>
          <a:noFill/>
          <a:ln/>
        </p:spPr>
        <p:txBody>
          <a:bodyPr wrap="square" lIns="0" tIns="0" rIns="0" bIns="0" rtlCol="0" anchor="t">
            <a:noAutofit/>
          </a:bodyPr>
          <a:lstStyle/>
          <a:p>
            <a:pPr marL="0" indent="0" algn="l">
              <a:buNone/>
            </a:pPr>
            <a:r>
              <a:rPr lang="en-US" sz="2000" b="1" dirty="0">
                <a:solidFill>
                  <a:srgbClr val="475569"/>
                </a:solidFill>
                <a:latin typeface="Aptos" pitchFamily="34" charset="0"/>
                <a:ea typeface="Aptos" pitchFamily="34" charset="-122"/>
                <a:cs typeface="Aptos" pitchFamily="34" charset="-120"/>
              </a:rPr>
              <a:t>Gemini 3.1 Flash Lite + Model Context Protocol</a:t>
            </a:r>
            <a:endParaRPr lang="en-US" sz="2000" dirty="0"/>
          </a:p>
        </p:txBody>
      </p:sp>
      <p:sp>
        <p:nvSpPr>
          <p:cNvPr id="6" name="Text 3"/>
          <p:cNvSpPr/>
          <p:nvPr/>
        </p:nvSpPr>
        <p:spPr>
          <a:xfrm>
            <a:off x="713232" y="3511296"/>
            <a:ext cx="6200752" cy="512064"/>
          </a:xfrm>
          <a:prstGeom prst="rect">
            <a:avLst/>
          </a:prstGeom>
          <a:noFill/>
          <a:ln/>
        </p:spPr>
        <p:txBody>
          <a:bodyPr wrap="square" lIns="0" tIns="0" rIns="0" bIns="0" rtlCol="0" anchor="t">
            <a:normAutofit/>
          </a:bodyPr>
          <a:lstStyle/>
          <a:p>
            <a:pPr marL="0" indent="0" algn="l">
              <a:lnSpc>
                <a:spcPct val="93000"/>
              </a:lnSpc>
              <a:buNone/>
            </a:pPr>
            <a:r>
              <a:rPr lang="en-US" sz="1400" dirty="0">
                <a:solidFill>
                  <a:srgbClr val="334155"/>
                </a:solidFill>
                <a:latin typeface="Aptos" pitchFamily="34" charset="0"/>
                <a:ea typeface="Aptos" pitchFamily="34" charset="-122"/>
                <a:cs typeface="Aptos" pitchFamily="34" charset="-120"/>
              </a:rPr>
              <a:t>An autonomous log intelligence layer that parses, detects, predicts, and converts enterprise noise into a ranked action plan.</a:t>
            </a:r>
            <a:endParaRPr lang="en-US" sz="1400" dirty="0"/>
          </a:p>
        </p:txBody>
      </p:sp>
      <p:sp>
        <p:nvSpPr>
          <p:cNvPr id="8" name="Shape 5"/>
          <p:cNvSpPr/>
          <p:nvPr/>
        </p:nvSpPr>
        <p:spPr>
          <a:xfrm>
            <a:off x="6035040" y="694944"/>
            <a:ext cx="528523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8" name="Shape 14"/>
          <p:cNvSpPr/>
          <p:nvPr/>
        </p:nvSpPr>
        <p:spPr>
          <a:xfrm>
            <a:off x="10213848" y="1408176"/>
            <a:ext cx="132588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2" name="Shape 18"/>
          <p:cNvSpPr/>
          <p:nvPr/>
        </p:nvSpPr>
        <p:spPr>
          <a:xfrm>
            <a:off x="10104120" y="4133088"/>
            <a:ext cx="132588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6" name="Shape 22"/>
          <p:cNvSpPr/>
          <p:nvPr/>
        </p:nvSpPr>
        <p:spPr>
          <a:xfrm>
            <a:off x="6428232" y="4315968"/>
            <a:ext cx="132588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53" name="Text 49"/>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01</a:t>
            </a:r>
            <a:endParaRPr lang="en-US" sz="780" dirty="0"/>
          </a:p>
        </p:txBody>
      </p:sp>
      <p:sp>
        <p:nvSpPr>
          <p:cNvPr id="54" name="Text 50"/>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sp>
        <p:nvSpPr>
          <p:cNvPr id="9" name="TextBox 8">
            <a:extLst>
              <a:ext uri="{FF2B5EF4-FFF2-40B4-BE49-F238E27FC236}">
                <a16:creationId xmlns:a16="http://schemas.microsoft.com/office/drawing/2014/main" id="{FECAA34E-102D-0757-C496-AE12B17AABEC}"/>
              </a:ext>
            </a:extLst>
          </p:cNvPr>
          <p:cNvSpPr txBox="1"/>
          <p:nvPr/>
        </p:nvSpPr>
        <p:spPr>
          <a:xfrm>
            <a:off x="-342900" y="4420552"/>
            <a:ext cx="6172200" cy="1477328"/>
          </a:xfrm>
          <a:prstGeom prst="rect">
            <a:avLst/>
          </a:prstGeom>
          <a:noFill/>
        </p:spPr>
        <p:txBody>
          <a:bodyPr wrap="square">
            <a:spAutoFit/>
          </a:bodyPr>
          <a:lstStyle/>
          <a:p>
            <a:r>
              <a:rPr lang="en-IN" dirty="0">
                <a:solidFill>
                  <a:srgbClr val="FF0000"/>
                </a:solidFill>
              </a:rPr>
              <a:t>	Team Details:</a:t>
            </a:r>
          </a:p>
          <a:p>
            <a:r>
              <a:rPr lang="en-IN" dirty="0">
                <a:solidFill>
                  <a:schemeClr val="bg1"/>
                </a:solidFill>
              </a:rPr>
              <a:t>	</a:t>
            </a:r>
            <a:r>
              <a:rPr lang="en-IN" sz="1800" dirty="0"/>
              <a:t>Shaik Mohammad     AP23110011178</a:t>
            </a:r>
          </a:p>
          <a:p>
            <a:r>
              <a:rPr lang="en-IN" sz="1800" dirty="0"/>
              <a:t>	Akhil Babu	    AP23110011185</a:t>
            </a:r>
          </a:p>
          <a:p>
            <a:r>
              <a:rPr lang="en-IN" sz="1800" dirty="0"/>
              <a:t>	Abhiram		    AP23110011166</a:t>
            </a:r>
          </a:p>
          <a:p>
            <a:r>
              <a:rPr lang="en-IN" sz="1800" dirty="0"/>
              <a:t>	Krishna Chaitanya    AP23110010966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840" b="1" kern="0" spc="180" dirty="0">
                <a:solidFill>
                  <a:srgbClr val="00A8C8"/>
                </a:solidFill>
                <a:latin typeface="Aptos" pitchFamily="34" charset="0"/>
                <a:ea typeface="Aptos" pitchFamily="34" charset="-122"/>
                <a:cs typeface="Aptos" pitchFamily="34" charset="-120"/>
              </a:rPr>
              <a:t>PROBLEM AND SOLUTION</a:t>
            </a:r>
            <a:endParaRPr lang="en-US" sz="84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From log chaos to autonomous intelligence</a:t>
            </a:r>
            <a:endParaRPr lang="en-US" sz="2650" dirty="0"/>
          </a:p>
        </p:txBody>
      </p:sp>
      <p:sp>
        <p:nvSpPr>
          <p:cNvPr id="5" name="Text 2"/>
          <p:cNvSpPr/>
          <p:nvPr/>
        </p:nvSpPr>
        <p:spPr>
          <a:xfrm>
            <a:off x="621792" y="1083751"/>
            <a:ext cx="9966960" cy="329184"/>
          </a:xfrm>
          <a:prstGeom prst="rect">
            <a:avLst/>
          </a:prstGeom>
          <a:noFill/>
          <a:ln/>
        </p:spPr>
        <p:txBody>
          <a:bodyPr wrap="square" lIns="0" tIns="0" rIns="0" bIns="0" rtlCol="0" anchor="t">
            <a:noAutofit/>
          </a:bodyPr>
          <a:lstStyle/>
          <a:p>
            <a:pPr marL="0" indent="0" algn="l">
              <a:buNone/>
            </a:pPr>
            <a:r>
              <a:rPr lang="en-US" sz="1600" dirty="0">
                <a:solidFill>
                  <a:srgbClr val="64748B"/>
                </a:solidFill>
                <a:latin typeface="Aptos" pitchFamily="34" charset="0"/>
                <a:ea typeface="Aptos" pitchFamily="34" charset="-122"/>
                <a:cs typeface="Aptos" pitchFamily="34" charset="-120"/>
              </a:rPr>
              <a:t>A single pipeline replaces fragmented search, manual triage, and disconnected compliance checks.</a:t>
            </a:r>
            <a:endParaRPr lang="en-US" sz="1600" dirty="0"/>
          </a:p>
        </p:txBody>
      </p:sp>
      <p:sp>
        <p:nvSpPr>
          <p:cNvPr id="6" name="Shape 3"/>
          <p:cNvSpPr/>
          <p:nvPr/>
        </p:nvSpPr>
        <p:spPr>
          <a:xfrm>
            <a:off x="621792" y="1627632"/>
            <a:ext cx="5074920" cy="4315968"/>
          </a:xfrm>
          <a:prstGeom prst="roundRect">
            <a:avLst>
              <a:gd name="adj" fmla="val 2754"/>
            </a:avLst>
          </a:prstGeom>
          <a:solidFill>
            <a:srgbClr val="FFFFFF">
              <a:alpha val="93000"/>
            </a:srgbClr>
          </a:solidFill>
          <a:ln w="12700">
            <a:solidFill>
              <a:srgbClr val="FFFFFF">
                <a:alpha val="90000"/>
              </a:srgbClr>
            </a:solidFill>
            <a:prstDash val="solid"/>
          </a:ln>
          <a:effectLst>
            <a:outerShdw blurRad="203200" dist="25400" dir="2700000" algn="bl" rotWithShape="0">
              <a:srgbClr val="9AB2C3">
                <a:alpha val="13000"/>
              </a:srgbClr>
            </a:outerShdw>
          </a:effectLst>
        </p:spPr>
      </p:sp>
      <p:sp>
        <p:nvSpPr>
          <p:cNvPr id="7" name="Shape 4"/>
          <p:cNvSpPr/>
          <p:nvPr/>
        </p:nvSpPr>
        <p:spPr>
          <a:xfrm>
            <a:off x="667512" y="1664208"/>
            <a:ext cx="498348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8" name="Shape 5"/>
          <p:cNvSpPr/>
          <p:nvPr/>
        </p:nvSpPr>
        <p:spPr>
          <a:xfrm>
            <a:off x="6492240" y="1627632"/>
            <a:ext cx="4983480" cy="4315968"/>
          </a:xfrm>
          <a:prstGeom prst="roundRect">
            <a:avLst>
              <a:gd name="adj" fmla="val 2754"/>
            </a:avLst>
          </a:prstGeom>
          <a:solidFill>
            <a:srgbClr val="FFFFFF">
              <a:alpha val="90000"/>
            </a:srgbClr>
          </a:solidFill>
          <a:ln w="12700">
            <a:solidFill>
              <a:srgbClr val="FFFFFF">
                <a:alpha val="90000"/>
              </a:srgbClr>
            </a:solidFill>
            <a:prstDash val="solid"/>
          </a:ln>
          <a:effectLst>
            <a:outerShdw blurRad="215900" dist="25400" dir="2700000" algn="bl" rotWithShape="0">
              <a:srgbClr val="9AB2C3">
                <a:alpha val="13000"/>
              </a:srgbClr>
            </a:outerShdw>
          </a:effectLst>
        </p:spPr>
      </p:sp>
      <p:sp>
        <p:nvSpPr>
          <p:cNvPr id="9" name="Shape 6"/>
          <p:cNvSpPr/>
          <p:nvPr/>
        </p:nvSpPr>
        <p:spPr>
          <a:xfrm>
            <a:off x="6537960" y="1664208"/>
            <a:ext cx="489204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0" name="Text 7"/>
          <p:cNvSpPr/>
          <p:nvPr/>
        </p:nvSpPr>
        <p:spPr>
          <a:xfrm>
            <a:off x="896112" y="1847088"/>
            <a:ext cx="2276856" cy="160020"/>
          </a:xfrm>
          <a:prstGeom prst="rect">
            <a:avLst/>
          </a:prstGeom>
          <a:noFill/>
          <a:ln/>
        </p:spPr>
        <p:txBody>
          <a:bodyPr wrap="square" lIns="0" tIns="0" rIns="0" bIns="0" rtlCol="0" anchor="t">
            <a:noAutofit/>
          </a:bodyPr>
          <a:lstStyle/>
          <a:p>
            <a:pPr marL="0" indent="0" algn="l">
              <a:buNone/>
            </a:pPr>
            <a:r>
              <a:rPr lang="en-US" sz="3200" b="1" dirty="0">
                <a:solidFill>
                  <a:srgbClr val="FF6B6B"/>
                </a:solidFill>
                <a:latin typeface="Aptos Display" pitchFamily="34" charset="0"/>
                <a:ea typeface="Aptos Display" pitchFamily="34" charset="-122"/>
                <a:cs typeface="Aptos Display" pitchFamily="34" charset="-120"/>
              </a:rPr>
              <a:t>Problem</a:t>
            </a:r>
            <a:endParaRPr lang="en-US" sz="3200" dirty="0"/>
          </a:p>
        </p:txBody>
      </p:sp>
      <p:sp>
        <p:nvSpPr>
          <p:cNvPr id="11" name="Text 8"/>
          <p:cNvSpPr/>
          <p:nvPr/>
        </p:nvSpPr>
        <p:spPr>
          <a:xfrm>
            <a:off x="6784848" y="1847088"/>
            <a:ext cx="2536434" cy="150876"/>
          </a:xfrm>
          <a:prstGeom prst="rect">
            <a:avLst/>
          </a:prstGeom>
          <a:noFill/>
          <a:ln/>
        </p:spPr>
        <p:txBody>
          <a:bodyPr wrap="square" lIns="0" tIns="0" rIns="0" bIns="0" rtlCol="0" anchor="t">
            <a:noAutofit/>
          </a:bodyPr>
          <a:lstStyle/>
          <a:p>
            <a:pPr marL="0" indent="0" algn="l">
              <a:buNone/>
            </a:pPr>
            <a:r>
              <a:rPr lang="en-US" sz="3200" b="1" dirty="0">
                <a:solidFill>
                  <a:srgbClr val="10B981"/>
                </a:solidFill>
                <a:latin typeface="Aptos Display" pitchFamily="34" charset="0"/>
                <a:ea typeface="Aptos Display" pitchFamily="34" charset="-122"/>
                <a:cs typeface="Aptos Display" pitchFamily="34" charset="-120"/>
              </a:rPr>
              <a:t>Solution</a:t>
            </a:r>
            <a:endParaRPr lang="en-US" sz="3200" dirty="0"/>
          </a:p>
        </p:txBody>
      </p:sp>
      <p:sp>
        <p:nvSpPr>
          <p:cNvPr id="12" name="Shape 9"/>
          <p:cNvSpPr/>
          <p:nvPr/>
        </p:nvSpPr>
        <p:spPr>
          <a:xfrm>
            <a:off x="932688" y="2395728"/>
            <a:ext cx="4370832" cy="822960"/>
          </a:xfrm>
          <a:prstGeom prst="roundRect">
            <a:avLst>
              <a:gd name="adj" fmla="val 14444"/>
            </a:avLst>
          </a:prstGeom>
          <a:solidFill>
            <a:srgbClr val="FFFFFF">
              <a:alpha val="85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13" name="Shape 10"/>
          <p:cNvSpPr/>
          <p:nvPr/>
        </p:nvSpPr>
        <p:spPr>
          <a:xfrm>
            <a:off x="978408" y="2432304"/>
            <a:ext cx="427939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4" name="Shape 11"/>
          <p:cNvSpPr/>
          <p:nvPr/>
        </p:nvSpPr>
        <p:spPr>
          <a:xfrm>
            <a:off x="1133856" y="2596896"/>
            <a:ext cx="365760" cy="365760"/>
          </a:xfrm>
          <a:prstGeom prst="ellipse">
            <a:avLst/>
          </a:prstGeom>
          <a:solidFill>
            <a:srgbClr val="FFF1F2"/>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15" name="Image 1" descr="wave icon"/>
          <p:cNvPicPr>
            <a:picLocks noChangeAspect="1"/>
          </p:cNvPicPr>
          <p:nvPr/>
        </p:nvPicPr>
        <p:blipFill>
          <a:blip r:embed="rId4"/>
          <a:stretch>
            <a:fillRect/>
          </a:stretch>
        </p:blipFill>
        <p:spPr>
          <a:xfrm>
            <a:off x="1214323" y="2677363"/>
            <a:ext cx="204826" cy="204826"/>
          </a:xfrm>
          <a:prstGeom prst="rect">
            <a:avLst/>
          </a:prstGeom>
        </p:spPr>
      </p:pic>
      <p:sp>
        <p:nvSpPr>
          <p:cNvPr id="16" name="Text 12"/>
          <p:cNvSpPr/>
          <p:nvPr/>
        </p:nvSpPr>
        <p:spPr>
          <a:xfrm>
            <a:off x="1700784" y="2615184"/>
            <a:ext cx="3383280" cy="237744"/>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Millions of daily lines</a:t>
            </a:r>
            <a:endParaRPr lang="en-US" sz="1600" dirty="0"/>
          </a:p>
        </p:txBody>
      </p:sp>
      <p:sp>
        <p:nvSpPr>
          <p:cNvPr id="17" name="Text 13"/>
          <p:cNvSpPr/>
          <p:nvPr/>
        </p:nvSpPr>
        <p:spPr>
          <a:xfrm>
            <a:off x="1700784" y="2926080"/>
            <a:ext cx="3429000" cy="201168"/>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334155"/>
                </a:solidFill>
                <a:latin typeface="Aptos" pitchFamily="34" charset="0"/>
                <a:ea typeface="Aptos" pitchFamily="34" charset="-122"/>
                <a:cs typeface="Aptos" pitchFamily="34" charset="-120"/>
              </a:rPr>
              <a:t>Manual analysis misses cascading failures and weak early signals.</a:t>
            </a:r>
            <a:endParaRPr lang="en-US" sz="1200" dirty="0"/>
          </a:p>
        </p:txBody>
      </p:sp>
      <p:sp>
        <p:nvSpPr>
          <p:cNvPr id="18" name="Shape 14"/>
          <p:cNvSpPr/>
          <p:nvPr/>
        </p:nvSpPr>
        <p:spPr>
          <a:xfrm>
            <a:off x="932688" y="3383280"/>
            <a:ext cx="4370832" cy="822960"/>
          </a:xfrm>
          <a:prstGeom prst="roundRect">
            <a:avLst>
              <a:gd name="adj" fmla="val 14444"/>
            </a:avLst>
          </a:prstGeom>
          <a:solidFill>
            <a:srgbClr val="FFFFFF">
              <a:alpha val="85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19" name="Shape 15"/>
          <p:cNvSpPr/>
          <p:nvPr/>
        </p:nvSpPr>
        <p:spPr>
          <a:xfrm>
            <a:off x="978408" y="3419856"/>
            <a:ext cx="427939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0" name="Shape 16"/>
          <p:cNvSpPr/>
          <p:nvPr/>
        </p:nvSpPr>
        <p:spPr>
          <a:xfrm>
            <a:off x="1133856" y="3584448"/>
            <a:ext cx="365760" cy="365760"/>
          </a:xfrm>
          <a:prstGeom prst="ellipse">
            <a:avLst/>
          </a:prstGeom>
          <a:solidFill>
            <a:srgbClr val="FFF1F2"/>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21" name="Image 2" descr="chart icon"/>
          <p:cNvPicPr>
            <a:picLocks noChangeAspect="1"/>
          </p:cNvPicPr>
          <p:nvPr/>
        </p:nvPicPr>
        <p:blipFill>
          <a:blip r:embed="rId5"/>
          <a:stretch>
            <a:fillRect/>
          </a:stretch>
        </p:blipFill>
        <p:spPr>
          <a:xfrm>
            <a:off x="1214323" y="3664915"/>
            <a:ext cx="204826" cy="204826"/>
          </a:xfrm>
          <a:prstGeom prst="rect">
            <a:avLst/>
          </a:prstGeom>
        </p:spPr>
      </p:pic>
      <p:sp>
        <p:nvSpPr>
          <p:cNvPr id="22" name="Text 17"/>
          <p:cNvSpPr/>
          <p:nvPr/>
        </p:nvSpPr>
        <p:spPr>
          <a:xfrm>
            <a:off x="1700784" y="3602736"/>
            <a:ext cx="3383280" cy="237744"/>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Search is not reasoning</a:t>
            </a:r>
            <a:endParaRPr lang="en-US" sz="1600" dirty="0"/>
          </a:p>
        </p:txBody>
      </p:sp>
      <p:sp>
        <p:nvSpPr>
          <p:cNvPr id="23" name="Text 18"/>
          <p:cNvSpPr/>
          <p:nvPr/>
        </p:nvSpPr>
        <p:spPr>
          <a:xfrm>
            <a:off x="1700784" y="3913632"/>
            <a:ext cx="3429000" cy="201168"/>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334155"/>
                </a:solidFill>
                <a:latin typeface="Aptos" pitchFamily="34" charset="0"/>
                <a:ea typeface="Aptos" pitchFamily="34" charset="-122"/>
                <a:cs typeface="Aptos" pitchFamily="34" charset="-120"/>
              </a:rPr>
              <a:t>grep and ELK retrieve matches, but do not infer root cause or predict next impact.</a:t>
            </a:r>
            <a:endParaRPr lang="en-US" sz="1200" dirty="0"/>
          </a:p>
        </p:txBody>
      </p:sp>
      <p:sp>
        <p:nvSpPr>
          <p:cNvPr id="24" name="Shape 19"/>
          <p:cNvSpPr/>
          <p:nvPr/>
        </p:nvSpPr>
        <p:spPr>
          <a:xfrm>
            <a:off x="932688" y="4370832"/>
            <a:ext cx="4370832" cy="822960"/>
          </a:xfrm>
          <a:prstGeom prst="roundRect">
            <a:avLst>
              <a:gd name="adj" fmla="val 14444"/>
            </a:avLst>
          </a:prstGeom>
          <a:solidFill>
            <a:srgbClr val="FFFFFF">
              <a:alpha val="85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25" name="Shape 20"/>
          <p:cNvSpPr/>
          <p:nvPr/>
        </p:nvSpPr>
        <p:spPr>
          <a:xfrm>
            <a:off x="978408" y="4407408"/>
            <a:ext cx="427939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6" name="Shape 21"/>
          <p:cNvSpPr/>
          <p:nvPr/>
        </p:nvSpPr>
        <p:spPr>
          <a:xfrm>
            <a:off x="1133856" y="4572000"/>
            <a:ext cx="365760" cy="365760"/>
          </a:xfrm>
          <a:prstGeom prst="ellipse">
            <a:avLst/>
          </a:prstGeom>
          <a:solidFill>
            <a:srgbClr val="FFF1F2"/>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27" name="Image 3" descr="layers icon"/>
          <p:cNvPicPr>
            <a:picLocks noChangeAspect="1"/>
          </p:cNvPicPr>
          <p:nvPr/>
        </p:nvPicPr>
        <p:blipFill>
          <a:blip r:embed="rId6"/>
          <a:stretch>
            <a:fillRect/>
          </a:stretch>
        </p:blipFill>
        <p:spPr>
          <a:xfrm>
            <a:off x="1214323" y="4652467"/>
            <a:ext cx="204826" cy="204826"/>
          </a:xfrm>
          <a:prstGeom prst="rect">
            <a:avLst/>
          </a:prstGeom>
        </p:spPr>
      </p:pic>
      <p:sp>
        <p:nvSpPr>
          <p:cNvPr id="28" name="Text 22"/>
          <p:cNvSpPr/>
          <p:nvPr/>
        </p:nvSpPr>
        <p:spPr>
          <a:xfrm>
            <a:off x="1700784" y="4590288"/>
            <a:ext cx="3383280" cy="237744"/>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Tool fragmentation</a:t>
            </a:r>
            <a:endParaRPr lang="en-US" sz="1600" dirty="0"/>
          </a:p>
        </p:txBody>
      </p:sp>
      <p:sp>
        <p:nvSpPr>
          <p:cNvPr id="29" name="Text 23"/>
          <p:cNvSpPr/>
          <p:nvPr/>
        </p:nvSpPr>
        <p:spPr>
          <a:xfrm>
            <a:off x="1700784" y="4901184"/>
            <a:ext cx="3429000" cy="201168"/>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334155"/>
                </a:solidFill>
                <a:latin typeface="Aptos" pitchFamily="34" charset="0"/>
                <a:ea typeface="Aptos" pitchFamily="34" charset="-122"/>
                <a:cs typeface="Aptos" pitchFamily="34" charset="-120"/>
              </a:rPr>
              <a:t>Parsing, detection, prediction, and compliance live in separate workflows.</a:t>
            </a:r>
            <a:endParaRPr lang="en-US" sz="1200" dirty="0"/>
          </a:p>
        </p:txBody>
      </p:sp>
      <p:sp>
        <p:nvSpPr>
          <p:cNvPr id="30" name="Shape 24"/>
          <p:cNvSpPr/>
          <p:nvPr/>
        </p:nvSpPr>
        <p:spPr>
          <a:xfrm>
            <a:off x="6839712" y="2395728"/>
            <a:ext cx="438912" cy="438912"/>
          </a:xfrm>
          <a:prstGeom prst="ellipse">
            <a:avLst/>
          </a:prstGeom>
          <a:solidFill>
            <a:srgbClr val="F0FDFA">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31" name="Image 4" descr="upload icon"/>
          <p:cNvPicPr>
            <a:picLocks noChangeAspect="1"/>
          </p:cNvPicPr>
          <p:nvPr/>
        </p:nvPicPr>
        <p:blipFill>
          <a:blip r:embed="rId7"/>
          <a:stretch>
            <a:fillRect/>
          </a:stretch>
        </p:blipFill>
        <p:spPr>
          <a:xfrm>
            <a:off x="6936273" y="2492289"/>
            <a:ext cx="245791" cy="245791"/>
          </a:xfrm>
          <a:prstGeom prst="rect">
            <a:avLst/>
          </a:prstGeom>
        </p:spPr>
      </p:pic>
      <p:sp>
        <p:nvSpPr>
          <p:cNvPr id="32" name="Text 25"/>
          <p:cNvSpPr/>
          <p:nvPr/>
        </p:nvSpPr>
        <p:spPr>
          <a:xfrm>
            <a:off x="7424928" y="2423160"/>
            <a:ext cx="3364992" cy="182880"/>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One-click upload</a:t>
            </a:r>
            <a:endParaRPr lang="en-US" sz="1600" dirty="0"/>
          </a:p>
        </p:txBody>
      </p:sp>
      <p:sp>
        <p:nvSpPr>
          <p:cNvPr id="33" name="Text 26"/>
          <p:cNvSpPr/>
          <p:nvPr/>
        </p:nvSpPr>
        <p:spPr>
          <a:xfrm>
            <a:off x="7424928" y="2670048"/>
            <a:ext cx="3364992" cy="256032"/>
          </a:xfrm>
          <a:prstGeom prst="rect">
            <a:avLst/>
          </a:prstGeom>
          <a:noFill/>
          <a:ln/>
        </p:spPr>
        <p:txBody>
          <a:bodyPr wrap="square" lIns="0" tIns="0" rIns="0" bIns="0" rtlCol="0" anchor="t">
            <a:noAutofit/>
          </a:bodyPr>
          <a:lstStyle/>
          <a:p>
            <a:pPr marL="0" indent="0" algn="l">
              <a:buNone/>
            </a:pPr>
            <a:r>
              <a:rPr lang="en-US" sz="1200" dirty="0">
                <a:solidFill>
                  <a:srgbClr val="334155"/>
                </a:solidFill>
                <a:latin typeface="Aptos" pitchFamily="34" charset="0"/>
                <a:ea typeface="Aptos" pitchFamily="34" charset="-122"/>
                <a:cs typeface="Aptos" pitchFamily="34" charset="-120"/>
              </a:rPr>
              <a:t>AI runs a complete 5-step pipeline from raw logs to final report.</a:t>
            </a:r>
            <a:endParaRPr lang="en-US" sz="1200" dirty="0"/>
          </a:p>
        </p:txBody>
      </p:sp>
      <p:sp>
        <p:nvSpPr>
          <p:cNvPr id="34" name="Shape 27"/>
          <p:cNvSpPr/>
          <p:nvPr/>
        </p:nvSpPr>
        <p:spPr>
          <a:xfrm>
            <a:off x="7059168" y="2871216"/>
            <a:ext cx="914" cy="256032"/>
          </a:xfrm>
          <a:prstGeom prst="line">
            <a:avLst/>
          </a:prstGeom>
          <a:noFill/>
          <a:ln w="12700">
            <a:solidFill>
              <a:srgbClr val="10B981">
                <a:alpha val="58000"/>
              </a:srgbClr>
            </a:solidFill>
            <a:prstDash val="solid"/>
            <a:tailEnd type="triangle"/>
          </a:ln>
        </p:spPr>
      </p:sp>
      <p:sp>
        <p:nvSpPr>
          <p:cNvPr id="35" name="Shape 28"/>
          <p:cNvSpPr/>
          <p:nvPr/>
        </p:nvSpPr>
        <p:spPr>
          <a:xfrm>
            <a:off x="6839712" y="3200400"/>
            <a:ext cx="438912" cy="438912"/>
          </a:xfrm>
          <a:prstGeom prst="ellipse">
            <a:avLst/>
          </a:prstGeom>
          <a:solidFill>
            <a:srgbClr val="F0FDFA">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36" name="Image 5" descr="brain icon"/>
          <p:cNvPicPr>
            <a:picLocks noChangeAspect="1"/>
          </p:cNvPicPr>
          <p:nvPr/>
        </p:nvPicPr>
        <p:blipFill>
          <a:blip r:embed="rId8"/>
          <a:stretch>
            <a:fillRect/>
          </a:stretch>
        </p:blipFill>
        <p:spPr>
          <a:xfrm>
            <a:off x="6936273" y="3296961"/>
            <a:ext cx="245791" cy="245791"/>
          </a:xfrm>
          <a:prstGeom prst="rect">
            <a:avLst/>
          </a:prstGeom>
        </p:spPr>
      </p:pic>
      <p:sp>
        <p:nvSpPr>
          <p:cNvPr id="37" name="Text 29"/>
          <p:cNvSpPr/>
          <p:nvPr/>
        </p:nvSpPr>
        <p:spPr>
          <a:xfrm>
            <a:off x="7424928" y="3227832"/>
            <a:ext cx="3364992" cy="182880"/>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Agentic orchestration</a:t>
            </a:r>
            <a:endParaRPr lang="en-US" sz="1600" dirty="0"/>
          </a:p>
        </p:txBody>
      </p:sp>
      <p:sp>
        <p:nvSpPr>
          <p:cNvPr id="38" name="Text 30"/>
          <p:cNvSpPr/>
          <p:nvPr/>
        </p:nvSpPr>
        <p:spPr>
          <a:xfrm>
            <a:off x="7424928" y="3474720"/>
            <a:ext cx="3364992" cy="256032"/>
          </a:xfrm>
          <a:prstGeom prst="rect">
            <a:avLst/>
          </a:prstGeom>
          <a:noFill/>
          <a:ln/>
        </p:spPr>
        <p:txBody>
          <a:bodyPr wrap="square" lIns="0" tIns="0" rIns="0" bIns="0" rtlCol="0" anchor="t">
            <a:normAutofit/>
          </a:bodyPr>
          <a:lstStyle/>
          <a:p>
            <a:pPr marL="0" indent="0" algn="l">
              <a:buNone/>
            </a:pPr>
            <a:r>
              <a:rPr lang="en-US" sz="1200" dirty="0">
                <a:solidFill>
                  <a:srgbClr val="334155"/>
                </a:solidFill>
                <a:latin typeface="Aptos" pitchFamily="34" charset="0"/>
                <a:ea typeface="Aptos" pitchFamily="34" charset="-122"/>
                <a:cs typeface="Aptos" pitchFamily="34" charset="-120"/>
              </a:rPr>
              <a:t>The LLM decides what to analyze and in what order.</a:t>
            </a:r>
            <a:endParaRPr lang="en-US" sz="1200" dirty="0"/>
          </a:p>
        </p:txBody>
      </p:sp>
      <p:sp>
        <p:nvSpPr>
          <p:cNvPr id="39" name="Shape 31"/>
          <p:cNvSpPr/>
          <p:nvPr/>
        </p:nvSpPr>
        <p:spPr>
          <a:xfrm>
            <a:off x="7059168" y="3675888"/>
            <a:ext cx="914" cy="256032"/>
          </a:xfrm>
          <a:prstGeom prst="line">
            <a:avLst/>
          </a:prstGeom>
          <a:noFill/>
          <a:ln w="12700">
            <a:solidFill>
              <a:srgbClr val="10B981">
                <a:alpha val="58000"/>
              </a:srgbClr>
            </a:solidFill>
            <a:prstDash val="solid"/>
            <a:tailEnd type="triangle"/>
          </a:ln>
        </p:spPr>
      </p:sp>
      <p:sp>
        <p:nvSpPr>
          <p:cNvPr id="40" name="Shape 32"/>
          <p:cNvSpPr/>
          <p:nvPr/>
        </p:nvSpPr>
        <p:spPr>
          <a:xfrm>
            <a:off x="6839712" y="4005072"/>
            <a:ext cx="438912" cy="438912"/>
          </a:xfrm>
          <a:prstGeom prst="ellipse">
            <a:avLst/>
          </a:prstGeom>
          <a:solidFill>
            <a:srgbClr val="F0FDFA">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41" name="Image 6" descr="flow icon"/>
          <p:cNvPicPr>
            <a:picLocks noChangeAspect="1"/>
          </p:cNvPicPr>
          <p:nvPr/>
        </p:nvPicPr>
        <p:blipFill>
          <a:blip r:embed="rId9"/>
          <a:stretch>
            <a:fillRect/>
          </a:stretch>
        </p:blipFill>
        <p:spPr>
          <a:xfrm>
            <a:off x="6936273" y="4101633"/>
            <a:ext cx="245791" cy="245791"/>
          </a:xfrm>
          <a:prstGeom prst="rect">
            <a:avLst/>
          </a:prstGeom>
        </p:spPr>
      </p:pic>
      <p:sp>
        <p:nvSpPr>
          <p:cNvPr id="42" name="Text 33"/>
          <p:cNvSpPr/>
          <p:nvPr/>
        </p:nvSpPr>
        <p:spPr>
          <a:xfrm>
            <a:off x="7424928" y="4032504"/>
            <a:ext cx="3364992" cy="182880"/>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Independent engines</a:t>
            </a:r>
            <a:endParaRPr lang="en-US" sz="1600" dirty="0"/>
          </a:p>
        </p:txBody>
      </p:sp>
      <p:sp>
        <p:nvSpPr>
          <p:cNvPr id="43" name="Text 34"/>
          <p:cNvSpPr/>
          <p:nvPr/>
        </p:nvSpPr>
        <p:spPr>
          <a:xfrm>
            <a:off x="7424928" y="4279392"/>
            <a:ext cx="3364992" cy="256032"/>
          </a:xfrm>
          <a:prstGeom prst="rect">
            <a:avLst/>
          </a:prstGeom>
          <a:noFill/>
          <a:ln/>
        </p:spPr>
        <p:txBody>
          <a:bodyPr wrap="square" lIns="0" tIns="0" rIns="0" bIns="0" rtlCol="0" anchor="t">
            <a:noAutofit/>
          </a:bodyPr>
          <a:lstStyle/>
          <a:p>
            <a:pPr marL="0" indent="0" algn="l">
              <a:buNone/>
            </a:pPr>
            <a:r>
              <a:rPr lang="en-US" sz="1200" dirty="0">
                <a:solidFill>
                  <a:srgbClr val="334155"/>
                </a:solidFill>
                <a:latin typeface="Aptos" pitchFamily="34" charset="0"/>
                <a:ea typeface="Aptos" pitchFamily="34" charset="-122"/>
                <a:cs typeface="Aptos" pitchFamily="34" charset="-120"/>
              </a:rPr>
              <a:t>Five ML/DL/rule engines avoid a single point of failure.</a:t>
            </a:r>
            <a:endParaRPr lang="en-US" sz="1200" dirty="0"/>
          </a:p>
        </p:txBody>
      </p:sp>
      <p:sp>
        <p:nvSpPr>
          <p:cNvPr id="44" name="Shape 35"/>
          <p:cNvSpPr/>
          <p:nvPr/>
        </p:nvSpPr>
        <p:spPr>
          <a:xfrm>
            <a:off x="7059168" y="4480560"/>
            <a:ext cx="914" cy="256032"/>
          </a:xfrm>
          <a:prstGeom prst="line">
            <a:avLst/>
          </a:prstGeom>
          <a:noFill/>
          <a:ln w="12700">
            <a:solidFill>
              <a:srgbClr val="10B981">
                <a:alpha val="58000"/>
              </a:srgbClr>
            </a:solidFill>
            <a:prstDash val="solid"/>
            <a:tailEnd type="triangle"/>
          </a:ln>
        </p:spPr>
      </p:sp>
      <p:sp>
        <p:nvSpPr>
          <p:cNvPr id="45" name="Shape 36"/>
          <p:cNvSpPr/>
          <p:nvPr/>
        </p:nvSpPr>
        <p:spPr>
          <a:xfrm>
            <a:off x="6839712" y="4809744"/>
            <a:ext cx="438912" cy="438912"/>
          </a:xfrm>
          <a:prstGeom prst="ellipse">
            <a:avLst/>
          </a:prstGeom>
          <a:solidFill>
            <a:srgbClr val="F0FDFA">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46" name="Image 7" descr="spark icon"/>
          <p:cNvPicPr>
            <a:picLocks noChangeAspect="1"/>
          </p:cNvPicPr>
          <p:nvPr/>
        </p:nvPicPr>
        <p:blipFill>
          <a:blip r:embed="rId10"/>
          <a:stretch>
            <a:fillRect/>
          </a:stretch>
        </p:blipFill>
        <p:spPr>
          <a:xfrm>
            <a:off x="6936273" y="4906305"/>
            <a:ext cx="245791" cy="245791"/>
          </a:xfrm>
          <a:prstGeom prst="rect">
            <a:avLst/>
          </a:prstGeom>
        </p:spPr>
      </p:pic>
      <p:sp>
        <p:nvSpPr>
          <p:cNvPr id="47" name="Text 37"/>
          <p:cNvSpPr/>
          <p:nvPr/>
        </p:nvSpPr>
        <p:spPr>
          <a:xfrm>
            <a:off x="7424928" y="4837176"/>
            <a:ext cx="3364992" cy="182880"/>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Actionable outputs</a:t>
            </a:r>
            <a:endParaRPr lang="en-US" sz="1600" dirty="0"/>
          </a:p>
        </p:txBody>
      </p:sp>
      <p:sp>
        <p:nvSpPr>
          <p:cNvPr id="48" name="Text 38"/>
          <p:cNvSpPr/>
          <p:nvPr/>
        </p:nvSpPr>
        <p:spPr>
          <a:xfrm>
            <a:off x="7424928" y="5084064"/>
            <a:ext cx="3364992" cy="256032"/>
          </a:xfrm>
          <a:prstGeom prst="rect">
            <a:avLst/>
          </a:prstGeom>
          <a:noFill/>
          <a:ln/>
        </p:spPr>
        <p:txBody>
          <a:bodyPr wrap="square" lIns="0" tIns="0" rIns="0" bIns="0" rtlCol="0" anchor="t">
            <a:noAutofit/>
          </a:bodyPr>
          <a:lstStyle/>
          <a:p>
            <a:pPr marL="0" indent="0" algn="l">
              <a:buNone/>
            </a:pPr>
            <a:r>
              <a:rPr lang="en-US" sz="1200" dirty="0">
                <a:solidFill>
                  <a:srgbClr val="334155"/>
                </a:solidFill>
                <a:latin typeface="Aptos" pitchFamily="34" charset="0"/>
                <a:ea typeface="Aptos" pitchFamily="34" charset="-122"/>
                <a:cs typeface="Aptos" pitchFamily="34" charset="-120"/>
              </a:rPr>
              <a:t>Root cause, severity, trends, compliance score, and fix list.</a:t>
            </a:r>
            <a:endParaRPr lang="en-US" sz="1200" dirty="0"/>
          </a:p>
        </p:txBody>
      </p:sp>
      <p:sp>
        <p:nvSpPr>
          <p:cNvPr id="49" name="Shape 39"/>
          <p:cNvSpPr/>
          <p:nvPr/>
        </p:nvSpPr>
        <p:spPr>
          <a:xfrm>
            <a:off x="5696712" y="3227832"/>
            <a:ext cx="658368" cy="658368"/>
          </a:xfrm>
          <a:prstGeom prst="ellipse">
            <a:avLst/>
          </a:prstGeom>
          <a:solidFill>
            <a:srgbClr val="FFFFFF"/>
          </a:solidFill>
          <a:ln w="13970">
            <a:solidFill>
              <a:srgbClr val="BFEFFF">
                <a:alpha val="90000"/>
              </a:srgbClr>
            </a:solidFill>
            <a:prstDash val="solid"/>
          </a:ln>
          <a:effectLst>
            <a:outerShdw blurRad="177800" dist="12700" dir="2700000" algn="bl" rotWithShape="0">
              <a:srgbClr val="74D9F2">
                <a:alpha val="18000"/>
              </a:srgbClr>
            </a:outerShdw>
          </a:effectLst>
        </p:spPr>
      </p:sp>
      <p:sp>
        <p:nvSpPr>
          <p:cNvPr id="50" name="Text 40"/>
          <p:cNvSpPr/>
          <p:nvPr/>
        </p:nvSpPr>
        <p:spPr>
          <a:xfrm>
            <a:off x="5861304" y="3419856"/>
            <a:ext cx="310896" cy="100584"/>
          </a:xfrm>
          <a:prstGeom prst="rect">
            <a:avLst/>
          </a:prstGeom>
          <a:noFill/>
          <a:ln/>
        </p:spPr>
        <p:txBody>
          <a:bodyPr wrap="square" lIns="0" tIns="0" rIns="0" bIns="0" rtlCol="0" anchor="t">
            <a:noAutofit/>
          </a:bodyPr>
          <a:lstStyle/>
          <a:p>
            <a:pPr marL="0" indent="0" algn="ctr">
              <a:buNone/>
            </a:pPr>
            <a:r>
              <a:rPr lang="en-US" sz="1200" b="1" dirty="0">
                <a:solidFill>
                  <a:srgbClr val="00A8C8"/>
                </a:solidFill>
                <a:latin typeface="Aptos" pitchFamily="34" charset="0"/>
                <a:ea typeface="Aptos" pitchFamily="34" charset="-122"/>
                <a:cs typeface="Aptos" pitchFamily="34" charset="-120"/>
              </a:rPr>
              <a:t>AI</a:t>
            </a:r>
            <a:endParaRPr lang="en-US" sz="1200" dirty="0"/>
          </a:p>
        </p:txBody>
      </p:sp>
      <p:sp>
        <p:nvSpPr>
          <p:cNvPr id="51" name="Shape 41"/>
          <p:cNvSpPr/>
          <p:nvPr/>
        </p:nvSpPr>
        <p:spPr>
          <a:xfrm>
            <a:off x="5321808" y="3557016"/>
            <a:ext cx="402336" cy="914"/>
          </a:xfrm>
          <a:prstGeom prst="line">
            <a:avLst/>
          </a:prstGeom>
          <a:noFill/>
          <a:ln w="19050">
            <a:solidFill>
              <a:srgbClr val="00A8C8">
                <a:alpha val="65000"/>
              </a:srgbClr>
            </a:solidFill>
            <a:prstDash val="solid"/>
            <a:tailEnd type="triangle"/>
          </a:ln>
        </p:spPr>
      </p:sp>
      <p:sp>
        <p:nvSpPr>
          <p:cNvPr id="52" name="Shape 42"/>
          <p:cNvSpPr/>
          <p:nvPr/>
        </p:nvSpPr>
        <p:spPr>
          <a:xfrm>
            <a:off x="6336792" y="3557016"/>
            <a:ext cx="365760" cy="914"/>
          </a:xfrm>
          <a:prstGeom prst="line">
            <a:avLst/>
          </a:prstGeom>
          <a:noFill/>
          <a:ln w="19050">
            <a:solidFill>
              <a:srgbClr val="10B981">
                <a:alpha val="65000"/>
              </a:srgbClr>
            </a:solidFill>
            <a:prstDash val="solid"/>
            <a:tailEnd type="triangle"/>
          </a:ln>
        </p:spPr>
      </p:sp>
      <p:sp>
        <p:nvSpPr>
          <p:cNvPr id="55" name="Text 45"/>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1100" b="1" dirty="0">
                <a:solidFill>
                  <a:srgbClr val="00A8C8"/>
                </a:solidFill>
                <a:latin typeface="Aptos" pitchFamily="34" charset="0"/>
                <a:ea typeface="Aptos" pitchFamily="34" charset="-122"/>
                <a:cs typeface="Aptos" pitchFamily="34" charset="-120"/>
              </a:rPr>
              <a:t>02</a:t>
            </a:r>
            <a:endParaRPr lang="en-US" sz="1100" dirty="0"/>
          </a:p>
        </p:txBody>
      </p:sp>
      <p:sp>
        <p:nvSpPr>
          <p:cNvPr id="56" name="Text 46"/>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1100" dirty="0">
                <a:solidFill>
                  <a:srgbClr val="64748B"/>
                </a:solidFill>
                <a:latin typeface="Aptos" pitchFamily="34" charset="0"/>
                <a:ea typeface="Aptos" pitchFamily="34" charset="-122"/>
                <a:cs typeface="Aptos" pitchFamily="34" charset="-120"/>
              </a:rPr>
              <a:t>/ 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840" b="1" kern="0" spc="180" dirty="0">
                <a:solidFill>
                  <a:srgbClr val="00A8C8"/>
                </a:solidFill>
                <a:latin typeface="Aptos" pitchFamily="34" charset="0"/>
                <a:ea typeface="Aptos" pitchFamily="34" charset="-122"/>
                <a:cs typeface="Aptos" pitchFamily="34" charset="-120"/>
              </a:rPr>
              <a:t>SYSTEM OVERVIEW</a:t>
            </a:r>
            <a:endParaRPr lang="en-US" sz="84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Three-tier architecture with an MCP intelligence layer</a:t>
            </a:r>
            <a:endParaRPr lang="en-US" sz="2650" dirty="0"/>
          </a:p>
        </p:txBody>
      </p:sp>
      <p:sp>
        <p:nvSpPr>
          <p:cNvPr id="5" name="Text 2"/>
          <p:cNvSpPr/>
          <p:nvPr/>
        </p:nvSpPr>
        <p:spPr>
          <a:xfrm>
            <a:off x="658368" y="1152144"/>
            <a:ext cx="7680960" cy="329184"/>
          </a:xfrm>
          <a:prstGeom prst="rect">
            <a:avLst/>
          </a:prstGeom>
          <a:noFill/>
          <a:ln/>
        </p:spPr>
        <p:txBody>
          <a:bodyPr wrap="square" lIns="0" tIns="0" rIns="0" bIns="0" rtlCol="0" anchor="t">
            <a:normAutofit/>
          </a:bodyPr>
          <a:lstStyle/>
          <a:p>
            <a:pPr marL="0" indent="0" algn="l">
              <a:buNone/>
            </a:pPr>
            <a:r>
              <a:rPr lang="en-US" sz="1040" dirty="0">
                <a:solidFill>
                  <a:srgbClr val="64748B"/>
                </a:solidFill>
                <a:latin typeface="Aptos" pitchFamily="34" charset="0"/>
                <a:ea typeface="Aptos" pitchFamily="34" charset="-122"/>
                <a:cs typeface="Aptos" pitchFamily="34" charset="-120"/>
              </a:rPr>
              <a:t>Two servers: FastAPI on 8000 and MCP tool server on 8001. Frontend static files are served from FastAPI.</a:t>
            </a:r>
            <a:endParaRPr lang="en-US" sz="1040" dirty="0"/>
          </a:p>
        </p:txBody>
      </p:sp>
      <p:sp>
        <p:nvSpPr>
          <p:cNvPr id="77" name="Text 64"/>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03</a:t>
            </a:r>
            <a:endParaRPr lang="en-US" sz="780" dirty="0"/>
          </a:p>
        </p:txBody>
      </p:sp>
      <p:sp>
        <p:nvSpPr>
          <p:cNvPr id="78" name="Text 65"/>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pic>
        <p:nvPicPr>
          <p:cNvPr id="80" name="Picture 79">
            <a:extLst>
              <a:ext uri="{FF2B5EF4-FFF2-40B4-BE49-F238E27FC236}">
                <a16:creationId xmlns:a16="http://schemas.microsoft.com/office/drawing/2014/main" id="{B790F49A-FD55-0F50-7008-163B8E213C27}"/>
              </a:ext>
            </a:extLst>
          </p:cNvPr>
          <p:cNvPicPr>
            <a:picLocks noChangeAspect="1"/>
          </p:cNvPicPr>
          <p:nvPr/>
        </p:nvPicPr>
        <p:blipFill>
          <a:blip r:embed="rId4"/>
          <a:stretch>
            <a:fillRect/>
          </a:stretch>
        </p:blipFill>
        <p:spPr>
          <a:xfrm>
            <a:off x="3653495" y="1391909"/>
            <a:ext cx="5226325" cy="5226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1000" b="1" kern="0" spc="180" dirty="0">
                <a:solidFill>
                  <a:srgbClr val="00A8C8"/>
                </a:solidFill>
                <a:latin typeface="Aptos" pitchFamily="34" charset="0"/>
                <a:ea typeface="Aptos" pitchFamily="34" charset="-122"/>
                <a:cs typeface="Aptos" pitchFamily="34" charset="-120"/>
              </a:rPr>
              <a:t>MCP IMPLEMENTATION</a:t>
            </a:r>
            <a:endParaRPr lang="en-US" sz="100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A clean protocol boundary between the LLM and tools</a:t>
            </a:r>
            <a:endParaRPr lang="en-US" sz="2650" dirty="0"/>
          </a:p>
        </p:txBody>
      </p:sp>
      <p:sp>
        <p:nvSpPr>
          <p:cNvPr id="5" name="Text 2"/>
          <p:cNvSpPr/>
          <p:nvPr/>
        </p:nvSpPr>
        <p:spPr>
          <a:xfrm>
            <a:off x="594360" y="1261499"/>
            <a:ext cx="7680960" cy="329184"/>
          </a:xfrm>
          <a:prstGeom prst="rect">
            <a:avLst/>
          </a:prstGeom>
          <a:noFill/>
          <a:ln/>
        </p:spPr>
        <p:txBody>
          <a:bodyPr wrap="square" lIns="0" tIns="0" rIns="0" bIns="0" rtlCol="0" anchor="t">
            <a:normAutofit fontScale="92500"/>
          </a:bodyPr>
          <a:lstStyle/>
          <a:p>
            <a:pPr marL="0" indent="0" algn="l">
              <a:buNone/>
            </a:pPr>
            <a:r>
              <a:rPr lang="en-US" sz="1400" dirty="0">
                <a:solidFill>
                  <a:srgbClr val="64748B"/>
                </a:solidFill>
                <a:latin typeface="Aptos" pitchFamily="34" charset="0"/>
                <a:ea typeface="Aptos" pitchFamily="34" charset="-122"/>
                <a:cs typeface="Aptos" pitchFamily="34" charset="-120"/>
              </a:rPr>
              <a:t>Anthropic's MCP works like USB-C for AI: one standard channel lets any model connect to any tool server.</a:t>
            </a:r>
            <a:endParaRPr lang="en-US" sz="1400" dirty="0"/>
          </a:p>
        </p:txBody>
      </p:sp>
      <p:sp>
        <p:nvSpPr>
          <p:cNvPr id="6" name="Shape 3"/>
          <p:cNvSpPr/>
          <p:nvPr/>
        </p:nvSpPr>
        <p:spPr>
          <a:xfrm>
            <a:off x="713232" y="1792224"/>
            <a:ext cx="3218688" cy="4370832"/>
          </a:xfrm>
          <a:prstGeom prst="roundRect">
            <a:avLst>
              <a:gd name="adj" fmla="val 4000"/>
            </a:avLst>
          </a:prstGeom>
          <a:solidFill>
            <a:srgbClr val="FFFFFF">
              <a:alpha val="90000"/>
            </a:srgbClr>
          </a:solidFill>
          <a:ln w="12700">
            <a:solidFill>
              <a:srgbClr val="FFFFFF">
                <a:alpha val="90000"/>
              </a:srgbClr>
            </a:solidFill>
            <a:prstDash val="solid"/>
          </a:ln>
          <a:effectLst>
            <a:outerShdw blurRad="177800" dist="25400" dir="2700000" algn="bl" rotWithShape="0">
              <a:srgbClr val="9AB2C3">
                <a:alpha val="13000"/>
              </a:srgbClr>
            </a:outerShdw>
          </a:effectLst>
        </p:spPr>
        <p:txBody>
          <a:bodyPr/>
          <a:lstStyle/>
          <a:p>
            <a:endParaRPr lang="en-IN" dirty="0"/>
          </a:p>
        </p:txBody>
      </p:sp>
      <p:sp>
        <p:nvSpPr>
          <p:cNvPr id="7" name="Shape 4"/>
          <p:cNvSpPr/>
          <p:nvPr/>
        </p:nvSpPr>
        <p:spPr>
          <a:xfrm>
            <a:off x="758952" y="1828800"/>
            <a:ext cx="288036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8" name="Shape 5"/>
          <p:cNvSpPr/>
          <p:nvPr/>
        </p:nvSpPr>
        <p:spPr>
          <a:xfrm>
            <a:off x="987552" y="2084832"/>
            <a:ext cx="603504" cy="603504"/>
          </a:xfrm>
          <a:prstGeom prst="ellipse">
            <a:avLst/>
          </a:prstGeom>
          <a:solidFill>
            <a:srgbClr val="ECFE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9" name="Image 1" descr="flow icon"/>
          <p:cNvPicPr>
            <a:picLocks noChangeAspect="1"/>
          </p:cNvPicPr>
          <p:nvPr/>
        </p:nvPicPr>
        <p:blipFill>
          <a:blip r:embed="rId4"/>
          <a:stretch>
            <a:fillRect/>
          </a:stretch>
        </p:blipFill>
        <p:spPr>
          <a:xfrm>
            <a:off x="1120323" y="2217603"/>
            <a:ext cx="337962" cy="337962"/>
          </a:xfrm>
          <a:prstGeom prst="rect">
            <a:avLst/>
          </a:prstGeom>
        </p:spPr>
      </p:pic>
      <p:sp>
        <p:nvSpPr>
          <p:cNvPr id="10" name="Text 6"/>
          <p:cNvSpPr/>
          <p:nvPr/>
        </p:nvSpPr>
        <p:spPr>
          <a:xfrm>
            <a:off x="1712214" y="1961388"/>
            <a:ext cx="1842516" cy="205740"/>
          </a:xfrm>
          <a:prstGeom prst="rect">
            <a:avLst/>
          </a:prstGeom>
          <a:noFill/>
          <a:ln/>
        </p:spPr>
        <p:txBody>
          <a:bodyPr wrap="square" lIns="0" tIns="0" rIns="0" bIns="0" rtlCol="0" anchor="t">
            <a:noAutofit/>
          </a:bodyPr>
          <a:lstStyle/>
          <a:p>
            <a:pPr marL="0" indent="0" algn="l">
              <a:buNone/>
            </a:pPr>
            <a:r>
              <a:rPr lang="en-US" sz="2800" b="1" dirty="0">
                <a:solidFill>
                  <a:srgbClr val="102033"/>
                </a:solidFill>
                <a:latin typeface="Aptos Display" pitchFamily="34" charset="0"/>
                <a:ea typeface="Aptos Display" pitchFamily="34" charset="-122"/>
                <a:cs typeface="Aptos Display" pitchFamily="34" charset="-120"/>
              </a:rPr>
              <a:t>What MCP gives us</a:t>
            </a:r>
            <a:endParaRPr lang="en-US" sz="2800" dirty="0"/>
          </a:p>
        </p:txBody>
      </p:sp>
      <p:sp>
        <p:nvSpPr>
          <p:cNvPr id="11" name="Text 7"/>
          <p:cNvSpPr/>
          <p:nvPr/>
        </p:nvSpPr>
        <p:spPr>
          <a:xfrm>
            <a:off x="996696" y="3104341"/>
            <a:ext cx="2615184" cy="786384"/>
          </a:xfrm>
          <a:prstGeom prst="rect">
            <a:avLst/>
          </a:prstGeom>
          <a:noFill/>
          <a:ln/>
        </p:spPr>
        <p:txBody>
          <a:bodyPr wrap="square" lIns="0" tIns="0" rIns="0" bIns="0" rtlCol="0" anchor="t">
            <a:noAutofit/>
          </a:bodyPr>
          <a:lstStyle/>
          <a:p>
            <a:pPr marL="0" indent="0" algn="l">
              <a:lnSpc>
                <a:spcPct val="88000"/>
              </a:lnSpc>
              <a:buNone/>
            </a:pPr>
            <a:r>
              <a:rPr lang="en-US" sz="1600" dirty="0">
                <a:solidFill>
                  <a:srgbClr val="334155"/>
                </a:solidFill>
                <a:latin typeface="Aptos" pitchFamily="34" charset="0"/>
                <a:ea typeface="Aptos" pitchFamily="34" charset="-122"/>
                <a:cs typeface="Aptos" pitchFamily="34" charset="-120"/>
              </a:rPr>
              <a:t>Decoupled tools, independent scaling, testable modules, and a protocol that can move off-machine without changing the AI brain.</a:t>
            </a:r>
            <a:endParaRPr lang="en-US" sz="1600" dirty="0"/>
          </a:p>
        </p:txBody>
      </p:sp>
      <p:sp>
        <p:nvSpPr>
          <p:cNvPr id="12" name="Shape 8"/>
          <p:cNvSpPr/>
          <p:nvPr/>
        </p:nvSpPr>
        <p:spPr>
          <a:xfrm>
            <a:off x="987552" y="4700016"/>
            <a:ext cx="1316736" cy="484632"/>
          </a:xfrm>
          <a:prstGeom prst="roundRect">
            <a:avLst>
              <a:gd name="adj" fmla="val 35294"/>
            </a:avLst>
          </a:prstGeom>
          <a:solidFill>
            <a:srgbClr val="ECFEFF">
              <a:alpha val="90000"/>
            </a:srgbClr>
          </a:solidFill>
          <a:ln w="9525">
            <a:solidFill>
              <a:srgbClr val="D7E7F0">
                <a:alpha val="90000"/>
              </a:srgbClr>
            </a:solidFill>
            <a:prstDash val="solid"/>
          </a:ln>
        </p:spPr>
      </p:sp>
      <p:sp>
        <p:nvSpPr>
          <p:cNvPr id="13" name="Text 9"/>
          <p:cNvSpPr/>
          <p:nvPr/>
        </p:nvSpPr>
        <p:spPr>
          <a:xfrm>
            <a:off x="1197864" y="4718304"/>
            <a:ext cx="1024128" cy="118872"/>
          </a:xfrm>
          <a:prstGeom prst="rect">
            <a:avLst/>
          </a:prstGeom>
          <a:noFill/>
          <a:ln/>
        </p:spPr>
        <p:txBody>
          <a:bodyPr wrap="square" lIns="0" tIns="0" rIns="0" bIns="0" rtlCol="0" anchor="t">
            <a:noAutofit/>
          </a:bodyPr>
          <a:lstStyle/>
          <a:p>
            <a:pPr marL="0" indent="0" algn="ctr">
              <a:buNone/>
            </a:pPr>
            <a:r>
              <a:rPr lang="en-US" sz="1400" b="1" dirty="0">
                <a:solidFill>
                  <a:srgbClr val="00A8C8"/>
                </a:solidFill>
                <a:latin typeface="Aptos" pitchFamily="34" charset="0"/>
                <a:ea typeface="Aptos" pitchFamily="34" charset="-122"/>
                <a:cs typeface="Aptos" pitchFamily="34" charset="-120"/>
              </a:rPr>
              <a:t>Open standard</a:t>
            </a:r>
            <a:endParaRPr lang="en-US" sz="1400" dirty="0"/>
          </a:p>
        </p:txBody>
      </p:sp>
      <p:sp>
        <p:nvSpPr>
          <p:cNvPr id="14" name="Shape 10"/>
          <p:cNvSpPr/>
          <p:nvPr/>
        </p:nvSpPr>
        <p:spPr>
          <a:xfrm>
            <a:off x="2372868" y="4726188"/>
            <a:ext cx="1266444" cy="404622"/>
          </a:xfrm>
          <a:prstGeom prst="roundRect">
            <a:avLst>
              <a:gd name="adj" fmla="val 35294"/>
            </a:avLst>
          </a:prstGeom>
          <a:solidFill>
            <a:srgbClr val="F0FDF4">
              <a:alpha val="90000"/>
            </a:srgbClr>
          </a:solidFill>
          <a:ln w="9525">
            <a:solidFill>
              <a:srgbClr val="D7E7F0">
                <a:alpha val="90000"/>
              </a:srgbClr>
            </a:solidFill>
            <a:prstDash val="solid"/>
          </a:ln>
        </p:spPr>
        <p:txBody>
          <a:bodyPr/>
          <a:lstStyle/>
          <a:p>
            <a:endParaRPr lang="en-IN" dirty="0"/>
          </a:p>
        </p:txBody>
      </p:sp>
      <p:sp>
        <p:nvSpPr>
          <p:cNvPr id="15" name="Text 11"/>
          <p:cNvSpPr/>
          <p:nvPr/>
        </p:nvSpPr>
        <p:spPr>
          <a:xfrm>
            <a:off x="2514600" y="4726188"/>
            <a:ext cx="932688" cy="118872"/>
          </a:xfrm>
          <a:prstGeom prst="rect">
            <a:avLst/>
          </a:prstGeom>
          <a:noFill/>
          <a:ln/>
        </p:spPr>
        <p:txBody>
          <a:bodyPr wrap="square" lIns="0" tIns="0" rIns="0" bIns="0" rtlCol="0" anchor="t">
            <a:noAutofit/>
          </a:bodyPr>
          <a:lstStyle/>
          <a:p>
            <a:pPr marL="0" indent="0" algn="ctr">
              <a:buNone/>
            </a:pPr>
            <a:r>
              <a:rPr lang="en-US" sz="1400" b="1" dirty="0">
                <a:solidFill>
                  <a:srgbClr val="10B981"/>
                </a:solidFill>
                <a:latin typeface="Aptos" pitchFamily="34" charset="0"/>
                <a:ea typeface="Aptos" pitchFamily="34" charset="-122"/>
                <a:cs typeface="Aptos" pitchFamily="34" charset="-120"/>
              </a:rPr>
              <a:t>SSE transport</a:t>
            </a:r>
            <a:endParaRPr lang="en-US" sz="1400" dirty="0"/>
          </a:p>
        </p:txBody>
      </p:sp>
      <p:sp>
        <p:nvSpPr>
          <p:cNvPr id="16" name="Shape 12"/>
          <p:cNvSpPr/>
          <p:nvPr/>
        </p:nvSpPr>
        <p:spPr>
          <a:xfrm>
            <a:off x="1088136" y="5235966"/>
            <a:ext cx="1115568" cy="399724"/>
          </a:xfrm>
          <a:prstGeom prst="roundRect">
            <a:avLst>
              <a:gd name="adj" fmla="val 35294"/>
            </a:avLst>
          </a:prstGeom>
          <a:solidFill>
            <a:srgbClr val="FFF7ED">
              <a:alpha val="90000"/>
            </a:srgbClr>
          </a:solidFill>
          <a:ln w="9525">
            <a:solidFill>
              <a:srgbClr val="D7E7F0">
                <a:alpha val="90000"/>
              </a:srgbClr>
            </a:solidFill>
            <a:prstDash val="solid"/>
          </a:ln>
        </p:spPr>
      </p:sp>
      <p:sp>
        <p:nvSpPr>
          <p:cNvPr id="17" name="Text 13"/>
          <p:cNvSpPr/>
          <p:nvPr/>
        </p:nvSpPr>
        <p:spPr>
          <a:xfrm>
            <a:off x="1197864" y="5322834"/>
            <a:ext cx="914400" cy="118872"/>
          </a:xfrm>
          <a:prstGeom prst="rect">
            <a:avLst/>
          </a:prstGeom>
          <a:noFill/>
          <a:ln/>
        </p:spPr>
        <p:txBody>
          <a:bodyPr wrap="square" lIns="0" tIns="0" rIns="0" bIns="0" rtlCol="0" anchor="t">
            <a:noAutofit/>
          </a:bodyPr>
          <a:lstStyle/>
          <a:p>
            <a:pPr marL="0" indent="0" algn="ctr">
              <a:buNone/>
            </a:pPr>
            <a:r>
              <a:rPr lang="en-US" sz="1400" b="1" dirty="0">
                <a:solidFill>
                  <a:srgbClr val="F59E0B"/>
                </a:solidFill>
                <a:latin typeface="Aptos" pitchFamily="34" charset="0"/>
                <a:ea typeface="Aptos" pitchFamily="34" charset="-122"/>
                <a:cs typeface="Aptos" pitchFamily="34" charset="-120"/>
              </a:rPr>
              <a:t>JSON tools</a:t>
            </a:r>
            <a:endParaRPr lang="en-US" sz="1400" dirty="0"/>
          </a:p>
        </p:txBody>
      </p:sp>
      <p:sp>
        <p:nvSpPr>
          <p:cNvPr id="18" name="Shape 14"/>
          <p:cNvSpPr/>
          <p:nvPr/>
        </p:nvSpPr>
        <p:spPr>
          <a:xfrm>
            <a:off x="2313432" y="5235966"/>
            <a:ext cx="1266444" cy="399724"/>
          </a:xfrm>
          <a:prstGeom prst="roundRect">
            <a:avLst>
              <a:gd name="adj" fmla="val 35294"/>
            </a:avLst>
          </a:prstGeom>
          <a:solidFill>
            <a:srgbClr val="F5F3FF">
              <a:alpha val="90000"/>
            </a:srgbClr>
          </a:solidFill>
          <a:ln w="9525">
            <a:solidFill>
              <a:srgbClr val="D7E7F0">
                <a:alpha val="90000"/>
              </a:srgbClr>
            </a:solidFill>
            <a:prstDash val="solid"/>
          </a:ln>
        </p:spPr>
      </p:sp>
      <p:sp>
        <p:nvSpPr>
          <p:cNvPr id="19" name="Text 15"/>
          <p:cNvSpPr/>
          <p:nvPr/>
        </p:nvSpPr>
        <p:spPr>
          <a:xfrm>
            <a:off x="2514600" y="5322834"/>
            <a:ext cx="914400" cy="118872"/>
          </a:xfrm>
          <a:prstGeom prst="rect">
            <a:avLst/>
          </a:prstGeom>
          <a:noFill/>
          <a:ln/>
        </p:spPr>
        <p:txBody>
          <a:bodyPr wrap="square" lIns="0" tIns="0" rIns="0" bIns="0" rtlCol="0" anchor="t">
            <a:noAutofit/>
          </a:bodyPr>
          <a:lstStyle/>
          <a:p>
            <a:pPr marL="0" indent="0" algn="ctr">
              <a:buNone/>
            </a:pPr>
            <a:r>
              <a:rPr lang="en-US" sz="1400" b="1" dirty="0">
                <a:solidFill>
                  <a:srgbClr val="8B5CF6"/>
                </a:solidFill>
                <a:latin typeface="Aptos" pitchFamily="34" charset="0"/>
                <a:ea typeface="Aptos" pitchFamily="34" charset="-122"/>
                <a:cs typeface="Aptos" pitchFamily="34" charset="-120"/>
              </a:rPr>
              <a:t>Swappable</a:t>
            </a:r>
            <a:endParaRPr lang="en-US" sz="1400" dirty="0"/>
          </a:p>
        </p:txBody>
      </p:sp>
      <p:sp>
        <p:nvSpPr>
          <p:cNvPr id="20" name="Shape 16"/>
          <p:cNvSpPr/>
          <p:nvPr/>
        </p:nvSpPr>
        <p:spPr>
          <a:xfrm>
            <a:off x="4069080" y="1792224"/>
            <a:ext cx="3511296" cy="1847088"/>
          </a:xfrm>
          <a:prstGeom prst="roundRect">
            <a:avLst>
              <a:gd name="adj" fmla="val 6436"/>
            </a:avLst>
          </a:prstGeom>
          <a:solidFill>
            <a:srgbClr val="FFFFFF">
              <a:alpha val="92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21" name="Shape 17"/>
          <p:cNvSpPr/>
          <p:nvPr/>
        </p:nvSpPr>
        <p:spPr>
          <a:xfrm>
            <a:off x="4114800" y="1828800"/>
            <a:ext cx="3419856"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2" name="Shape 18"/>
          <p:cNvSpPr/>
          <p:nvPr/>
        </p:nvSpPr>
        <p:spPr>
          <a:xfrm>
            <a:off x="7973568" y="1792224"/>
            <a:ext cx="3511296" cy="1847088"/>
          </a:xfrm>
          <a:prstGeom prst="roundRect">
            <a:avLst>
              <a:gd name="adj" fmla="val 6436"/>
            </a:avLst>
          </a:prstGeom>
          <a:solidFill>
            <a:srgbClr val="FFFFFF">
              <a:alpha val="92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23" name="Shape 19"/>
          <p:cNvSpPr/>
          <p:nvPr/>
        </p:nvSpPr>
        <p:spPr>
          <a:xfrm>
            <a:off x="8019288" y="1828800"/>
            <a:ext cx="3419856"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4" name="Text 20"/>
          <p:cNvSpPr/>
          <p:nvPr/>
        </p:nvSpPr>
        <p:spPr>
          <a:xfrm>
            <a:off x="4352543" y="2039112"/>
            <a:ext cx="2272191" cy="128016"/>
          </a:xfrm>
          <a:prstGeom prst="rect">
            <a:avLst/>
          </a:prstGeom>
          <a:noFill/>
          <a:ln/>
        </p:spPr>
        <p:txBody>
          <a:bodyPr wrap="square" lIns="0" tIns="0" rIns="0" bIns="0" rtlCol="0" anchor="t">
            <a:noAutofit/>
          </a:bodyPr>
          <a:lstStyle/>
          <a:p>
            <a:pPr marL="0" indent="0" algn="l">
              <a:buNone/>
            </a:pPr>
            <a:r>
              <a:rPr lang="en-US" sz="2800" b="1" dirty="0">
                <a:solidFill>
                  <a:srgbClr val="00A8C8"/>
                </a:solidFill>
                <a:latin typeface="Aptos Display" pitchFamily="34" charset="0"/>
                <a:ea typeface="Aptos Display" pitchFamily="34" charset="-122"/>
                <a:cs typeface="Aptos Display" pitchFamily="34" charset="-120"/>
              </a:rPr>
              <a:t>Server side</a:t>
            </a:r>
            <a:endParaRPr lang="en-US" sz="2800" dirty="0"/>
          </a:p>
        </p:txBody>
      </p:sp>
      <p:sp>
        <p:nvSpPr>
          <p:cNvPr id="25" name="Text 21"/>
          <p:cNvSpPr/>
          <p:nvPr/>
        </p:nvSpPr>
        <p:spPr>
          <a:xfrm>
            <a:off x="8257031" y="2039112"/>
            <a:ext cx="2575809" cy="178491"/>
          </a:xfrm>
          <a:prstGeom prst="rect">
            <a:avLst/>
          </a:prstGeom>
          <a:noFill/>
          <a:ln/>
        </p:spPr>
        <p:txBody>
          <a:bodyPr wrap="square" lIns="0" tIns="0" rIns="0" bIns="0" rtlCol="0" anchor="t">
            <a:noAutofit/>
          </a:bodyPr>
          <a:lstStyle/>
          <a:p>
            <a:pPr marL="0" indent="0" algn="l">
              <a:buNone/>
            </a:pPr>
            <a:r>
              <a:rPr lang="en-US" sz="2800" b="1" dirty="0">
                <a:solidFill>
                  <a:srgbClr val="10B981"/>
                </a:solidFill>
                <a:latin typeface="Aptos Display" pitchFamily="34" charset="0"/>
                <a:ea typeface="Aptos Display" pitchFamily="34" charset="-122"/>
                <a:cs typeface="Aptos Display" pitchFamily="34" charset="-120"/>
              </a:rPr>
              <a:t>Client side</a:t>
            </a:r>
            <a:endParaRPr lang="en-US" sz="2800" dirty="0"/>
          </a:p>
        </p:txBody>
      </p:sp>
      <p:sp>
        <p:nvSpPr>
          <p:cNvPr id="26" name="Text 22"/>
          <p:cNvSpPr/>
          <p:nvPr/>
        </p:nvSpPr>
        <p:spPr>
          <a:xfrm>
            <a:off x="4370832" y="2441448"/>
            <a:ext cx="3163824" cy="128016"/>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mcp_server/server.py on port 8001</a:t>
            </a:r>
            <a:endParaRPr lang="en-US" sz="1400" dirty="0"/>
          </a:p>
        </p:txBody>
      </p:sp>
      <p:sp>
        <p:nvSpPr>
          <p:cNvPr id="27" name="Text 23"/>
          <p:cNvSpPr/>
          <p:nvPr/>
        </p:nvSpPr>
        <p:spPr>
          <a:xfrm>
            <a:off x="4370832" y="2715768"/>
            <a:ext cx="2743200" cy="146304"/>
          </a:xfrm>
          <a:prstGeom prst="rect">
            <a:avLst/>
          </a:prstGeom>
          <a:noFill/>
          <a:ln/>
        </p:spPr>
        <p:txBody>
          <a:bodyPr wrap="square" lIns="0" tIns="0" rIns="0" bIns="0" rtlCol="0" anchor="t">
            <a:noAutofit/>
          </a:bodyPr>
          <a:lstStyle/>
          <a:p>
            <a:pPr marL="0" indent="0" algn="l">
              <a:buNone/>
            </a:pPr>
            <a:r>
              <a:rPr lang="en-US" sz="1400" dirty="0">
                <a:solidFill>
                  <a:srgbClr val="334155"/>
                </a:solidFill>
                <a:latin typeface="Aptos" pitchFamily="34" charset="0"/>
                <a:ea typeface="Aptos" pitchFamily="34" charset="-122"/>
                <a:cs typeface="Aptos" pitchFamily="34" charset="-120"/>
              </a:rPr>
              <a:t>FastMCP("LogInsightMCP")</a:t>
            </a:r>
            <a:endParaRPr lang="en-US" sz="1400" dirty="0"/>
          </a:p>
        </p:txBody>
      </p:sp>
      <p:sp>
        <p:nvSpPr>
          <p:cNvPr id="28" name="Text 24"/>
          <p:cNvSpPr/>
          <p:nvPr/>
        </p:nvSpPr>
        <p:spPr>
          <a:xfrm>
            <a:off x="4370832" y="2990088"/>
            <a:ext cx="2743200" cy="146304"/>
          </a:xfrm>
          <a:prstGeom prst="rect">
            <a:avLst/>
          </a:prstGeom>
          <a:noFill/>
          <a:ln/>
        </p:spPr>
        <p:txBody>
          <a:bodyPr wrap="square" lIns="0" tIns="0" rIns="0" bIns="0" rtlCol="0" anchor="t">
            <a:noAutofit/>
          </a:bodyPr>
          <a:lstStyle/>
          <a:p>
            <a:pPr marL="0" indent="0" algn="l">
              <a:buNone/>
            </a:pPr>
            <a:r>
              <a:rPr lang="en-US" sz="1400" dirty="0">
                <a:solidFill>
                  <a:srgbClr val="334155"/>
                </a:solidFill>
                <a:latin typeface="Aptos" pitchFamily="34" charset="0"/>
                <a:ea typeface="Aptos" pitchFamily="34" charset="-122"/>
                <a:cs typeface="Aptos" pitchFamily="34" charset="-120"/>
              </a:rPr>
              <a:t>5 tools registered with @mcp.tool()</a:t>
            </a:r>
            <a:endParaRPr lang="en-US" sz="1400" dirty="0"/>
          </a:p>
        </p:txBody>
      </p:sp>
      <p:sp>
        <p:nvSpPr>
          <p:cNvPr id="29" name="Text 25"/>
          <p:cNvSpPr/>
          <p:nvPr/>
        </p:nvSpPr>
        <p:spPr>
          <a:xfrm>
            <a:off x="4370832" y="3264408"/>
            <a:ext cx="2743200" cy="146304"/>
          </a:xfrm>
          <a:prstGeom prst="rect">
            <a:avLst/>
          </a:prstGeom>
          <a:noFill/>
          <a:ln/>
        </p:spPr>
        <p:txBody>
          <a:bodyPr wrap="square" lIns="0" tIns="0" rIns="0" bIns="0" rtlCol="0" anchor="t">
            <a:noAutofit/>
          </a:bodyPr>
          <a:lstStyle/>
          <a:p>
            <a:pPr marL="0" indent="0" algn="l">
              <a:buNone/>
            </a:pPr>
            <a:r>
              <a:rPr lang="en-US" sz="1400" dirty="0">
                <a:solidFill>
                  <a:srgbClr val="334155"/>
                </a:solidFill>
                <a:latin typeface="Aptos" pitchFamily="34" charset="0"/>
                <a:ea typeface="Aptos" pitchFamily="34" charset="-122"/>
                <a:cs typeface="Aptos" pitchFamily="34" charset="-120"/>
              </a:rPr>
              <a:t>Each tool returns JSON through SSE</a:t>
            </a:r>
            <a:endParaRPr lang="en-US" sz="1400" dirty="0"/>
          </a:p>
        </p:txBody>
      </p:sp>
      <p:sp>
        <p:nvSpPr>
          <p:cNvPr id="30" name="Text 26"/>
          <p:cNvSpPr/>
          <p:nvPr/>
        </p:nvSpPr>
        <p:spPr>
          <a:xfrm>
            <a:off x="8275320" y="2441448"/>
            <a:ext cx="2743200" cy="146304"/>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backend/services/mcp_client.py</a:t>
            </a:r>
            <a:endParaRPr lang="en-US" sz="1400" dirty="0"/>
          </a:p>
        </p:txBody>
      </p:sp>
      <p:sp>
        <p:nvSpPr>
          <p:cNvPr id="31" name="Text 27"/>
          <p:cNvSpPr/>
          <p:nvPr/>
        </p:nvSpPr>
        <p:spPr>
          <a:xfrm>
            <a:off x="8275320" y="2715768"/>
            <a:ext cx="2743200" cy="146304"/>
          </a:xfrm>
          <a:prstGeom prst="rect">
            <a:avLst/>
          </a:prstGeom>
          <a:noFill/>
          <a:ln/>
        </p:spPr>
        <p:txBody>
          <a:bodyPr wrap="square" lIns="0" tIns="0" rIns="0" bIns="0" rtlCol="0" anchor="t">
            <a:noAutofit/>
          </a:bodyPr>
          <a:lstStyle/>
          <a:p>
            <a:pPr marL="0" indent="0" algn="l">
              <a:buNone/>
            </a:pPr>
            <a:r>
              <a:rPr lang="en-US" sz="1400" dirty="0">
                <a:solidFill>
                  <a:srgbClr val="334155"/>
                </a:solidFill>
                <a:latin typeface="Aptos" pitchFamily="34" charset="0"/>
                <a:ea typeface="Aptos" pitchFamily="34" charset="-122"/>
                <a:cs typeface="Aptos" pitchFamily="34" charset="-120"/>
              </a:rPr>
              <a:t>Official SDK sse_client session</a:t>
            </a:r>
            <a:endParaRPr lang="en-US" sz="1400" dirty="0"/>
          </a:p>
        </p:txBody>
      </p:sp>
      <p:sp>
        <p:nvSpPr>
          <p:cNvPr id="32" name="Text 28"/>
          <p:cNvSpPr/>
          <p:nvPr/>
        </p:nvSpPr>
        <p:spPr>
          <a:xfrm>
            <a:off x="8275320" y="2990088"/>
            <a:ext cx="3227832" cy="132588"/>
          </a:xfrm>
          <a:prstGeom prst="rect">
            <a:avLst/>
          </a:prstGeom>
          <a:noFill/>
          <a:ln/>
        </p:spPr>
        <p:txBody>
          <a:bodyPr wrap="square" lIns="0" tIns="0" rIns="0" bIns="0" rtlCol="0" anchor="t">
            <a:noAutofit/>
          </a:bodyPr>
          <a:lstStyle/>
          <a:p>
            <a:pPr marL="0" indent="0" algn="l">
              <a:buNone/>
            </a:pPr>
            <a:r>
              <a:rPr lang="en-US" sz="1400" dirty="0">
                <a:solidFill>
                  <a:srgbClr val="334155"/>
                </a:solidFill>
                <a:latin typeface="Aptos" pitchFamily="34" charset="0"/>
                <a:ea typeface="Aptos" pitchFamily="34" charset="-122"/>
                <a:cs typeface="Aptos" pitchFamily="34" charset="-120"/>
              </a:rPr>
              <a:t>Per-call connect, invoke, disconnect</a:t>
            </a:r>
            <a:endParaRPr lang="en-US" sz="1400" dirty="0"/>
          </a:p>
        </p:txBody>
      </p:sp>
      <p:sp>
        <p:nvSpPr>
          <p:cNvPr id="33" name="Text 29"/>
          <p:cNvSpPr/>
          <p:nvPr/>
        </p:nvSpPr>
        <p:spPr>
          <a:xfrm>
            <a:off x="8275320" y="3264408"/>
            <a:ext cx="3331962" cy="114300"/>
          </a:xfrm>
          <a:prstGeom prst="rect">
            <a:avLst/>
          </a:prstGeom>
          <a:noFill/>
          <a:ln/>
        </p:spPr>
        <p:txBody>
          <a:bodyPr wrap="square" lIns="0" tIns="0" rIns="0" bIns="0" rtlCol="0" anchor="t">
            <a:noAutofit/>
          </a:bodyPr>
          <a:lstStyle/>
          <a:p>
            <a:pPr marL="0" indent="0" algn="l">
              <a:buNone/>
            </a:pPr>
            <a:r>
              <a:rPr lang="en-US" sz="1400" dirty="0">
                <a:solidFill>
                  <a:srgbClr val="334155"/>
                </a:solidFill>
                <a:latin typeface="Aptos" pitchFamily="34" charset="0"/>
                <a:ea typeface="Aptos" pitchFamily="34" charset="-122"/>
                <a:cs typeface="Aptos" pitchFamily="34" charset="-120"/>
              </a:rPr>
              <a:t>Startup health warning, backend still runs</a:t>
            </a:r>
            <a:endParaRPr lang="en-US" sz="1400" dirty="0"/>
          </a:p>
        </p:txBody>
      </p:sp>
      <p:sp>
        <p:nvSpPr>
          <p:cNvPr id="34" name="Shape 30"/>
          <p:cNvSpPr/>
          <p:nvPr/>
        </p:nvSpPr>
        <p:spPr>
          <a:xfrm>
            <a:off x="7589520" y="2697480"/>
            <a:ext cx="365760" cy="914"/>
          </a:xfrm>
          <a:prstGeom prst="line">
            <a:avLst/>
          </a:prstGeom>
          <a:noFill/>
          <a:ln w="19050">
            <a:solidFill>
              <a:srgbClr val="00A8C8">
                <a:alpha val="75000"/>
              </a:srgbClr>
            </a:solidFill>
            <a:prstDash val="solid"/>
            <a:tailEnd type="triangle"/>
          </a:ln>
        </p:spPr>
      </p:sp>
      <p:sp>
        <p:nvSpPr>
          <p:cNvPr id="35" name="Shape 31"/>
          <p:cNvSpPr/>
          <p:nvPr/>
        </p:nvSpPr>
        <p:spPr>
          <a:xfrm>
            <a:off x="4041648" y="3913632"/>
            <a:ext cx="7452360" cy="1847088"/>
          </a:xfrm>
          <a:prstGeom prst="roundRect">
            <a:avLst>
              <a:gd name="adj" fmla="val 6436"/>
            </a:avLst>
          </a:prstGeom>
          <a:solidFill>
            <a:srgbClr val="FFFFFF">
              <a:alpha val="88000"/>
            </a:srgbClr>
          </a:solidFill>
          <a:ln w="12700">
            <a:solidFill>
              <a:srgbClr val="FFFFFF">
                <a:alpha val="90000"/>
              </a:srgbClr>
            </a:solidFill>
            <a:prstDash val="solid"/>
          </a:ln>
          <a:effectLst>
            <a:outerShdw blurRad="152400" dist="25400" dir="2700000" algn="bl" rotWithShape="0">
              <a:srgbClr val="9AB2C3">
                <a:alpha val="13000"/>
              </a:srgbClr>
            </a:outerShdw>
          </a:effectLst>
        </p:spPr>
      </p:sp>
      <p:sp>
        <p:nvSpPr>
          <p:cNvPr id="36" name="Shape 32"/>
          <p:cNvSpPr/>
          <p:nvPr/>
        </p:nvSpPr>
        <p:spPr>
          <a:xfrm>
            <a:off x="4087368" y="3950208"/>
            <a:ext cx="736092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7" name="Shape 33"/>
          <p:cNvSpPr/>
          <p:nvPr/>
        </p:nvSpPr>
        <p:spPr>
          <a:xfrm>
            <a:off x="4815156" y="4278477"/>
            <a:ext cx="457200" cy="457200"/>
          </a:xfrm>
          <a:prstGeom prst="ellipse">
            <a:avLst/>
          </a:prstGeom>
          <a:solidFill>
            <a:srgbClr val="FFFF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38" name="Image 2" descr="brain icon"/>
          <p:cNvPicPr>
            <a:picLocks noChangeAspect="1"/>
          </p:cNvPicPr>
          <p:nvPr/>
        </p:nvPicPr>
        <p:blipFill>
          <a:blip r:embed="rId5"/>
          <a:stretch>
            <a:fillRect/>
          </a:stretch>
        </p:blipFill>
        <p:spPr>
          <a:xfrm>
            <a:off x="4915740" y="4379061"/>
            <a:ext cx="256032" cy="256032"/>
          </a:xfrm>
          <a:prstGeom prst="rect">
            <a:avLst/>
          </a:prstGeom>
        </p:spPr>
      </p:pic>
      <p:sp>
        <p:nvSpPr>
          <p:cNvPr id="39" name="Text 34"/>
          <p:cNvSpPr/>
          <p:nvPr/>
        </p:nvSpPr>
        <p:spPr>
          <a:xfrm>
            <a:off x="4659708" y="4863693"/>
            <a:ext cx="768096" cy="128016"/>
          </a:xfrm>
          <a:prstGeom prst="rect">
            <a:avLst/>
          </a:prstGeom>
          <a:noFill/>
          <a:ln/>
        </p:spPr>
        <p:txBody>
          <a:bodyPr wrap="square" lIns="0" tIns="0" rIns="0" bIns="0" rtlCol="0" anchor="t">
            <a:noAutofit/>
          </a:bodyPr>
          <a:lstStyle/>
          <a:p>
            <a:pPr marL="0" indent="0" algn="ctr">
              <a:buNone/>
            </a:pPr>
            <a:r>
              <a:rPr lang="en-US" sz="1400" b="1" dirty="0">
                <a:solidFill>
                  <a:srgbClr val="102033"/>
                </a:solidFill>
                <a:latin typeface="Aptos" pitchFamily="34" charset="0"/>
                <a:ea typeface="Aptos" pitchFamily="34" charset="-122"/>
                <a:cs typeface="Aptos" pitchFamily="34" charset="-120"/>
              </a:rPr>
              <a:t>Gemini</a:t>
            </a:r>
            <a:endParaRPr lang="en-US" sz="1400" dirty="0"/>
          </a:p>
        </p:txBody>
      </p:sp>
      <p:sp>
        <p:nvSpPr>
          <p:cNvPr id="40" name="Text 35"/>
          <p:cNvSpPr/>
          <p:nvPr/>
        </p:nvSpPr>
        <p:spPr>
          <a:xfrm>
            <a:off x="4531692" y="5064861"/>
            <a:ext cx="1024128" cy="155448"/>
          </a:xfrm>
          <a:prstGeom prst="rect">
            <a:avLst/>
          </a:prstGeom>
          <a:noFill/>
          <a:ln/>
        </p:spPr>
        <p:txBody>
          <a:bodyPr wrap="square" lIns="0" tIns="0" rIns="0" bIns="0" rtlCol="0" anchor="t">
            <a:noAutofit/>
          </a:bodyPr>
          <a:lstStyle/>
          <a:p>
            <a:pPr marL="0" indent="0" algn="ctr">
              <a:buNone/>
            </a:pPr>
            <a:r>
              <a:rPr lang="en-US" sz="1200" dirty="0">
                <a:solidFill>
                  <a:srgbClr val="64748B"/>
                </a:solidFill>
                <a:latin typeface="Aptos" pitchFamily="34" charset="0"/>
                <a:ea typeface="Aptos" pitchFamily="34" charset="-122"/>
                <a:cs typeface="Aptos" pitchFamily="34" charset="-120"/>
              </a:rPr>
              <a:t>function_call</a:t>
            </a:r>
            <a:endParaRPr lang="en-US" sz="1200" dirty="0"/>
          </a:p>
        </p:txBody>
      </p:sp>
      <p:sp>
        <p:nvSpPr>
          <p:cNvPr id="41" name="Shape 36"/>
          <p:cNvSpPr/>
          <p:nvPr/>
        </p:nvSpPr>
        <p:spPr>
          <a:xfrm>
            <a:off x="5290644" y="4507077"/>
            <a:ext cx="786384" cy="914"/>
          </a:xfrm>
          <a:prstGeom prst="line">
            <a:avLst/>
          </a:prstGeom>
          <a:noFill/>
          <a:ln w="11430">
            <a:solidFill>
              <a:srgbClr val="00A8C8">
                <a:alpha val="54000"/>
              </a:srgbClr>
            </a:solidFill>
            <a:prstDash val="solid"/>
            <a:tailEnd type="triangle"/>
          </a:ln>
        </p:spPr>
      </p:sp>
      <p:sp>
        <p:nvSpPr>
          <p:cNvPr id="42" name="Shape 37"/>
          <p:cNvSpPr/>
          <p:nvPr/>
        </p:nvSpPr>
        <p:spPr>
          <a:xfrm>
            <a:off x="6214188" y="4278477"/>
            <a:ext cx="457200" cy="457200"/>
          </a:xfrm>
          <a:prstGeom prst="ellipse">
            <a:avLst/>
          </a:prstGeom>
          <a:solidFill>
            <a:srgbClr val="FFFF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43" name="Image 3" descr="flow icon"/>
          <p:cNvPicPr>
            <a:picLocks noChangeAspect="1"/>
          </p:cNvPicPr>
          <p:nvPr/>
        </p:nvPicPr>
        <p:blipFill>
          <a:blip r:embed="rId6"/>
          <a:stretch>
            <a:fillRect/>
          </a:stretch>
        </p:blipFill>
        <p:spPr>
          <a:xfrm>
            <a:off x="6314772" y="4379061"/>
            <a:ext cx="256032" cy="256032"/>
          </a:xfrm>
          <a:prstGeom prst="rect">
            <a:avLst/>
          </a:prstGeom>
        </p:spPr>
      </p:pic>
      <p:sp>
        <p:nvSpPr>
          <p:cNvPr id="44" name="Text 38"/>
          <p:cNvSpPr/>
          <p:nvPr/>
        </p:nvSpPr>
        <p:spPr>
          <a:xfrm>
            <a:off x="5887428" y="4863693"/>
            <a:ext cx="1257021" cy="142648"/>
          </a:xfrm>
          <a:prstGeom prst="rect">
            <a:avLst/>
          </a:prstGeom>
          <a:noFill/>
          <a:ln/>
        </p:spPr>
        <p:txBody>
          <a:bodyPr wrap="square" lIns="0" tIns="0" rIns="0" bIns="0" rtlCol="0" anchor="t">
            <a:noAutofit/>
          </a:bodyPr>
          <a:lstStyle/>
          <a:p>
            <a:pPr marL="0" indent="0" algn="ctr">
              <a:buNone/>
            </a:pPr>
            <a:r>
              <a:rPr lang="en-US" sz="1400" b="1" dirty="0">
                <a:solidFill>
                  <a:srgbClr val="102033"/>
                </a:solidFill>
                <a:latin typeface="Aptos" pitchFamily="34" charset="0"/>
                <a:ea typeface="Aptos" pitchFamily="34" charset="-122"/>
                <a:cs typeface="Aptos" pitchFamily="34" charset="-120"/>
              </a:rPr>
              <a:t>Orchestrator</a:t>
            </a:r>
            <a:endParaRPr lang="en-US" sz="1400" dirty="0"/>
          </a:p>
        </p:txBody>
      </p:sp>
      <p:sp>
        <p:nvSpPr>
          <p:cNvPr id="45" name="Text 39"/>
          <p:cNvSpPr/>
          <p:nvPr/>
        </p:nvSpPr>
        <p:spPr>
          <a:xfrm>
            <a:off x="5844136" y="5064861"/>
            <a:ext cx="1287624" cy="331014"/>
          </a:xfrm>
          <a:prstGeom prst="rect">
            <a:avLst/>
          </a:prstGeom>
          <a:noFill/>
          <a:ln/>
        </p:spPr>
        <p:txBody>
          <a:bodyPr wrap="square" lIns="0" tIns="0" rIns="0" bIns="0" rtlCol="0" anchor="t">
            <a:normAutofit/>
          </a:bodyPr>
          <a:lstStyle/>
          <a:p>
            <a:pPr marL="0" indent="0" algn="ctr">
              <a:buNone/>
            </a:pPr>
            <a:r>
              <a:rPr lang="en-US" sz="1050" dirty="0">
                <a:solidFill>
                  <a:srgbClr val="64748B"/>
                </a:solidFill>
                <a:latin typeface="Aptos" pitchFamily="34" charset="0"/>
                <a:ea typeface="Aptos" pitchFamily="34" charset="-122"/>
                <a:cs typeface="Aptos" pitchFamily="34" charset="-120"/>
              </a:rPr>
              <a:t>injects full log</a:t>
            </a:r>
            <a:endParaRPr lang="en-US" sz="1050" dirty="0"/>
          </a:p>
        </p:txBody>
      </p:sp>
      <p:sp>
        <p:nvSpPr>
          <p:cNvPr id="46" name="Shape 40"/>
          <p:cNvSpPr/>
          <p:nvPr/>
        </p:nvSpPr>
        <p:spPr>
          <a:xfrm>
            <a:off x="6689676" y="4507077"/>
            <a:ext cx="786384" cy="914"/>
          </a:xfrm>
          <a:prstGeom prst="line">
            <a:avLst/>
          </a:prstGeom>
          <a:noFill/>
          <a:ln w="11430">
            <a:solidFill>
              <a:srgbClr val="00A8C8">
                <a:alpha val="54000"/>
              </a:srgbClr>
            </a:solidFill>
            <a:prstDash val="solid"/>
            <a:tailEnd type="triangle"/>
          </a:ln>
        </p:spPr>
      </p:sp>
      <p:sp>
        <p:nvSpPr>
          <p:cNvPr id="47" name="Shape 41"/>
          <p:cNvSpPr/>
          <p:nvPr/>
        </p:nvSpPr>
        <p:spPr>
          <a:xfrm>
            <a:off x="7613220" y="4278477"/>
            <a:ext cx="457200" cy="457200"/>
          </a:xfrm>
          <a:prstGeom prst="ellipse">
            <a:avLst/>
          </a:prstGeom>
          <a:solidFill>
            <a:srgbClr val="FFFF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48" name="Image 4" descr="server icon"/>
          <p:cNvPicPr>
            <a:picLocks noChangeAspect="1"/>
          </p:cNvPicPr>
          <p:nvPr/>
        </p:nvPicPr>
        <p:blipFill>
          <a:blip r:embed="rId7"/>
          <a:stretch>
            <a:fillRect/>
          </a:stretch>
        </p:blipFill>
        <p:spPr>
          <a:xfrm>
            <a:off x="7713804" y="4379061"/>
            <a:ext cx="256032" cy="256032"/>
          </a:xfrm>
          <a:prstGeom prst="rect">
            <a:avLst/>
          </a:prstGeom>
        </p:spPr>
      </p:pic>
      <p:sp>
        <p:nvSpPr>
          <p:cNvPr id="49" name="Text 42"/>
          <p:cNvSpPr/>
          <p:nvPr/>
        </p:nvSpPr>
        <p:spPr>
          <a:xfrm>
            <a:off x="7457772" y="4863693"/>
            <a:ext cx="1019276" cy="128016"/>
          </a:xfrm>
          <a:prstGeom prst="rect">
            <a:avLst/>
          </a:prstGeom>
          <a:noFill/>
          <a:ln/>
        </p:spPr>
        <p:txBody>
          <a:bodyPr wrap="square" lIns="0" tIns="0" rIns="0" bIns="0" rtlCol="0" anchor="t">
            <a:noAutofit/>
          </a:bodyPr>
          <a:lstStyle/>
          <a:p>
            <a:pPr marL="0" indent="0" algn="ctr">
              <a:buNone/>
            </a:pPr>
            <a:r>
              <a:rPr lang="en-US" sz="1400" b="1" dirty="0">
                <a:solidFill>
                  <a:srgbClr val="102033"/>
                </a:solidFill>
                <a:latin typeface="Aptos" pitchFamily="34" charset="0"/>
                <a:ea typeface="Aptos" pitchFamily="34" charset="-122"/>
                <a:cs typeface="Aptos" pitchFamily="34" charset="-120"/>
              </a:rPr>
              <a:t>MCP Client</a:t>
            </a:r>
            <a:endParaRPr lang="en-US" sz="1400" dirty="0"/>
          </a:p>
        </p:txBody>
      </p:sp>
      <p:sp>
        <p:nvSpPr>
          <p:cNvPr id="50" name="Text 43"/>
          <p:cNvSpPr/>
          <p:nvPr/>
        </p:nvSpPr>
        <p:spPr>
          <a:xfrm>
            <a:off x="7329756" y="5064861"/>
            <a:ext cx="1024128" cy="155448"/>
          </a:xfrm>
          <a:prstGeom prst="rect">
            <a:avLst/>
          </a:prstGeom>
          <a:noFill/>
          <a:ln/>
        </p:spPr>
        <p:txBody>
          <a:bodyPr wrap="square" lIns="0" tIns="0" rIns="0" bIns="0" rtlCol="0" anchor="t">
            <a:noAutofit/>
          </a:bodyPr>
          <a:lstStyle/>
          <a:p>
            <a:pPr marL="0" indent="0" algn="ctr">
              <a:buNone/>
            </a:pPr>
            <a:r>
              <a:rPr lang="en-US" sz="1200" dirty="0">
                <a:solidFill>
                  <a:srgbClr val="64748B"/>
                </a:solidFill>
                <a:latin typeface="Aptos" pitchFamily="34" charset="0"/>
                <a:ea typeface="Aptos" pitchFamily="34" charset="-122"/>
                <a:cs typeface="Aptos" pitchFamily="34" charset="-120"/>
              </a:rPr>
              <a:t>SSE call</a:t>
            </a:r>
            <a:endParaRPr lang="en-US" sz="1200" dirty="0"/>
          </a:p>
        </p:txBody>
      </p:sp>
      <p:sp>
        <p:nvSpPr>
          <p:cNvPr id="51" name="Shape 44"/>
          <p:cNvSpPr/>
          <p:nvPr/>
        </p:nvSpPr>
        <p:spPr>
          <a:xfrm>
            <a:off x="8088708" y="4507077"/>
            <a:ext cx="786384" cy="914"/>
          </a:xfrm>
          <a:prstGeom prst="line">
            <a:avLst/>
          </a:prstGeom>
          <a:noFill/>
          <a:ln w="11430">
            <a:solidFill>
              <a:srgbClr val="00A8C8">
                <a:alpha val="54000"/>
              </a:srgbClr>
            </a:solidFill>
            <a:prstDash val="solid"/>
            <a:tailEnd type="triangle"/>
          </a:ln>
        </p:spPr>
      </p:sp>
      <p:sp>
        <p:nvSpPr>
          <p:cNvPr id="52" name="Shape 45"/>
          <p:cNvSpPr/>
          <p:nvPr/>
        </p:nvSpPr>
        <p:spPr>
          <a:xfrm>
            <a:off x="9012252" y="4278477"/>
            <a:ext cx="457200" cy="457200"/>
          </a:xfrm>
          <a:prstGeom prst="ellipse">
            <a:avLst/>
          </a:prstGeom>
          <a:solidFill>
            <a:srgbClr val="FFFF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53" name="Image 5" descr="layers icon"/>
          <p:cNvPicPr>
            <a:picLocks noChangeAspect="1"/>
          </p:cNvPicPr>
          <p:nvPr/>
        </p:nvPicPr>
        <p:blipFill>
          <a:blip r:embed="rId8"/>
          <a:stretch>
            <a:fillRect/>
          </a:stretch>
        </p:blipFill>
        <p:spPr>
          <a:xfrm>
            <a:off x="9112836" y="4379061"/>
            <a:ext cx="256032" cy="256032"/>
          </a:xfrm>
          <a:prstGeom prst="rect">
            <a:avLst/>
          </a:prstGeom>
        </p:spPr>
      </p:pic>
      <p:sp>
        <p:nvSpPr>
          <p:cNvPr id="54" name="Text 46"/>
          <p:cNvSpPr/>
          <p:nvPr/>
        </p:nvSpPr>
        <p:spPr>
          <a:xfrm>
            <a:off x="8856804" y="4863693"/>
            <a:ext cx="768096" cy="128016"/>
          </a:xfrm>
          <a:prstGeom prst="rect">
            <a:avLst/>
          </a:prstGeom>
          <a:noFill/>
          <a:ln/>
        </p:spPr>
        <p:txBody>
          <a:bodyPr wrap="square" lIns="0" tIns="0" rIns="0" bIns="0" rtlCol="0" anchor="t">
            <a:noAutofit/>
          </a:bodyPr>
          <a:lstStyle/>
          <a:p>
            <a:pPr marL="0" indent="0" algn="ctr">
              <a:buNone/>
            </a:pPr>
            <a:r>
              <a:rPr lang="en-US" sz="1400" b="1" dirty="0">
                <a:solidFill>
                  <a:srgbClr val="102033"/>
                </a:solidFill>
                <a:latin typeface="Aptos" pitchFamily="34" charset="0"/>
                <a:ea typeface="Aptos" pitchFamily="34" charset="-122"/>
                <a:cs typeface="Aptos" pitchFamily="34" charset="-120"/>
              </a:rPr>
              <a:t>Tool</a:t>
            </a:r>
            <a:endParaRPr lang="en-US" sz="1400" dirty="0"/>
          </a:p>
        </p:txBody>
      </p:sp>
      <p:sp>
        <p:nvSpPr>
          <p:cNvPr id="55" name="Text 47"/>
          <p:cNvSpPr/>
          <p:nvPr/>
        </p:nvSpPr>
        <p:spPr>
          <a:xfrm>
            <a:off x="8728788" y="5064861"/>
            <a:ext cx="1024128" cy="155448"/>
          </a:xfrm>
          <a:prstGeom prst="rect">
            <a:avLst/>
          </a:prstGeom>
          <a:noFill/>
          <a:ln/>
        </p:spPr>
        <p:txBody>
          <a:bodyPr wrap="square" lIns="0" tIns="0" rIns="0" bIns="0" rtlCol="0" anchor="t">
            <a:noAutofit/>
          </a:bodyPr>
          <a:lstStyle/>
          <a:p>
            <a:pPr marL="0" indent="0" algn="ctr">
              <a:buNone/>
            </a:pPr>
            <a:r>
              <a:rPr lang="en-US" sz="1200" dirty="0">
                <a:solidFill>
                  <a:srgbClr val="64748B"/>
                </a:solidFill>
                <a:latin typeface="Aptos" pitchFamily="34" charset="0"/>
                <a:ea typeface="Aptos" pitchFamily="34" charset="-122"/>
                <a:cs typeface="Aptos" pitchFamily="34" charset="-120"/>
              </a:rPr>
              <a:t>5 detectors</a:t>
            </a:r>
            <a:endParaRPr lang="en-US" sz="1200" dirty="0"/>
          </a:p>
        </p:txBody>
      </p:sp>
      <p:sp>
        <p:nvSpPr>
          <p:cNvPr id="56" name="Shape 48"/>
          <p:cNvSpPr/>
          <p:nvPr/>
        </p:nvSpPr>
        <p:spPr>
          <a:xfrm>
            <a:off x="9487740" y="4507077"/>
            <a:ext cx="786384" cy="914"/>
          </a:xfrm>
          <a:prstGeom prst="line">
            <a:avLst/>
          </a:prstGeom>
          <a:noFill/>
          <a:ln w="11430">
            <a:solidFill>
              <a:srgbClr val="00A8C8">
                <a:alpha val="54000"/>
              </a:srgbClr>
            </a:solidFill>
            <a:prstDash val="solid"/>
            <a:tailEnd type="triangle"/>
          </a:ln>
        </p:spPr>
      </p:sp>
      <p:sp>
        <p:nvSpPr>
          <p:cNvPr id="57" name="Shape 49"/>
          <p:cNvSpPr/>
          <p:nvPr/>
        </p:nvSpPr>
        <p:spPr>
          <a:xfrm>
            <a:off x="10411284" y="4278477"/>
            <a:ext cx="457200" cy="457200"/>
          </a:xfrm>
          <a:prstGeom prst="ellipse">
            <a:avLst/>
          </a:prstGeom>
          <a:solidFill>
            <a:srgbClr val="FFFF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58" name="Image 6" descr="spark icon"/>
          <p:cNvPicPr>
            <a:picLocks noChangeAspect="1"/>
          </p:cNvPicPr>
          <p:nvPr/>
        </p:nvPicPr>
        <p:blipFill>
          <a:blip r:embed="rId9"/>
          <a:stretch>
            <a:fillRect/>
          </a:stretch>
        </p:blipFill>
        <p:spPr>
          <a:xfrm>
            <a:off x="10511868" y="4379061"/>
            <a:ext cx="256032" cy="256032"/>
          </a:xfrm>
          <a:prstGeom prst="rect">
            <a:avLst/>
          </a:prstGeom>
        </p:spPr>
      </p:pic>
      <p:sp>
        <p:nvSpPr>
          <p:cNvPr id="59" name="Text 50"/>
          <p:cNvSpPr/>
          <p:nvPr/>
        </p:nvSpPr>
        <p:spPr>
          <a:xfrm>
            <a:off x="10255836" y="4863693"/>
            <a:ext cx="768096" cy="128016"/>
          </a:xfrm>
          <a:prstGeom prst="rect">
            <a:avLst/>
          </a:prstGeom>
          <a:noFill/>
          <a:ln/>
        </p:spPr>
        <p:txBody>
          <a:bodyPr wrap="square" lIns="0" tIns="0" rIns="0" bIns="0" rtlCol="0" anchor="t">
            <a:noAutofit/>
          </a:bodyPr>
          <a:lstStyle/>
          <a:p>
            <a:pPr marL="0" indent="0" algn="ctr">
              <a:buNone/>
            </a:pPr>
            <a:r>
              <a:rPr lang="en-US" sz="1400" b="1" dirty="0">
                <a:solidFill>
                  <a:srgbClr val="102033"/>
                </a:solidFill>
                <a:latin typeface="Aptos" pitchFamily="34" charset="0"/>
                <a:ea typeface="Aptos" pitchFamily="34" charset="-122"/>
                <a:cs typeface="Aptos" pitchFamily="34" charset="-120"/>
              </a:rPr>
              <a:t>Gemini</a:t>
            </a:r>
            <a:endParaRPr lang="en-US" sz="1400" dirty="0"/>
          </a:p>
        </p:txBody>
      </p:sp>
      <p:sp>
        <p:nvSpPr>
          <p:cNvPr id="60" name="Text 51"/>
          <p:cNvSpPr/>
          <p:nvPr/>
        </p:nvSpPr>
        <p:spPr>
          <a:xfrm>
            <a:off x="10127820" y="5064861"/>
            <a:ext cx="1024128" cy="155448"/>
          </a:xfrm>
          <a:prstGeom prst="rect">
            <a:avLst/>
          </a:prstGeom>
          <a:noFill/>
          <a:ln/>
        </p:spPr>
        <p:txBody>
          <a:bodyPr wrap="square" lIns="0" tIns="0" rIns="0" bIns="0" rtlCol="0" anchor="t">
            <a:normAutofit lnSpcReduction="10000"/>
          </a:bodyPr>
          <a:lstStyle/>
          <a:p>
            <a:pPr marL="0" indent="0" algn="ctr">
              <a:buNone/>
            </a:pPr>
            <a:r>
              <a:rPr lang="en-US" sz="1050" dirty="0">
                <a:solidFill>
                  <a:srgbClr val="64748B"/>
                </a:solidFill>
                <a:latin typeface="Aptos" pitchFamily="34" charset="0"/>
                <a:ea typeface="Aptos" pitchFamily="34" charset="-122"/>
                <a:cs typeface="Aptos" pitchFamily="34" charset="-120"/>
              </a:rPr>
              <a:t>next step/report</a:t>
            </a:r>
            <a:endParaRPr lang="en-US" sz="1050" dirty="0"/>
          </a:p>
        </p:txBody>
      </p:sp>
      <p:sp>
        <p:nvSpPr>
          <p:cNvPr id="63" name="Text 54"/>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04</a:t>
            </a:r>
            <a:endParaRPr lang="en-US" sz="780" dirty="0"/>
          </a:p>
        </p:txBody>
      </p:sp>
      <p:sp>
        <p:nvSpPr>
          <p:cNvPr id="64" name="Text 55"/>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DFF"/>
        </a:solidFill>
        <a:effectLst/>
      </p:bgPr>
    </p:bg>
    <p:spTree>
      <p:nvGrpSpPr>
        <p:cNvPr id="1" name=""/>
        <p:cNvGrpSpPr/>
        <p:nvPr/>
      </p:nvGrpSpPr>
      <p:grpSpPr>
        <a:xfrm>
          <a:off x="0" y="0"/>
          <a:ext cx="0" cy="0"/>
          <a:chOff x="0" y="0"/>
          <a:chExt cx="0" cy="0"/>
        </a:xfrm>
      </p:grpSpPr>
      <p:sp>
        <p:nvSpPr>
          <p:cNvPr id="81" name="Shape 1">
            <a:extLst>
              <a:ext uri="{FF2B5EF4-FFF2-40B4-BE49-F238E27FC236}">
                <a16:creationId xmlns:a16="http://schemas.microsoft.com/office/drawing/2014/main" id="{74595433-74F7-290E-51F2-EE5D8A73C872}"/>
              </a:ext>
            </a:extLst>
          </p:cNvPr>
          <p:cNvSpPr/>
          <p:nvPr/>
        </p:nvSpPr>
        <p:spPr>
          <a:xfrm>
            <a:off x="8897112" y="-795528"/>
            <a:ext cx="4572000" cy="4572000"/>
          </a:xfrm>
          <a:prstGeom prst="ellipse">
            <a:avLst/>
          </a:prstGeom>
          <a:solidFill>
            <a:srgbClr val="CCFBF1">
              <a:alpha val="45000"/>
            </a:srgbClr>
          </a:solidFill>
          <a:ln/>
        </p:spPr>
      </p:sp>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840" b="1" kern="0" spc="180" dirty="0">
                <a:solidFill>
                  <a:srgbClr val="00A8C8"/>
                </a:solidFill>
                <a:latin typeface="Aptos" pitchFamily="34" charset="0"/>
                <a:ea typeface="Aptos" pitchFamily="34" charset="-122"/>
                <a:cs typeface="Aptos" pitchFamily="34" charset="-120"/>
              </a:rPr>
              <a:t>GEMINI AGENTIC INTELLIGENCE</a:t>
            </a:r>
            <a:endParaRPr lang="en-US" sz="84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The AI brain chooses the analysis path</a:t>
            </a:r>
            <a:endParaRPr lang="en-US" sz="2650" dirty="0"/>
          </a:p>
        </p:txBody>
      </p:sp>
      <p:sp>
        <p:nvSpPr>
          <p:cNvPr id="5" name="Text 2"/>
          <p:cNvSpPr/>
          <p:nvPr/>
        </p:nvSpPr>
        <p:spPr>
          <a:xfrm>
            <a:off x="771828" y="1094994"/>
            <a:ext cx="7680960" cy="329184"/>
          </a:xfrm>
          <a:prstGeom prst="rect">
            <a:avLst/>
          </a:prstGeom>
          <a:noFill/>
          <a:ln/>
        </p:spPr>
        <p:txBody>
          <a:bodyPr wrap="square" lIns="0" tIns="0" rIns="0" bIns="0" rtlCol="0" anchor="t">
            <a:noAutofit/>
          </a:bodyPr>
          <a:lstStyle/>
          <a:p>
            <a:pPr marL="0" indent="0" algn="l">
              <a:buNone/>
            </a:pPr>
            <a:r>
              <a:rPr lang="en-US" sz="1400" dirty="0">
                <a:solidFill>
                  <a:srgbClr val="64748B"/>
                </a:solidFill>
                <a:latin typeface="Aptos" pitchFamily="34" charset="0"/>
                <a:ea typeface="Aptos" pitchFamily="34" charset="-122"/>
                <a:cs typeface="Aptos" pitchFamily="34" charset="-120"/>
              </a:rPr>
              <a:t>Gemini sees the tool schemas, calls tools autonomously, and synthesizes the final report after iterative evidence gathering.</a:t>
            </a:r>
            <a:endParaRPr lang="en-US" sz="1400" dirty="0"/>
          </a:p>
        </p:txBody>
      </p:sp>
      <p:sp>
        <p:nvSpPr>
          <p:cNvPr id="7" name="Shape 4"/>
          <p:cNvSpPr/>
          <p:nvPr/>
        </p:nvSpPr>
        <p:spPr>
          <a:xfrm>
            <a:off x="795528" y="1847088"/>
            <a:ext cx="7662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2" name="Shape 8"/>
          <p:cNvSpPr/>
          <p:nvPr/>
        </p:nvSpPr>
        <p:spPr>
          <a:xfrm>
            <a:off x="1124712" y="2157984"/>
            <a:ext cx="1682496"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4" name="Text 10"/>
          <p:cNvSpPr/>
          <p:nvPr/>
        </p:nvSpPr>
        <p:spPr>
          <a:xfrm>
            <a:off x="1307592" y="2345436"/>
            <a:ext cx="109728" cy="73152"/>
          </a:xfrm>
          <a:prstGeom prst="rect">
            <a:avLst/>
          </a:prstGeom>
          <a:noFill/>
          <a:ln/>
        </p:spPr>
        <p:txBody>
          <a:bodyPr wrap="square" lIns="0" tIns="0" rIns="0" bIns="0" rtlCol="0" anchor="t">
            <a:no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18" name="Shape 14"/>
          <p:cNvSpPr/>
          <p:nvPr/>
        </p:nvSpPr>
        <p:spPr>
          <a:xfrm>
            <a:off x="3044952" y="2157984"/>
            <a:ext cx="1682496"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0" name="Text 16"/>
          <p:cNvSpPr/>
          <p:nvPr/>
        </p:nvSpPr>
        <p:spPr>
          <a:xfrm>
            <a:off x="3227832" y="2345436"/>
            <a:ext cx="109728" cy="73152"/>
          </a:xfrm>
          <a:prstGeom prst="rect">
            <a:avLst/>
          </a:prstGeom>
          <a:noFill/>
          <a:ln/>
        </p:spPr>
        <p:txBody>
          <a:bodyPr wrap="square" lIns="0" tIns="0" rIns="0" bIns="0" rtlCol="0" anchor="t">
            <a:no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24" name="Shape 20"/>
          <p:cNvSpPr/>
          <p:nvPr/>
        </p:nvSpPr>
        <p:spPr>
          <a:xfrm>
            <a:off x="5916168" y="2157984"/>
            <a:ext cx="1682496"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0" name="Shape 26"/>
          <p:cNvSpPr/>
          <p:nvPr/>
        </p:nvSpPr>
        <p:spPr>
          <a:xfrm>
            <a:off x="5916168" y="4133088"/>
            <a:ext cx="1682496"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2" name="Text 28"/>
          <p:cNvSpPr/>
          <p:nvPr/>
        </p:nvSpPr>
        <p:spPr>
          <a:xfrm>
            <a:off x="5751576" y="4111021"/>
            <a:ext cx="205077" cy="144475"/>
          </a:xfrm>
          <a:prstGeom prst="rect">
            <a:avLst/>
          </a:prstGeom>
          <a:noFill/>
          <a:ln/>
        </p:spPr>
        <p:txBody>
          <a:bodyPr wrap="square" lIns="0" tIns="0" rIns="0" bIns="0" rtlCol="0" anchor="t">
            <a:no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36" name="Shape 32"/>
          <p:cNvSpPr/>
          <p:nvPr/>
        </p:nvSpPr>
        <p:spPr>
          <a:xfrm>
            <a:off x="2697480" y="3923569"/>
            <a:ext cx="3144527" cy="63208"/>
          </a:xfrm>
          <a:prstGeom prst="roundRect">
            <a:avLst>
              <a:gd name="adj" fmla="val 57143"/>
            </a:avLst>
          </a:prstGeom>
          <a:solidFill>
            <a:srgbClr val="FFFFFF">
              <a:alpha val="64000"/>
            </a:srgbClr>
          </a:solidFill>
          <a:ln w="12700">
            <a:solidFill>
              <a:srgbClr val="FFFFFF">
                <a:alpha val="0"/>
              </a:srgbClr>
            </a:solidFill>
            <a:prstDash val="solid"/>
          </a:ln>
        </p:spPr>
      </p:sp>
      <p:sp>
        <p:nvSpPr>
          <p:cNvPr id="38" name="Text 34"/>
          <p:cNvSpPr/>
          <p:nvPr/>
        </p:nvSpPr>
        <p:spPr>
          <a:xfrm>
            <a:off x="2880360" y="4111021"/>
            <a:ext cx="205077" cy="144475"/>
          </a:xfrm>
          <a:prstGeom prst="rect">
            <a:avLst/>
          </a:prstGeom>
          <a:noFill/>
          <a:ln/>
        </p:spPr>
        <p:txBody>
          <a:bodyPr wrap="square" lIns="0" tIns="0" rIns="0" bIns="0" rtlCol="0" anchor="t">
            <a:noAutofit/>
          </a:bodyPr>
          <a:lstStyle/>
          <a:p>
            <a:pPr marL="0" indent="0" algn="ctr">
              <a:buNone/>
            </a:pPr>
            <a:endParaRPr lang="en-US" sz="1050" dirty="0"/>
          </a:p>
        </p:txBody>
      </p:sp>
      <p:sp>
        <p:nvSpPr>
          <p:cNvPr id="42" name="Shape 38"/>
          <p:cNvSpPr/>
          <p:nvPr/>
        </p:nvSpPr>
        <p:spPr>
          <a:xfrm>
            <a:off x="777240" y="3923569"/>
            <a:ext cx="3144527" cy="63208"/>
          </a:xfrm>
          <a:prstGeom prst="roundRect">
            <a:avLst>
              <a:gd name="adj" fmla="val 57143"/>
            </a:avLst>
          </a:prstGeom>
          <a:solidFill>
            <a:srgbClr val="FFFFFF">
              <a:alpha val="64000"/>
            </a:srgbClr>
          </a:solidFill>
          <a:ln w="12700">
            <a:solidFill>
              <a:srgbClr val="FFFFFF">
                <a:alpha val="0"/>
              </a:srgbClr>
            </a:solidFill>
            <a:prstDash val="solid"/>
          </a:ln>
        </p:spPr>
      </p:sp>
      <p:sp>
        <p:nvSpPr>
          <p:cNvPr id="44" name="Text 40"/>
          <p:cNvSpPr/>
          <p:nvPr/>
        </p:nvSpPr>
        <p:spPr>
          <a:xfrm>
            <a:off x="960120" y="4111021"/>
            <a:ext cx="205077" cy="144475"/>
          </a:xfrm>
          <a:prstGeom prst="rect">
            <a:avLst/>
          </a:prstGeom>
          <a:noFill/>
          <a:ln/>
        </p:spPr>
        <p:txBody>
          <a:bodyPr wrap="square" lIns="0" tIns="0" rIns="0" bIns="0" rtlCol="0" anchor="t">
            <a:no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6</a:t>
            </a:r>
            <a:endParaRPr lang="en-US" sz="1050" dirty="0"/>
          </a:p>
        </p:txBody>
      </p:sp>
      <p:sp>
        <p:nvSpPr>
          <p:cNvPr id="79" name="Text 75"/>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05</a:t>
            </a:r>
            <a:endParaRPr lang="en-US" sz="780" dirty="0"/>
          </a:p>
        </p:txBody>
      </p:sp>
      <p:sp>
        <p:nvSpPr>
          <p:cNvPr id="80" name="Text 76"/>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sp>
        <p:nvSpPr>
          <p:cNvPr id="8" name="Shape 6">
            <a:extLst>
              <a:ext uri="{FF2B5EF4-FFF2-40B4-BE49-F238E27FC236}">
                <a16:creationId xmlns:a16="http://schemas.microsoft.com/office/drawing/2014/main" id="{2106081B-DF91-35B2-2706-F0CC913E35F9}"/>
              </a:ext>
            </a:extLst>
          </p:cNvPr>
          <p:cNvSpPr/>
          <p:nvPr/>
        </p:nvSpPr>
        <p:spPr>
          <a:xfrm>
            <a:off x="3611881" y="2238787"/>
            <a:ext cx="51270" cy="54178"/>
          </a:xfrm>
          <a:prstGeom prst="ellipse">
            <a:avLst/>
          </a:prstGeom>
          <a:solidFill>
            <a:srgbClr val="0D9488">
              <a:alpha val="10000"/>
            </a:srgbClr>
          </a:solidFill>
          <a:ln/>
        </p:spPr>
      </p:sp>
      <p:sp>
        <p:nvSpPr>
          <p:cNvPr id="9" name="Shape 8">
            <a:extLst>
              <a:ext uri="{FF2B5EF4-FFF2-40B4-BE49-F238E27FC236}">
                <a16:creationId xmlns:a16="http://schemas.microsoft.com/office/drawing/2014/main" id="{0E45D812-0D2B-B817-5607-B93C6EEB3E68}"/>
              </a:ext>
            </a:extLst>
          </p:cNvPr>
          <p:cNvSpPr/>
          <p:nvPr/>
        </p:nvSpPr>
        <p:spPr>
          <a:xfrm>
            <a:off x="2697481" y="3244627"/>
            <a:ext cx="51270" cy="54178"/>
          </a:xfrm>
          <a:prstGeom prst="ellipse">
            <a:avLst/>
          </a:prstGeom>
          <a:solidFill>
            <a:srgbClr val="0D9488">
              <a:alpha val="10000"/>
            </a:srgbClr>
          </a:solidFill>
          <a:ln/>
        </p:spPr>
      </p:sp>
      <p:sp>
        <p:nvSpPr>
          <p:cNvPr id="10" name="Shape 10">
            <a:extLst>
              <a:ext uri="{FF2B5EF4-FFF2-40B4-BE49-F238E27FC236}">
                <a16:creationId xmlns:a16="http://schemas.microsoft.com/office/drawing/2014/main" id="{29969B10-1B6F-1336-D0B2-8FD5BB3C54E1}"/>
              </a:ext>
            </a:extLst>
          </p:cNvPr>
          <p:cNvSpPr/>
          <p:nvPr/>
        </p:nvSpPr>
        <p:spPr>
          <a:xfrm>
            <a:off x="1783081" y="4250467"/>
            <a:ext cx="51270" cy="54178"/>
          </a:xfrm>
          <a:prstGeom prst="ellipse">
            <a:avLst/>
          </a:prstGeom>
          <a:solidFill>
            <a:srgbClr val="0D9488">
              <a:alpha val="10000"/>
            </a:srgbClr>
          </a:solidFill>
          <a:ln/>
        </p:spPr>
      </p:sp>
      <p:sp>
        <p:nvSpPr>
          <p:cNvPr id="67" name="Shape 11">
            <a:extLst>
              <a:ext uri="{FF2B5EF4-FFF2-40B4-BE49-F238E27FC236}">
                <a16:creationId xmlns:a16="http://schemas.microsoft.com/office/drawing/2014/main" id="{BF970F0E-F2BC-AB07-341D-234BF9165106}"/>
              </a:ext>
            </a:extLst>
          </p:cNvPr>
          <p:cNvSpPr/>
          <p:nvPr/>
        </p:nvSpPr>
        <p:spPr>
          <a:xfrm>
            <a:off x="5440681" y="4250467"/>
            <a:ext cx="51270" cy="54178"/>
          </a:xfrm>
          <a:prstGeom prst="ellipse">
            <a:avLst/>
          </a:prstGeom>
          <a:solidFill>
            <a:srgbClr val="0D9488">
              <a:alpha val="10000"/>
            </a:srgbClr>
          </a:solidFill>
          <a:ln/>
        </p:spPr>
      </p:sp>
      <p:sp>
        <p:nvSpPr>
          <p:cNvPr id="68" name="Shape 19">
            <a:extLst>
              <a:ext uri="{FF2B5EF4-FFF2-40B4-BE49-F238E27FC236}">
                <a16:creationId xmlns:a16="http://schemas.microsoft.com/office/drawing/2014/main" id="{06E23EF6-ACF3-15DC-EE9A-A0668B112A10}"/>
              </a:ext>
            </a:extLst>
          </p:cNvPr>
          <p:cNvSpPr/>
          <p:nvPr/>
        </p:nvSpPr>
        <p:spPr>
          <a:xfrm>
            <a:off x="793873" y="1794440"/>
            <a:ext cx="5681130" cy="3910786"/>
          </a:xfrm>
          <a:prstGeom prst="roundRect">
            <a:avLst>
              <a:gd name="adj" fmla="val 4762"/>
            </a:avLst>
          </a:prstGeom>
          <a:solidFill>
            <a:srgbClr val="FFFFFF"/>
          </a:solidFill>
          <a:ln w="9525">
            <a:solidFill>
              <a:srgbClr val="E2E8F0"/>
            </a:solidFill>
            <a:prstDash val="solid"/>
          </a:ln>
          <a:effectLst>
            <a:outerShdw blurRad="127000" dist="50800" dir="8100000" algn="bl" rotWithShape="0">
              <a:srgbClr val="000000">
                <a:alpha val="12000"/>
              </a:srgbClr>
            </a:outerShdw>
          </a:effectLst>
        </p:spPr>
      </p:sp>
      <p:sp>
        <p:nvSpPr>
          <p:cNvPr id="69" name="Shape 20">
            <a:extLst>
              <a:ext uri="{FF2B5EF4-FFF2-40B4-BE49-F238E27FC236}">
                <a16:creationId xmlns:a16="http://schemas.microsoft.com/office/drawing/2014/main" id="{B837ABD8-496B-9AFE-052F-5FB6A6557710}"/>
              </a:ext>
            </a:extLst>
          </p:cNvPr>
          <p:cNvSpPr/>
          <p:nvPr/>
        </p:nvSpPr>
        <p:spPr>
          <a:xfrm>
            <a:off x="1107357" y="1948815"/>
            <a:ext cx="1696212" cy="27432"/>
          </a:xfrm>
          <a:prstGeom prst="roundRect">
            <a:avLst>
              <a:gd name="adj" fmla="val 50000"/>
            </a:avLst>
          </a:prstGeom>
          <a:solidFill>
            <a:srgbClr val="0D9488"/>
          </a:solidFill>
          <a:ln/>
        </p:spPr>
      </p:sp>
      <p:pic>
        <p:nvPicPr>
          <p:cNvPr id="70" name="Image 1" descr="preencoded.png">
            <a:extLst>
              <a:ext uri="{FF2B5EF4-FFF2-40B4-BE49-F238E27FC236}">
                <a16:creationId xmlns:a16="http://schemas.microsoft.com/office/drawing/2014/main" id="{1A6386A6-7143-A10A-72D2-6D6DA9EF2754}"/>
              </a:ext>
            </a:extLst>
          </p:cNvPr>
          <p:cNvPicPr>
            <a:picLocks noChangeAspect="1"/>
          </p:cNvPicPr>
          <p:nvPr/>
        </p:nvPicPr>
        <p:blipFill>
          <a:blip r:embed="rId4"/>
          <a:stretch>
            <a:fillRect/>
          </a:stretch>
        </p:blipFill>
        <p:spPr>
          <a:xfrm>
            <a:off x="1103252" y="2106199"/>
            <a:ext cx="201168" cy="201168"/>
          </a:xfrm>
          <a:prstGeom prst="rect">
            <a:avLst/>
          </a:prstGeom>
        </p:spPr>
      </p:pic>
      <p:sp>
        <p:nvSpPr>
          <p:cNvPr id="71" name="Text 21">
            <a:extLst>
              <a:ext uri="{FF2B5EF4-FFF2-40B4-BE49-F238E27FC236}">
                <a16:creationId xmlns:a16="http://schemas.microsoft.com/office/drawing/2014/main" id="{350C554F-77CA-D368-71BA-520890E17BA2}"/>
              </a:ext>
            </a:extLst>
          </p:cNvPr>
          <p:cNvSpPr/>
          <p:nvPr/>
        </p:nvSpPr>
        <p:spPr>
          <a:xfrm>
            <a:off x="1399032" y="2050752"/>
            <a:ext cx="3657600" cy="274320"/>
          </a:xfrm>
          <a:prstGeom prst="rect">
            <a:avLst/>
          </a:prstGeom>
          <a:noFill/>
          <a:ln/>
        </p:spPr>
        <p:txBody>
          <a:bodyPr wrap="square" lIns="0" tIns="0" rIns="0" bIns="0" rtlCol="0" anchor="ctr"/>
          <a:lstStyle/>
          <a:p>
            <a:pPr marL="0" indent="0">
              <a:buNone/>
            </a:pPr>
            <a:r>
              <a:rPr lang="en-US" b="1" dirty="0">
                <a:solidFill>
                  <a:srgbClr val="0D9488"/>
                </a:solidFill>
                <a:latin typeface="Calibri" pitchFamily="34" charset="0"/>
                <a:ea typeface="Calibri" pitchFamily="34" charset="-122"/>
                <a:cs typeface="Calibri" pitchFamily="34" charset="-120"/>
              </a:rPr>
              <a:t>Orchestration Loop</a:t>
            </a:r>
            <a:endParaRPr lang="en-US" dirty="0"/>
          </a:p>
        </p:txBody>
      </p:sp>
      <p:sp>
        <p:nvSpPr>
          <p:cNvPr id="72" name="Shape 22">
            <a:extLst>
              <a:ext uri="{FF2B5EF4-FFF2-40B4-BE49-F238E27FC236}">
                <a16:creationId xmlns:a16="http://schemas.microsoft.com/office/drawing/2014/main" id="{A485A832-133B-5836-A67A-A32B847EDEF7}"/>
              </a:ext>
            </a:extLst>
          </p:cNvPr>
          <p:cNvSpPr/>
          <p:nvPr/>
        </p:nvSpPr>
        <p:spPr>
          <a:xfrm flipV="1">
            <a:off x="1051561" y="2394235"/>
            <a:ext cx="2286000" cy="45719"/>
          </a:xfrm>
          <a:prstGeom prst="roundRect">
            <a:avLst>
              <a:gd name="adj" fmla="val 50000"/>
            </a:avLst>
          </a:prstGeom>
          <a:solidFill>
            <a:srgbClr val="0D9488">
              <a:alpha val="60000"/>
            </a:srgbClr>
          </a:solidFill>
          <a:ln/>
        </p:spPr>
      </p:sp>
      <p:sp>
        <p:nvSpPr>
          <p:cNvPr id="74" name="Text 24">
            <a:extLst>
              <a:ext uri="{FF2B5EF4-FFF2-40B4-BE49-F238E27FC236}">
                <a16:creationId xmlns:a16="http://schemas.microsoft.com/office/drawing/2014/main" id="{F6CD0D7A-D110-FA05-43D4-F117CB545767}"/>
              </a:ext>
            </a:extLst>
          </p:cNvPr>
          <p:cNvSpPr/>
          <p:nvPr/>
        </p:nvSpPr>
        <p:spPr>
          <a:xfrm>
            <a:off x="1051561" y="2604547"/>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5" name="Text 25">
            <a:extLst>
              <a:ext uri="{FF2B5EF4-FFF2-40B4-BE49-F238E27FC236}">
                <a16:creationId xmlns:a16="http://schemas.microsoft.com/office/drawing/2014/main" id="{41681414-7156-4B5A-DEF1-9E8D2FDB1350}"/>
              </a:ext>
            </a:extLst>
          </p:cNvPr>
          <p:cNvSpPr/>
          <p:nvPr/>
        </p:nvSpPr>
        <p:spPr>
          <a:xfrm>
            <a:off x="1290818" y="2408011"/>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Backend sends logs + system prompt to Gemini</a:t>
            </a:r>
            <a:endParaRPr lang="en-US" sz="1600" b="1" dirty="0"/>
          </a:p>
        </p:txBody>
      </p:sp>
      <p:sp>
        <p:nvSpPr>
          <p:cNvPr id="77" name="Text 27">
            <a:extLst>
              <a:ext uri="{FF2B5EF4-FFF2-40B4-BE49-F238E27FC236}">
                <a16:creationId xmlns:a16="http://schemas.microsoft.com/office/drawing/2014/main" id="{44F883A4-3831-2D87-5A14-306BF71EE15E}"/>
              </a:ext>
            </a:extLst>
          </p:cNvPr>
          <p:cNvSpPr/>
          <p:nvPr/>
        </p:nvSpPr>
        <p:spPr>
          <a:xfrm>
            <a:off x="1051561" y="2915443"/>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8" name="Text 28">
            <a:extLst>
              <a:ext uri="{FF2B5EF4-FFF2-40B4-BE49-F238E27FC236}">
                <a16:creationId xmlns:a16="http://schemas.microsoft.com/office/drawing/2014/main" id="{721D0EBF-AEFE-C3A2-D6F1-3A56405C0AF4}"/>
              </a:ext>
            </a:extLst>
          </p:cNvPr>
          <p:cNvSpPr/>
          <p:nvPr/>
        </p:nvSpPr>
        <p:spPr>
          <a:xfrm>
            <a:off x="1266443" y="2841920"/>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Gemini sees 5 tool declarations (function schemas)</a:t>
            </a:r>
            <a:endParaRPr lang="en-US" sz="1600" b="1" dirty="0"/>
          </a:p>
        </p:txBody>
      </p:sp>
      <p:sp>
        <p:nvSpPr>
          <p:cNvPr id="83" name="Text 30">
            <a:extLst>
              <a:ext uri="{FF2B5EF4-FFF2-40B4-BE49-F238E27FC236}">
                <a16:creationId xmlns:a16="http://schemas.microsoft.com/office/drawing/2014/main" id="{28BA5DEC-FCA1-85A8-ED7A-7384BDEB9EA4}"/>
              </a:ext>
            </a:extLst>
          </p:cNvPr>
          <p:cNvSpPr/>
          <p:nvPr/>
        </p:nvSpPr>
        <p:spPr>
          <a:xfrm>
            <a:off x="1051561" y="3226339"/>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84" name="Text 31">
            <a:extLst>
              <a:ext uri="{FF2B5EF4-FFF2-40B4-BE49-F238E27FC236}">
                <a16:creationId xmlns:a16="http://schemas.microsoft.com/office/drawing/2014/main" id="{0B612CB2-8248-E1C8-3695-FDD4FB4A1CAF}"/>
              </a:ext>
            </a:extLst>
          </p:cNvPr>
          <p:cNvSpPr/>
          <p:nvPr/>
        </p:nvSpPr>
        <p:spPr>
          <a:xfrm>
            <a:off x="1257370" y="3274804"/>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Gemini autonomously decides which tool to call</a:t>
            </a:r>
            <a:endParaRPr lang="en-US" sz="1600" b="1" dirty="0"/>
          </a:p>
        </p:txBody>
      </p:sp>
      <p:sp>
        <p:nvSpPr>
          <p:cNvPr id="86" name="Text 33">
            <a:extLst>
              <a:ext uri="{FF2B5EF4-FFF2-40B4-BE49-F238E27FC236}">
                <a16:creationId xmlns:a16="http://schemas.microsoft.com/office/drawing/2014/main" id="{CE02119E-3887-D182-ABF9-A4245161BFA7}"/>
              </a:ext>
            </a:extLst>
          </p:cNvPr>
          <p:cNvSpPr/>
          <p:nvPr/>
        </p:nvSpPr>
        <p:spPr>
          <a:xfrm>
            <a:off x="1051561" y="3537235"/>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87" name="Text 34">
            <a:extLst>
              <a:ext uri="{FF2B5EF4-FFF2-40B4-BE49-F238E27FC236}">
                <a16:creationId xmlns:a16="http://schemas.microsoft.com/office/drawing/2014/main" id="{45FD4DAD-8763-1523-5175-4C8A65E340B9}"/>
              </a:ext>
            </a:extLst>
          </p:cNvPr>
          <p:cNvSpPr/>
          <p:nvPr/>
        </p:nvSpPr>
        <p:spPr>
          <a:xfrm>
            <a:off x="1266443" y="3705234"/>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Backend intercepts → routes to MCP Server → result</a:t>
            </a:r>
            <a:endParaRPr lang="en-US" sz="1600" b="1" dirty="0"/>
          </a:p>
        </p:txBody>
      </p:sp>
      <p:sp>
        <p:nvSpPr>
          <p:cNvPr id="89" name="Text 36">
            <a:extLst>
              <a:ext uri="{FF2B5EF4-FFF2-40B4-BE49-F238E27FC236}">
                <a16:creationId xmlns:a16="http://schemas.microsoft.com/office/drawing/2014/main" id="{4325CA37-AD5D-EA41-EF05-27BBDE636641}"/>
              </a:ext>
            </a:extLst>
          </p:cNvPr>
          <p:cNvSpPr/>
          <p:nvPr/>
        </p:nvSpPr>
        <p:spPr>
          <a:xfrm>
            <a:off x="1061098" y="4044470"/>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90" name="Text 37">
            <a:extLst>
              <a:ext uri="{FF2B5EF4-FFF2-40B4-BE49-F238E27FC236}">
                <a16:creationId xmlns:a16="http://schemas.microsoft.com/office/drawing/2014/main" id="{342471CD-2228-CC3E-17A5-E1E105C7FFEC}"/>
              </a:ext>
            </a:extLst>
          </p:cNvPr>
          <p:cNvSpPr/>
          <p:nvPr/>
        </p:nvSpPr>
        <p:spPr>
          <a:xfrm>
            <a:off x="1266175" y="4209720"/>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Result fed back → Gemini decides next tool</a:t>
            </a:r>
            <a:endParaRPr lang="en-US" sz="1600" b="1" dirty="0"/>
          </a:p>
        </p:txBody>
      </p:sp>
      <p:sp>
        <p:nvSpPr>
          <p:cNvPr id="92" name="Text 39">
            <a:extLst>
              <a:ext uri="{FF2B5EF4-FFF2-40B4-BE49-F238E27FC236}">
                <a16:creationId xmlns:a16="http://schemas.microsoft.com/office/drawing/2014/main" id="{4AED6F69-9A6A-8822-5B93-739D92D4FB4C}"/>
              </a:ext>
            </a:extLst>
          </p:cNvPr>
          <p:cNvSpPr/>
          <p:nvPr/>
        </p:nvSpPr>
        <p:spPr>
          <a:xfrm>
            <a:off x="1106305" y="4496330"/>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93" name="Text 40">
            <a:extLst>
              <a:ext uri="{FF2B5EF4-FFF2-40B4-BE49-F238E27FC236}">
                <a16:creationId xmlns:a16="http://schemas.microsoft.com/office/drawing/2014/main" id="{2982D8BF-EE43-0095-FD25-CFE45AFA5604}"/>
              </a:ext>
            </a:extLst>
          </p:cNvPr>
          <p:cNvSpPr/>
          <p:nvPr/>
        </p:nvSpPr>
        <p:spPr>
          <a:xfrm>
            <a:off x="1257369" y="4647197"/>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Repeats until all tools called (max 8 iterations)</a:t>
            </a:r>
            <a:endParaRPr lang="en-US" sz="1600" b="1" dirty="0"/>
          </a:p>
        </p:txBody>
      </p:sp>
      <p:sp>
        <p:nvSpPr>
          <p:cNvPr id="95" name="Text 42">
            <a:extLst>
              <a:ext uri="{FF2B5EF4-FFF2-40B4-BE49-F238E27FC236}">
                <a16:creationId xmlns:a16="http://schemas.microsoft.com/office/drawing/2014/main" id="{C4D4B672-8929-1714-76FA-73869CDDFBF2}"/>
              </a:ext>
            </a:extLst>
          </p:cNvPr>
          <p:cNvSpPr/>
          <p:nvPr/>
        </p:nvSpPr>
        <p:spPr>
          <a:xfrm>
            <a:off x="1078126" y="4990164"/>
            <a:ext cx="478515" cy="5056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96" name="Text 43">
            <a:extLst>
              <a:ext uri="{FF2B5EF4-FFF2-40B4-BE49-F238E27FC236}">
                <a16:creationId xmlns:a16="http://schemas.microsoft.com/office/drawing/2014/main" id="{3BA51E7F-DB2E-0B44-210F-C6B8811EF207}"/>
              </a:ext>
            </a:extLst>
          </p:cNvPr>
          <p:cNvSpPr/>
          <p:nvPr/>
        </p:nvSpPr>
        <p:spPr>
          <a:xfrm>
            <a:off x="1290817" y="5143203"/>
            <a:ext cx="7434073" cy="541782"/>
          </a:xfrm>
          <a:prstGeom prst="rect">
            <a:avLst/>
          </a:prstGeom>
          <a:noFill/>
          <a:ln/>
        </p:spPr>
        <p:txBody>
          <a:bodyPr wrap="square" lIns="0" tIns="0" rIns="0" bIns="0" rtlCol="0" anchor="ctr"/>
          <a:lstStyle/>
          <a:p>
            <a:pPr marL="0" indent="0">
              <a:buNone/>
            </a:pPr>
            <a:r>
              <a:rPr lang="en-US" sz="1600" b="1" dirty="0">
                <a:solidFill>
                  <a:srgbClr val="0F172A"/>
                </a:solidFill>
                <a:latin typeface="Calibri Light" pitchFamily="34" charset="0"/>
                <a:ea typeface="Calibri Light" pitchFamily="34" charset="-122"/>
                <a:cs typeface="Calibri Light" pitchFamily="34" charset="-120"/>
              </a:rPr>
              <a:t>Gemini synthesizes → 9-section AI report</a:t>
            </a:r>
            <a:endParaRPr lang="en-US" sz="1600" b="1" dirty="0"/>
          </a:p>
        </p:txBody>
      </p:sp>
      <p:cxnSp>
        <p:nvCxnSpPr>
          <p:cNvPr id="99" name="Straight Arrow Connector 98">
            <a:extLst>
              <a:ext uri="{FF2B5EF4-FFF2-40B4-BE49-F238E27FC236}">
                <a16:creationId xmlns:a16="http://schemas.microsoft.com/office/drawing/2014/main" id="{77488E99-2465-189D-34A8-A9852531F2D8}"/>
              </a:ext>
            </a:extLst>
          </p:cNvPr>
          <p:cNvCxnSpPr/>
          <p:nvPr/>
        </p:nvCxnSpPr>
        <p:spPr>
          <a:xfrm>
            <a:off x="2807208" y="2820924"/>
            <a:ext cx="0" cy="233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EE4E06C8-C8D7-5988-2E6F-8B1B9595B8AF}"/>
              </a:ext>
            </a:extLst>
          </p:cNvPr>
          <p:cNvCxnSpPr/>
          <p:nvPr/>
        </p:nvCxnSpPr>
        <p:spPr>
          <a:xfrm>
            <a:off x="2812900" y="3235670"/>
            <a:ext cx="0" cy="233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210E9E25-81C9-B817-262F-536B9575C394}"/>
              </a:ext>
            </a:extLst>
          </p:cNvPr>
          <p:cNvCxnSpPr/>
          <p:nvPr/>
        </p:nvCxnSpPr>
        <p:spPr>
          <a:xfrm>
            <a:off x="2814704" y="3635556"/>
            <a:ext cx="0" cy="233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B73C5A4C-78B6-727A-827D-B8EE4E153641}"/>
              </a:ext>
            </a:extLst>
          </p:cNvPr>
          <p:cNvCxnSpPr/>
          <p:nvPr/>
        </p:nvCxnSpPr>
        <p:spPr>
          <a:xfrm>
            <a:off x="2816508" y="4078224"/>
            <a:ext cx="0" cy="233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93905DD4-74E1-F232-61E9-FAD7B1821D1E}"/>
              </a:ext>
            </a:extLst>
          </p:cNvPr>
          <p:cNvCxnSpPr/>
          <p:nvPr/>
        </p:nvCxnSpPr>
        <p:spPr>
          <a:xfrm>
            <a:off x="2809012" y="4576572"/>
            <a:ext cx="0" cy="233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C0D035F6-0150-19C6-A99E-1589BB5CC620}"/>
              </a:ext>
            </a:extLst>
          </p:cNvPr>
          <p:cNvCxnSpPr/>
          <p:nvPr/>
        </p:nvCxnSpPr>
        <p:spPr>
          <a:xfrm>
            <a:off x="2816508" y="5072393"/>
            <a:ext cx="0" cy="2331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Shape 7">
            <a:extLst>
              <a:ext uri="{FF2B5EF4-FFF2-40B4-BE49-F238E27FC236}">
                <a16:creationId xmlns:a16="http://schemas.microsoft.com/office/drawing/2014/main" id="{5C7825DE-0F33-E04E-B9F9-2F7457DC1941}"/>
              </a:ext>
            </a:extLst>
          </p:cNvPr>
          <p:cNvSpPr/>
          <p:nvPr/>
        </p:nvSpPr>
        <p:spPr>
          <a:xfrm>
            <a:off x="8411477" y="2075687"/>
            <a:ext cx="45719" cy="45719"/>
          </a:xfrm>
          <a:prstGeom prst="ellipse">
            <a:avLst/>
          </a:prstGeom>
          <a:solidFill>
            <a:srgbClr val="0D9488">
              <a:alpha val="10000"/>
            </a:srgbClr>
          </a:solidFill>
          <a:ln/>
        </p:spPr>
      </p:sp>
      <p:sp>
        <p:nvSpPr>
          <p:cNvPr id="106" name="Shape 9">
            <a:extLst>
              <a:ext uri="{FF2B5EF4-FFF2-40B4-BE49-F238E27FC236}">
                <a16:creationId xmlns:a16="http://schemas.microsoft.com/office/drawing/2014/main" id="{3DF0F069-5FF7-28E4-24AD-42F81FAEA157}"/>
              </a:ext>
            </a:extLst>
          </p:cNvPr>
          <p:cNvSpPr/>
          <p:nvPr/>
        </p:nvSpPr>
        <p:spPr>
          <a:xfrm>
            <a:off x="7497077" y="3081527"/>
            <a:ext cx="45719" cy="45719"/>
          </a:xfrm>
          <a:prstGeom prst="ellipse">
            <a:avLst/>
          </a:prstGeom>
          <a:solidFill>
            <a:srgbClr val="0D9488">
              <a:alpha val="10000"/>
            </a:srgbClr>
          </a:solidFill>
          <a:ln/>
        </p:spPr>
      </p:sp>
      <p:sp>
        <p:nvSpPr>
          <p:cNvPr id="107" name="Shape 12">
            <a:extLst>
              <a:ext uri="{FF2B5EF4-FFF2-40B4-BE49-F238E27FC236}">
                <a16:creationId xmlns:a16="http://schemas.microsoft.com/office/drawing/2014/main" id="{41E141DB-0D8C-05E0-16DE-531246667086}"/>
              </a:ext>
            </a:extLst>
          </p:cNvPr>
          <p:cNvSpPr/>
          <p:nvPr/>
        </p:nvSpPr>
        <p:spPr>
          <a:xfrm>
            <a:off x="10240277" y="4087367"/>
            <a:ext cx="45719" cy="45719"/>
          </a:xfrm>
          <a:prstGeom prst="ellipse">
            <a:avLst/>
          </a:prstGeom>
          <a:solidFill>
            <a:srgbClr val="0D9488">
              <a:alpha val="10000"/>
            </a:srgbClr>
          </a:solidFill>
          <a:ln/>
        </p:spPr>
      </p:sp>
      <p:sp>
        <p:nvSpPr>
          <p:cNvPr id="108" name="Shape 44">
            <a:extLst>
              <a:ext uri="{FF2B5EF4-FFF2-40B4-BE49-F238E27FC236}">
                <a16:creationId xmlns:a16="http://schemas.microsoft.com/office/drawing/2014/main" id="{68566AE0-2B68-9DCA-A5C0-F215638C2B7A}"/>
              </a:ext>
            </a:extLst>
          </p:cNvPr>
          <p:cNvSpPr/>
          <p:nvPr/>
        </p:nvSpPr>
        <p:spPr>
          <a:xfrm>
            <a:off x="7039878" y="1847088"/>
            <a:ext cx="3894752" cy="3805892"/>
          </a:xfrm>
          <a:prstGeom prst="roundRect">
            <a:avLst>
              <a:gd name="adj" fmla="val 4762"/>
            </a:avLst>
          </a:prstGeom>
          <a:solidFill>
            <a:srgbClr val="0F172A"/>
          </a:solidFill>
          <a:ln/>
          <a:effectLst>
            <a:outerShdw blurRad="152400" dist="50800" dir="8100000" algn="bl" rotWithShape="0">
              <a:srgbClr val="000000">
                <a:alpha val="20000"/>
              </a:srgbClr>
            </a:outerShdw>
          </a:effectLst>
        </p:spPr>
      </p:sp>
      <p:sp>
        <p:nvSpPr>
          <p:cNvPr id="109" name="Shape 45">
            <a:extLst>
              <a:ext uri="{FF2B5EF4-FFF2-40B4-BE49-F238E27FC236}">
                <a16:creationId xmlns:a16="http://schemas.microsoft.com/office/drawing/2014/main" id="{5B18FB69-2744-02AC-5731-3883C4E061F7}"/>
              </a:ext>
            </a:extLst>
          </p:cNvPr>
          <p:cNvSpPr/>
          <p:nvPr/>
        </p:nvSpPr>
        <p:spPr>
          <a:xfrm>
            <a:off x="7598664" y="1949611"/>
            <a:ext cx="1363163" cy="45719"/>
          </a:xfrm>
          <a:prstGeom prst="roundRect">
            <a:avLst>
              <a:gd name="adj" fmla="val 50000"/>
            </a:avLst>
          </a:prstGeom>
          <a:solidFill>
            <a:srgbClr val="67E8F9"/>
          </a:solidFill>
          <a:ln/>
        </p:spPr>
      </p:sp>
      <p:pic>
        <p:nvPicPr>
          <p:cNvPr id="110" name="Image 2" descr="preencoded.png">
            <a:extLst>
              <a:ext uri="{FF2B5EF4-FFF2-40B4-BE49-F238E27FC236}">
                <a16:creationId xmlns:a16="http://schemas.microsoft.com/office/drawing/2014/main" id="{EC308F67-E2E6-035F-9334-7C1A88AD2D6F}"/>
              </a:ext>
            </a:extLst>
          </p:cNvPr>
          <p:cNvPicPr>
            <a:picLocks noChangeAspect="1"/>
          </p:cNvPicPr>
          <p:nvPr/>
        </p:nvPicPr>
        <p:blipFill>
          <a:blip r:embed="rId5"/>
          <a:stretch>
            <a:fillRect/>
          </a:stretch>
        </p:blipFill>
        <p:spPr>
          <a:xfrm>
            <a:off x="7268478" y="1965960"/>
            <a:ext cx="265808" cy="265808"/>
          </a:xfrm>
          <a:prstGeom prst="rect">
            <a:avLst/>
          </a:prstGeom>
        </p:spPr>
      </p:pic>
      <p:sp>
        <p:nvSpPr>
          <p:cNvPr id="111" name="Text 46">
            <a:extLst>
              <a:ext uri="{FF2B5EF4-FFF2-40B4-BE49-F238E27FC236}">
                <a16:creationId xmlns:a16="http://schemas.microsoft.com/office/drawing/2014/main" id="{5A61786E-C1FD-88BC-7EF6-8AC8CCE21CE3}"/>
              </a:ext>
            </a:extLst>
          </p:cNvPr>
          <p:cNvSpPr/>
          <p:nvPr/>
        </p:nvSpPr>
        <p:spPr>
          <a:xfrm>
            <a:off x="7607615" y="1956816"/>
            <a:ext cx="3004523" cy="362466"/>
          </a:xfrm>
          <a:prstGeom prst="rect">
            <a:avLst/>
          </a:prstGeom>
          <a:noFill/>
          <a:ln/>
        </p:spPr>
        <p:txBody>
          <a:bodyPr wrap="square" lIns="0" tIns="0" rIns="0" bIns="0" rtlCol="0" anchor="ctr"/>
          <a:lstStyle/>
          <a:p>
            <a:pPr marL="0" indent="0">
              <a:buNone/>
            </a:pPr>
            <a:r>
              <a:rPr lang="en-US" b="1" dirty="0">
                <a:solidFill>
                  <a:srgbClr val="67E8F9"/>
                </a:solidFill>
                <a:latin typeface="Calibri" pitchFamily="34" charset="0"/>
                <a:ea typeface="Calibri" pitchFamily="34" charset="-122"/>
                <a:cs typeface="Calibri" pitchFamily="34" charset="-120"/>
              </a:rPr>
              <a:t>Design Decisions</a:t>
            </a:r>
            <a:endParaRPr lang="en-US" dirty="0"/>
          </a:p>
        </p:txBody>
      </p:sp>
      <p:sp>
        <p:nvSpPr>
          <p:cNvPr id="112" name="Shape 47">
            <a:extLst>
              <a:ext uri="{FF2B5EF4-FFF2-40B4-BE49-F238E27FC236}">
                <a16:creationId xmlns:a16="http://schemas.microsoft.com/office/drawing/2014/main" id="{E0912A2C-3ED5-7A81-46E8-50B013FF2D55}"/>
              </a:ext>
            </a:extLst>
          </p:cNvPr>
          <p:cNvSpPr/>
          <p:nvPr/>
        </p:nvSpPr>
        <p:spPr>
          <a:xfrm>
            <a:off x="7504738" y="2267721"/>
            <a:ext cx="1669179" cy="45719"/>
          </a:xfrm>
          <a:prstGeom prst="roundRect">
            <a:avLst>
              <a:gd name="adj" fmla="val 50000"/>
            </a:avLst>
          </a:prstGeom>
          <a:solidFill>
            <a:srgbClr val="67E8F9">
              <a:alpha val="60000"/>
            </a:srgbClr>
          </a:solidFill>
          <a:ln/>
        </p:spPr>
      </p:sp>
      <p:grpSp>
        <p:nvGrpSpPr>
          <p:cNvPr id="132" name="Group 131">
            <a:extLst>
              <a:ext uri="{FF2B5EF4-FFF2-40B4-BE49-F238E27FC236}">
                <a16:creationId xmlns:a16="http://schemas.microsoft.com/office/drawing/2014/main" id="{EBB8287C-4615-F033-1DE8-692416068E1B}"/>
              </a:ext>
            </a:extLst>
          </p:cNvPr>
          <p:cNvGrpSpPr/>
          <p:nvPr/>
        </p:nvGrpSpPr>
        <p:grpSpPr>
          <a:xfrm>
            <a:off x="7307205" y="2423159"/>
            <a:ext cx="3298683" cy="422877"/>
            <a:chOff x="7268477" y="2423159"/>
            <a:chExt cx="3298683" cy="422877"/>
          </a:xfrm>
        </p:grpSpPr>
        <p:sp>
          <p:nvSpPr>
            <p:cNvPr id="113" name="Shape 48">
              <a:extLst>
                <a:ext uri="{FF2B5EF4-FFF2-40B4-BE49-F238E27FC236}">
                  <a16:creationId xmlns:a16="http://schemas.microsoft.com/office/drawing/2014/main" id="{AEA02BDC-4ECA-FFB9-23F1-951C8FD031BF}"/>
                </a:ext>
              </a:extLst>
            </p:cNvPr>
            <p:cNvSpPr/>
            <p:nvPr/>
          </p:nvSpPr>
          <p:spPr>
            <a:xfrm>
              <a:off x="7268477" y="2423159"/>
              <a:ext cx="50075" cy="422877"/>
            </a:xfrm>
            <a:prstGeom prst="roundRect">
              <a:avLst>
                <a:gd name="adj" fmla="val 44444"/>
              </a:avLst>
            </a:prstGeom>
            <a:solidFill>
              <a:srgbClr val="14B8A6"/>
            </a:solidFill>
            <a:ln/>
          </p:spPr>
        </p:sp>
        <p:sp>
          <p:nvSpPr>
            <p:cNvPr id="114" name="Text 49">
              <a:extLst>
                <a:ext uri="{FF2B5EF4-FFF2-40B4-BE49-F238E27FC236}">
                  <a16:creationId xmlns:a16="http://schemas.microsoft.com/office/drawing/2014/main" id="{B508565B-C276-EA18-BBA2-CFC93017C590}"/>
                </a:ext>
              </a:extLst>
            </p:cNvPr>
            <p:cNvSpPr/>
            <p:nvPr/>
          </p:nvSpPr>
          <p:spPr>
            <a:xfrm>
              <a:off x="7451358" y="2423160"/>
              <a:ext cx="3115802" cy="21748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Temperature</a:t>
              </a:r>
              <a:endParaRPr lang="en-US" dirty="0"/>
            </a:p>
          </p:txBody>
        </p:sp>
        <p:sp>
          <p:nvSpPr>
            <p:cNvPr id="115" name="Text 50">
              <a:extLst>
                <a:ext uri="{FF2B5EF4-FFF2-40B4-BE49-F238E27FC236}">
                  <a16:creationId xmlns:a16="http://schemas.microsoft.com/office/drawing/2014/main" id="{07B28871-CE05-0A28-8890-1A12B663624A}"/>
                </a:ext>
              </a:extLst>
            </p:cNvPr>
            <p:cNvSpPr/>
            <p:nvPr/>
          </p:nvSpPr>
          <p:spPr>
            <a:xfrm>
              <a:off x="7451358" y="2596896"/>
              <a:ext cx="3115802" cy="217480"/>
            </a:xfrm>
            <a:prstGeom prst="rect">
              <a:avLst/>
            </a:prstGeom>
            <a:noFill/>
            <a:ln/>
          </p:spPr>
          <p:txBody>
            <a:bodyPr wrap="square" lIns="0" tIns="0" rIns="0" bIns="0" rtlCol="0" anchor="ctr"/>
            <a:lstStyle/>
            <a:p>
              <a:pPr marL="0" indent="0">
                <a:buNone/>
              </a:pPr>
              <a:r>
                <a:rPr lang="en-US" sz="1400" dirty="0">
                  <a:solidFill>
                    <a:srgbClr val="94A3B8"/>
                  </a:solidFill>
                  <a:latin typeface="Calibri Light" pitchFamily="34" charset="0"/>
                  <a:ea typeface="Calibri Light" pitchFamily="34" charset="-122"/>
                  <a:cs typeface="Calibri Light" pitchFamily="34" charset="-120"/>
                </a:rPr>
                <a:t>0.3 — deterministic, factual</a:t>
              </a:r>
              <a:endParaRPr lang="en-US" sz="1400" dirty="0"/>
            </a:p>
          </p:txBody>
        </p:sp>
      </p:grpSp>
      <p:grpSp>
        <p:nvGrpSpPr>
          <p:cNvPr id="131" name="Group 130">
            <a:extLst>
              <a:ext uri="{FF2B5EF4-FFF2-40B4-BE49-F238E27FC236}">
                <a16:creationId xmlns:a16="http://schemas.microsoft.com/office/drawing/2014/main" id="{934E2A4F-5958-E84D-1F11-CDF4900A6E1E}"/>
              </a:ext>
            </a:extLst>
          </p:cNvPr>
          <p:cNvGrpSpPr/>
          <p:nvPr/>
        </p:nvGrpSpPr>
        <p:grpSpPr>
          <a:xfrm>
            <a:off x="7324365" y="2944714"/>
            <a:ext cx="3298683" cy="422877"/>
            <a:chOff x="7268477" y="2862071"/>
            <a:chExt cx="3298683" cy="422877"/>
          </a:xfrm>
        </p:grpSpPr>
        <p:sp>
          <p:nvSpPr>
            <p:cNvPr id="116" name="Shape 51">
              <a:extLst>
                <a:ext uri="{FF2B5EF4-FFF2-40B4-BE49-F238E27FC236}">
                  <a16:creationId xmlns:a16="http://schemas.microsoft.com/office/drawing/2014/main" id="{880467B3-1C32-3204-9E9F-5F738EC7C908}"/>
                </a:ext>
              </a:extLst>
            </p:cNvPr>
            <p:cNvSpPr/>
            <p:nvPr/>
          </p:nvSpPr>
          <p:spPr>
            <a:xfrm>
              <a:off x="7268477" y="2862071"/>
              <a:ext cx="50075" cy="422877"/>
            </a:xfrm>
            <a:prstGeom prst="roundRect">
              <a:avLst>
                <a:gd name="adj" fmla="val 44444"/>
              </a:avLst>
            </a:prstGeom>
            <a:solidFill>
              <a:srgbClr val="14B8A6"/>
            </a:solidFill>
            <a:ln/>
          </p:spPr>
        </p:sp>
        <p:sp>
          <p:nvSpPr>
            <p:cNvPr id="117" name="Text 52">
              <a:extLst>
                <a:ext uri="{FF2B5EF4-FFF2-40B4-BE49-F238E27FC236}">
                  <a16:creationId xmlns:a16="http://schemas.microsoft.com/office/drawing/2014/main" id="{A0E35909-C2FC-A6F1-617E-C93EA3B223F3}"/>
                </a:ext>
              </a:extLst>
            </p:cNvPr>
            <p:cNvSpPr/>
            <p:nvPr/>
          </p:nvSpPr>
          <p:spPr>
            <a:xfrm>
              <a:off x="7451358" y="2862072"/>
              <a:ext cx="3115802" cy="21748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Log Injection</a:t>
              </a:r>
              <a:endParaRPr lang="en-US" dirty="0"/>
            </a:p>
          </p:txBody>
        </p:sp>
        <p:sp>
          <p:nvSpPr>
            <p:cNvPr id="118" name="Text 53">
              <a:extLst>
                <a:ext uri="{FF2B5EF4-FFF2-40B4-BE49-F238E27FC236}">
                  <a16:creationId xmlns:a16="http://schemas.microsoft.com/office/drawing/2014/main" id="{4D9A207A-D6D7-D082-BFE8-8044190F1BFF}"/>
                </a:ext>
              </a:extLst>
            </p:cNvPr>
            <p:cNvSpPr/>
            <p:nvPr/>
          </p:nvSpPr>
          <p:spPr>
            <a:xfrm>
              <a:off x="7451358" y="3035808"/>
              <a:ext cx="3115802" cy="217480"/>
            </a:xfrm>
            <a:prstGeom prst="rect">
              <a:avLst/>
            </a:prstGeom>
            <a:noFill/>
            <a:ln/>
          </p:spPr>
          <p:txBody>
            <a:bodyPr wrap="square" lIns="0" tIns="0" rIns="0" bIns="0" rtlCol="0" anchor="ctr"/>
            <a:lstStyle/>
            <a:p>
              <a:pPr marL="0" indent="0">
                <a:buNone/>
              </a:pPr>
              <a:r>
                <a:rPr lang="en-US" sz="1400" dirty="0">
                  <a:solidFill>
                    <a:srgbClr val="94A3B8"/>
                  </a:solidFill>
                  <a:latin typeface="Calibri Light" pitchFamily="34" charset="0"/>
                  <a:ea typeface="Calibri Light" pitchFamily="34" charset="-122"/>
                  <a:cs typeface="Calibri Light" pitchFamily="34" charset="-120"/>
                </a:rPr>
                <a:t>Full original always injected</a:t>
              </a:r>
              <a:endParaRPr lang="en-US" sz="1400" dirty="0"/>
            </a:p>
          </p:txBody>
        </p:sp>
      </p:grpSp>
      <p:grpSp>
        <p:nvGrpSpPr>
          <p:cNvPr id="130" name="Group 129">
            <a:extLst>
              <a:ext uri="{FF2B5EF4-FFF2-40B4-BE49-F238E27FC236}">
                <a16:creationId xmlns:a16="http://schemas.microsoft.com/office/drawing/2014/main" id="{FA5921E5-8893-ADBE-FD0F-616151E82D87}"/>
              </a:ext>
            </a:extLst>
          </p:cNvPr>
          <p:cNvGrpSpPr/>
          <p:nvPr/>
        </p:nvGrpSpPr>
        <p:grpSpPr>
          <a:xfrm>
            <a:off x="7340783" y="3506529"/>
            <a:ext cx="3298683" cy="422877"/>
            <a:chOff x="7268477" y="3300983"/>
            <a:chExt cx="3298683" cy="422877"/>
          </a:xfrm>
        </p:grpSpPr>
        <p:sp>
          <p:nvSpPr>
            <p:cNvPr id="119" name="Shape 54">
              <a:extLst>
                <a:ext uri="{FF2B5EF4-FFF2-40B4-BE49-F238E27FC236}">
                  <a16:creationId xmlns:a16="http://schemas.microsoft.com/office/drawing/2014/main" id="{AD3EC49D-52FA-4301-3693-58D24E0FAB34}"/>
                </a:ext>
              </a:extLst>
            </p:cNvPr>
            <p:cNvSpPr/>
            <p:nvPr/>
          </p:nvSpPr>
          <p:spPr>
            <a:xfrm>
              <a:off x="7268477" y="3300983"/>
              <a:ext cx="50075" cy="422877"/>
            </a:xfrm>
            <a:prstGeom prst="roundRect">
              <a:avLst>
                <a:gd name="adj" fmla="val 44444"/>
              </a:avLst>
            </a:prstGeom>
            <a:solidFill>
              <a:srgbClr val="14B8A6"/>
            </a:solidFill>
            <a:ln/>
          </p:spPr>
        </p:sp>
        <p:sp>
          <p:nvSpPr>
            <p:cNvPr id="120" name="Text 55">
              <a:extLst>
                <a:ext uri="{FF2B5EF4-FFF2-40B4-BE49-F238E27FC236}">
                  <a16:creationId xmlns:a16="http://schemas.microsoft.com/office/drawing/2014/main" id="{41E7D79A-AAEC-5AD0-068D-C7E07B070FD1}"/>
                </a:ext>
              </a:extLst>
            </p:cNvPr>
            <p:cNvSpPr/>
            <p:nvPr/>
          </p:nvSpPr>
          <p:spPr>
            <a:xfrm>
              <a:off x="7451358" y="3300984"/>
              <a:ext cx="3115802" cy="21748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Context Cap</a:t>
              </a:r>
              <a:endParaRPr lang="en-US" dirty="0"/>
            </a:p>
          </p:txBody>
        </p:sp>
        <p:sp>
          <p:nvSpPr>
            <p:cNvPr id="121" name="Text 56">
              <a:extLst>
                <a:ext uri="{FF2B5EF4-FFF2-40B4-BE49-F238E27FC236}">
                  <a16:creationId xmlns:a16="http://schemas.microsoft.com/office/drawing/2014/main" id="{72163DBF-6020-6765-4FE5-B944D868DB1D}"/>
                </a:ext>
              </a:extLst>
            </p:cNvPr>
            <p:cNvSpPr/>
            <p:nvPr/>
          </p:nvSpPr>
          <p:spPr>
            <a:xfrm>
              <a:off x="7451358" y="3474720"/>
              <a:ext cx="3115802" cy="217480"/>
            </a:xfrm>
            <a:prstGeom prst="rect">
              <a:avLst/>
            </a:prstGeom>
            <a:noFill/>
            <a:ln/>
          </p:spPr>
          <p:txBody>
            <a:bodyPr wrap="square" lIns="0" tIns="0" rIns="0" bIns="0" rtlCol="0" anchor="ctr"/>
            <a:lstStyle/>
            <a:p>
              <a:pPr marL="0" indent="0">
                <a:buNone/>
              </a:pPr>
              <a:r>
                <a:rPr lang="en-US" sz="1400" dirty="0">
                  <a:solidFill>
                    <a:srgbClr val="94A3B8"/>
                  </a:solidFill>
                  <a:latin typeface="Calibri Light" pitchFamily="34" charset="0"/>
                  <a:ea typeface="Calibri Light" pitchFamily="34" charset="-122"/>
                  <a:cs typeface="Calibri Light" pitchFamily="34" charset="-120"/>
                </a:rPr>
                <a:t>50K chars per tool result</a:t>
              </a:r>
              <a:endParaRPr lang="en-US" sz="1400" dirty="0"/>
            </a:p>
          </p:txBody>
        </p:sp>
      </p:grpSp>
      <p:grpSp>
        <p:nvGrpSpPr>
          <p:cNvPr id="129" name="Group 128">
            <a:extLst>
              <a:ext uri="{FF2B5EF4-FFF2-40B4-BE49-F238E27FC236}">
                <a16:creationId xmlns:a16="http://schemas.microsoft.com/office/drawing/2014/main" id="{19EEDF62-90AD-1669-8821-FC8B1E18EACE}"/>
              </a:ext>
            </a:extLst>
          </p:cNvPr>
          <p:cNvGrpSpPr/>
          <p:nvPr/>
        </p:nvGrpSpPr>
        <p:grpSpPr>
          <a:xfrm>
            <a:off x="7327402" y="4075587"/>
            <a:ext cx="3298683" cy="422877"/>
            <a:chOff x="7268477" y="3739895"/>
            <a:chExt cx="3298683" cy="422877"/>
          </a:xfrm>
        </p:grpSpPr>
        <p:sp>
          <p:nvSpPr>
            <p:cNvPr id="122" name="Shape 57">
              <a:extLst>
                <a:ext uri="{FF2B5EF4-FFF2-40B4-BE49-F238E27FC236}">
                  <a16:creationId xmlns:a16="http://schemas.microsoft.com/office/drawing/2014/main" id="{DDE30C4F-1DAB-97AC-C946-5B6A6D5D3300}"/>
                </a:ext>
              </a:extLst>
            </p:cNvPr>
            <p:cNvSpPr/>
            <p:nvPr/>
          </p:nvSpPr>
          <p:spPr>
            <a:xfrm>
              <a:off x="7268477" y="3739895"/>
              <a:ext cx="50075" cy="422877"/>
            </a:xfrm>
            <a:prstGeom prst="roundRect">
              <a:avLst>
                <a:gd name="adj" fmla="val 44444"/>
              </a:avLst>
            </a:prstGeom>
            <a:solidFill>
              <a:srgbClr val="14B8A6"/>
            </a:solidFill>
            <a:ln/>
          </p:spPr>
        </p:sp>
        <p:sp>
          <p:nvSpPr>
            <p:cNvPr id="123" name="Text 58">
              <a:extLst>
                <a:ext uri="{FF2B5EF4-FFF2-40B4-BE49-F238E27FC236}">
                  <a16:creationId xmlns:a16="http://schemas.microsoft.com/office/drawing/2014/main" id="{C7F2F933-D141-FBDC-CF2C-CC5E49EAA917}"/>
                </a:ext>
              </a:extLst>
            </p:cNvPr>
            <p:cNvSpPr/>
            <p:nvPr/>
          </p:nvSpPr>
          <p:spPr>
            <a:xfrm>
              <a:off x="7451358" y="3739896"/>
              <a:ext cx="3115802" cy="21748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3 Modes</a:t>
              </a:r>
              <a:endParaRPr lang="en-US" dirty="0"/>
            </a:p>
          </p:txBody>
        </p:sp>
        <p:sp>
          <p:nvSpPr>
            <p:cNvPr id="124" name="Text 59">
              <a:extLst>
                <a:ext uri="{FF2B5EF4-FFF2-40B4-BE49-F238E27FC236}">
                  <a16:creationId xmlns:a16="http://schemas.microsoft.com/office/drawing/2014/main" id="{8BB8998A-6A86-CB8B-BB50-8CD5340C3C13}"/>
                </a:ext>
              </a:extLst>
            </p:cNvPr>
            <p:cNvSpPr/>
            <p:nvPr/>
          </p:nvSpPr>
          <p:spPr>
            <a:xfrm>
              <a:off x="7451358" y="3913632"/>
              <a:ext cx="3115802" cy="217480"/>
            </a:xfrm>
            <a:prstGeom prst="rect">
              <a:avLst/>
            </a:prstGeom>
            <a:noFill/>
            <a:ln/>
          </p:spPr>
          <p:txBody>
            <a:bodyPr wrap="square" lIns="0" tIns="0" rIns="0" bIns="0" rtlCol="0" anchor="ctr"/>
            <a:lstStyle/>
            <a:p>
              <a:pPr marL="0" indent="0">
                <a:buNone/>
              </a:pPr>
              <a:r>
                <a:rPr lang="en-US" sz="1400" dirty="0">
                  <a:solidFill>
                    <a:srgbClr val="94A3B8"/>
                  </a:solidFill>
                  <a:latin typeface="Calibri Light" pitchFamily="34" charset="0"/>
                  <a:ea typeface="Calibri Light" pitchFamily="34" charset="-122"/>
                  <a:cs typeface="Calibri Light" pitchFamily="34" charset="-120"/>
                </a:rPr>
                <a:t>Full AI · Parse-only · Detect-only</a:t>
              </a:r>
              <a:endParaRPr lang="en-US" sz="1400" dirty="0"/>
            </a:p>
          </p:txBody>
        </p:sp>
      </p:grpSp>
      <p:grpSp>
        <p:nvGrpSpPr>
          <p:cNvPr id="128" name="Group 127">
            <a:extLst>
              <a:ext uri="{FF2B5EF4-FFF2-40B4-BE49-F238E27FC236}">
                <a16:creationId xmlns:a16="http://schemas.microsoft.com/office/drawing/2014/main" id="{E3CD62B5-9CB4-F786-A503-B4112F5DDD0F}"/>
              </a:ext>
            </a:extLst>
          </p:cNvPr>
          <p:cNvGrpSpPr/>
          <p:nvPr/>
        </p:nvGrpSpPr>
        <p:grpSpPr>
          <a:xfrm>
            <a:off x="7340783" y="4700509"/>
            <a:ext cx="3298683" cy="422877"/>
            <a:chOff x="7268477" y="4178807"/>
            <a:chExt cx="3298683" cy="422877"/>
          </a:xfrm>
        </p:grpSpPr>
        <p:sp>
          <p:nvSpPr>
            <p:cNvPr id="125" name="Shape 60">
              <a:extLst>
                <a:ext uri="{FF2B5EF4-FFF2-40B4-BE49-F238E27FC236}">
                  <a16:creationId xmlns:a16="http://schemas.microsoft.com/office/drawing/2014/main" id="{7AE1B2C4-8EDC-371F-349C-2686C8914863}"/>
                </a:ext>
              </a:extLst>
            </p:cNvPr>
            <p:cNvSpPr/>
            <p:nvPr/>
          </p:nvSpPr>
          <p:spPr>
            <a:xfrm>
              <a:off x="7268477" y="4178807"/>
              <a:ext cx="50075" cy="422877"/>
            </a:xfrm>
            <a:prstGeom prst="roundRect">
              <a:avLst>
                <a:gd name="adj" fmla="val 44444"/>
              </a:avLst>
            </a:prstGeom>
            <a:solidFill>
              <a:srgbClr val="14B8A6"/>
            </a:solidFill>
            <a:ln/>
          </p:spPr>
        </p:sp>
        <p:sp>
          <p:nvSpPr>
            <p:cNvPr id="126" name="Text 61">
              <a:extLst>
                <a:ext uri="{FF2B5EF4-FFF2-40B4-BE49-F238E27FC236}">
                  <a16:creationId xmlns:a16="http://schemas.microsoft.com/office/drawing/2014/main" id="{AD7221ED-0D4B-76C7-6933-DBC1FE48415B}"/>
                </a:ext>
              </a:extLst>
            </p:cNvPr>
            <p:cNvSpPr/>
            <p:nvPr/>
          </p:nvSpPr>
          <p:spPr>
            <a:xfrm>
              <a:off x="7451358" y="4178808"/>
              <a:ext cx="3115802" cy="21748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Output</a:t>
              </a:r>
              <a:endParaRPr lang="en-US" dirty="0"/>
            </a:p>
          </p:txBody>
        </p:sp>
        <p:sp>
          <p:nvSpPr>
            <p:cNvPr id="127" name="Text 62">
              <a:extLst>
                <a:ext uri="{FF2B5EF4-FFF2-40B4-BE49-F238E27FC236}">
                  <a16:creationId xmlns:a16="http://schemas.microsoft.com/office/drawing/2014/main" id="{7B12EBFC-EA3C-7C9C-680D-9D91562CA2BF}"/>
                </a:ext>
              </a:extLst>
            </p:cNvPr>
            <p:cNvSpPr/>
            <p:nvPr/>
          </p:nvSpPr>
          <p:spPr>
            <a:xfrm>
              <a:off x="7451358" y="4352544"/>
              <a:ext cx="3115802" cy="217480"/>
            </a:xfrm>
            <a:prstGeom prst="rect">
              <a:avLst/>
            </a:prstGeom>
            <a:noFill/>
            <a:ln/>
          </p:spPr>
          <p:txBody>
            <a:bodyPr wrap="square" lIns="0" tIns="0" rIns="0" bIns="0" rtlCol="0" anchor="ctr"/>
            <a:lstStyle/>
            <a:p>
              <a:pPr marL="0" indent="0">
                <a:buNone/>
              </a:pPr>
              <a:r>
                <a:rPr lang="en-US" sz="1400" dirty="0">
                  <a:solidFill>
                    <a:srgbClr val="94A3B8"/>
                  </a:solidFill>
                  <a:latin typeface="Calibri Light" pitchFamily="34" charset="0"/>
                  <a:ea typeface="Calibri Light" pitchFamily="34" charset="-122"/>
                  <a:cs typeface="Calibri Light" pitchFamily="34" charset="-120"/>
                </a:rPr>
                <a:t>System prompt enforces structure</a:t>
              </a:r>
              <a:endParaRPr lang="en-US" sz="14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1000" b="1" kern="0" spc="180" dirty="0">
                <a:solidFill>
                  <a:srgbClr val="00A8C8"/>
                </a:solidFill>
                <a:latin typeface="Aptos" pitchFamily="34" charset="0"/>
                <a:ea typeface="Aptos" pitchFamily="34" charset="-122"/>
                <a:cs typeface="Aptos" pitchFamily="34" charset="-120"/>
              </a:rPr>
              <a:t>MULTI-ENGINE INTELLIGENCE</a:t>
            </a:r>
            <a:endParaRPr lang="en-US" sz="100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Four parsers + five detectors</a:t>
            </a:r>
            <a:endParaRPr lang="en-US" sz="2650" dirty="0"/>
          </a:p>
        </p:txBody>
      </p:sp>
      <p:sp>
        <p:nvSpPr>
          <p:cNvPr id="5" name="Text 2"/>
          <p:cNvSpPr/>
          <p:nvPr/>
        </p:nvSpPr>
        <p:spPr>
          <a:xfrm>
            <a:off x="694944" y="1110996"/>
            <a:ext cx="7680960" cy="329184"/>
          </a:xfrm>
          <a:prstGeom prst="rect">
            <a:avLst/>
          </a:prstGeom>
          <a:noFill/>
          <a:ln/>
        </p:spPr>
        <p:txBody>
          <a:bodyPr wrap="square" lIns="0" tIns="0" rIns="0" bIns="0" rtlCol="0" anchor="t">
            <a:normAutofit fontScale="92500"/>
          </a:bodyPr>
          <a:lstStyle/>
          <a:p>
            <a:pPr marL="0" indent="0" algn="l">
              <a:buNone/>
            </a:pPr>
            <a:r>
              <a:rPr lang="en-US" sz="1200" dirty="0">
                <a:solidFill>
                  <a:srgbClr val="64748B"/>
                </a:solidFill>
                <a:latin typeface="Aptos" pitchFamily="34" charset="0"/>
                <a:ea typeface="Aptos" pitchFamily="34" charset="-122"/>
                <a:cs typeface="Aptos" pitchFamily="34" charset="-120"/>
              </a:rPr>
              <a:t>Independent engines reduce blind spots, deduplicate evidence, merge severity, and classify health from CRITICAL to HEALTHY.</a:t>
            </a:r>
            <a:endParaRPr lang="en-US" sz="1200" dirty="0"/>
          </a:p>
        </p:txBody>
      </p:sp>
      <p:sp>
        <p:nvSpPr>
          <p:cNvPr id="62" name="Text 55"/>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06</a:t>
            </a:r>
            <a:endParaRPr lang="en-US" sz="780" dirty="0"/>
          </a:p>
        </p:txBody>
      </p:sp>
      <p:sp>
        <p:nvSpPr>
          <p:cNvPr id="63" name="Text 56"/>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grpSp>
        <p:nvGrpSpPr>
          <p:cNvPr id="6" name="Group 5">
            <a:extLst>
              <a:ext uri="{FF2B5EF4-FFF2-40B4-BE49-F238E27FC236}">
                <a16:creationId xmlns:a16="http://schemas.microsoft.com/office/drawing/2014/main" id="{51FDCACB-A366-B5F4-2940-801F278A0BBF}"/>
              </a:ext>
            </a:extLst>
          </p:cNvPr>
          <p:cNvGrpSpPr/>
          <p:nvPr/>
        </p:nvGrpSpPr>
        <p:grpSpPr>
          <a:xfrm>
            <a:off x="612058" y="2103400"/>
            <a:ext cx="5284889" cy="3166670"/>
            <a:chOff x="1599267" y="2235988"/>
            <a:chExt cx="3931920" cy="2331720"/>
          </a:xfrm>
        </p:grpSpPr>
        <p:sp>
          <p:nvSpPr>
            <p:cNvPr id="60" name="Shape 2">
              <a:extLst>
                <a:ext uri="{FF2B5EF4-FFF2-40B4-BE49-F238E27FC236}">
                  <a16:creationId xmlns:a16="http://schemas.microsoft.com/office/drawing/2014/main" id="{D891F732-89D2-C811-8083-3505F9D1C413}"/>
                </a:ext>
              </a:extLst>
            </p:cNvPr>
            <p:cNvSpPr/>
            <p:nvPr/>
          </p:nvSpPr>
          <p:spPr>
            <a:xfrm>
              <a:off x="1599267" y="2235988"/>
              <a:ext cx="3931920" cy="347472"/>
            </a:xfrm>
            <a:prstGeom prst="rect">
              <a:avLst/>
            </a:prstGeom>
            <a:solidFill>
              <a:srgbClr val="2A56CC"/>
            </a:solidFill>
            <a:ln w="12700">
              <a:solidFill>
                <a:srgbClr val="2A56CC"/>
              </a:solidFill>
              <a:prstDash val="solid"/>
            </a:ln>
          </p:spPr>
          <p:txBody>
            <a:bodyPr/>
            <a:lstStyle/>
            <a:p>
              <a:endParaRPr lang="en-IN" dirty="0"/>
            </a:p>
          </p:txBody>
        </p:sp>
        <p:sp>
          <p:nvSpPr>
            <p:cNvPr id="64" name="Shape 4">
              <a:extLst>
                <a:ext uri="{FF2B5EF4-FFF2-40B4-BE49-F238E27FC236}">
                  <a16:creationId xmlns:a16="http://schemas.microsoft.com/office/drawing/2014/main" id="{68D0A46A-5815-3563-EB3E-8BE59E3DCE05}"/>
                </a:ext>
              </a:extLst>
            </p:cNvPr>
            <p:cNvSpPr/>
            <p:nvPr/>
          </p:nvSpPr>
          <p:spPr>
            <a:xfrm>
              <a:off x="1599267" y="2583460"/>
              <a:ext cx="3931920" cy="475488"/>
            </a:xfrm>
            <a:prstGeom prst="rect">
              <a:avLst/>
            </a:prstGeom>
            <a:solidFill>
              <a:srgbClr val="FFFFFF"/>
            </a:solidFill>
            <a:ln w="6350">
              <a:solidFill>
                <a:srgbClr val="D0E1FF"/>
              </a:solidFill>
              <a:prstDash val="solid"/>
            </a:ln>
          </p:spPr>
        </p:sp>
        <p:sp>
          <p:nvSpPr>
            <p:cNvPr id="67" name="Shape 7">
              <a:extLst>
                <a:ext uri="{FF2B5EF4-FFF2-40B4-BE49-F238E27FC236}">
                  <a16:creationId xmlns:a16="http://schemas.microsoft.com/office/drawing/2014/main" id="{477154C9-72AD-2C1C-3764-E319D7017452}"/>
                </a:ext>
              </a:extLst>
            </p:cNvPr>
            <p:cNvSpPr/>
            <p:nvPr/>
          </p:nvSpPr>
          <p:spPr>
            <a:xfrm>
              <a:off x="1599267" y="3086380"/>
              <a:ext cx="3931920" cy="475488"/>
            </a:xfrm>
            <a:prstGeom prst="rect">
              <a:avLst/>
            </a:prstGeom>
            <a:solidFill>
              <a:srgbClr val="E8F0FF"/>
            </a:solidFill>
            <a:ln w="6350">
              <a:solidFill>
                <a:srgbClr val="D0E1FF"/>
              </a:solidFill>
              <a:prstDash val="solid"/>
            </a:ln>
          </p:spPr>
        </p:sp>
        <p:sp>
          <p:nvSpPr>
            <p:cNvPr id="70" name="Shape 10">
              <a:extLst>
                <a:ext uri="{FF2B5EF4-FFF2-40B4-BE49-F238E27FC236}">
                  <a16:creationId xmlns:a16="http://schemas.microsoft.com/office/drawing/2014/main" id="{5645B738-C13A-83B7-3191-E61E6E7DC529}"/>
                </a:ext>
              </a:extLst>
            </p:cNvPr>
            <p:cNvSpPr/>
            <p:nvPr/>
          </p:nvSpPr>
          <p:spPr>
            <a:xfrm>
              <a:off x="1599267" y="3589300"/>
              <a:ext cx="3931920" cy="475488"/>
            </a:xfrm>
            <a:prstGeom prst="rect">
              <a:avLst/>
            </a:prstGeom>
            <a:solidFill>
              <a:srgbClr val="FFFFFF"/>
            </a:solidFill>
            <a:ln w="6350">
              <a:solidFill>
                <a:srgbClr val="D0E1FF"/>
              </a:solidFill>
              <a:prstDash val="solid"/>
            </a:ln>
          </p:spPr>
        </p:sp>
        <p:sp>
          <p:nvSpPr>
            <p:cNvPr id="73" name="Shape 13">
              <a:extLst>
                <a:ext uri="{FF2B5EF4-FFF2-40B4-BE49-F238E27FC236}">
                  <a16:creationId xmlns:a16="http://schemas.microsoft.com/office/drawing/2014/main" id="{B0EE42FB-51F0-1C5D-A614-63586ABB8F78}"/>
                </a:ext>
              </a:extLst>
            </p:cNvPr>
            <p:cNvSpPr/>
            <p:nvPr/>
          </p:nvSpPr>
          <p:spPr>
            <a:xfrm>
              <a:off x="1599267" y="4092220"/>
              <a:ext cx="3931920" cy="475488"/>
            </a:xfrm>
            <a:prstGeom prst="rect">
              <a:avLst/>
            </a:prstGeom>
            <a:solidFill>
              <a:srgbClr val="E8F0FF"/>
            </a:solidFill>
            <a:ln w="6350">
              <a:solidFill>
                <a:srgbClr val="D0E1FF"/>
              </a:solidFill>
              <a:prstDash val="solid"/>
            </a:ln>
          </p:spPr>
        </p:sp>
      </p:grpSp>
      <p:grpSp>
        <p:nvGrpSpPr>
          <p:cNvPr id="7" name="Group 6">
            <a:extLst>
              <a:ext uri="{FF2B5EF4-FFF2-40B4-BE49-F238E27FC236}">
                <a16:creationId xmlns:a16="http://schemas.microsoft.com/office/drawing/2014/main" id="{03124E9F-9EC4-EC28-CF60-46C81E1472D4}"/>
              </a:ext>
            </a:extLst>
          </p:cNvPr>
          <p:cNvGrpSpPr/>
          <p:nvPr/>
        </p:nvGrpSpPr>
        <p:grpSpPr>
          <a:xfrm>
            <a:off x="6125547" y="2092063"/>
            <a:ext cx="5013495" cy="3250506"/>
            <a:chOff x="5988387" y="2235988"/>
            <a:chExt cx="4206240" cy="2377440"/>
          </a:xfrm>
        </p:grpSpPr>
        <p:sp>
          <p:nvSpPr>
            <p:cNvPr id="76" name="Shape 16">
              <a:extLst>
                <a:ext uri="{FF2B5EF4-FFF2-40B4-BE49-F238E27FC236}">
                  <a16:creationId xmlns:a16="http://schemas.microsoft.com/office/drawing/2014/main" id="{C8DBB508-42B6-FEEA-6A3C-238EC26FE916}"/>
                </a:ext>
              </a:extLst>
            </p:cNvPr>
            <p:cNvSpPr/>
            <p:nvPr/>
          </p:nvSpPr>
          <p:spPr>
            <a:xfrm>
              <a:off x="5988387" y="2235988"/>
              <a:ext cx="4206240" cy="347472"/>
            </a:xfrm>
            <a:prstGeom prst="rect">
              <a:avLst/>
            </a:prstGeom>
            <a:solidFill>
              <a:srgbClr val="0891B2"/>
            </a:solidFill>
            <a:ln w="12700">
              <a:solidFill>
                <a:srgbClr val="0891B2"/>
              </a:solidFill>
              <a:prstDash val="solid"/>
            </a:ln>
          </p:spPr>
        </p:sp>
        <p:sp>
          <p:nvSpPr>
            <p:cNvPr id="78" name="Shape 18">
              <a:extLst>
                <a:ext uri="{FF2B5EF4-FFF2-40B4-BE49-F238E27FC236}">
                  <a16:creationId xmlns:a16="http://schemas.microsoft.com/office/drawing/2014/main" id="{56CB56E1-2B7D-60F7-ECE6-009902EFE387}"/>
                </a:ext>
              </a:extLst>
            </p:cNvPr>
            <p:cNvSpPr/>
            <p:nvPr/>
          </p:nvSpPr>
          <p:spPr>
            <a:xfrm>
              <a:off x="5988387" y="2583460"/>
              <a:ext cx="4206240" cy="384048"/>
            </a:xfrm>
            <a:prstGeom prst="rect">
              <a:avLst/>
            </a:prstGeom>
            <a:solidFill>
              <a:srgbClr val="FFFFFF"/>
            </a:solidFill>
            <a:ln w="6350">
              <a:solidFill>
                <a:srgbClr val="B2EBF2"/>
              </a:solidFill>
              <a:prstDash val="solid"/>
            </a:ln>
          </p:spPr>
        </p:sp>
        <p:sp>
          <p:nvSpPr>
            <p:cNvPr id="83" name="Shape 23">
              <a:extLst>
                <a:ext uri="{FF2B5EF4-FFF2-40B4-BE49-F238E27FC236}">
                  <a16:creationId xmlns:a16="http://schemas.microsoft.com/office/drawing/2014/main" id="{05E3AB3F-B19C-4962-56B7-C6CCD36038CF}"/>
                </a:ext>
              </a:extLst>
            </p:cNvPr>
            <p:cNvSpPr/>
            <p:nvPr/>
          </p:nvSpPr>
          <p:spPr>
            <a:xfrm>
              <a:off x="5988387" y="2994940"/>
              <a:ext cx="4206240" cy="384048"/>
            </a:xfrm>
            <a:prstGeom prst="rect">
              <a:avLst/>
            </a:prstGeom>
            <a:solidFill>
              <a:srgbClr val="E0F7FA"/>
            </a:solidFill>
            <a:ln w="6350">
              <a:solidFill>
                <a:srgbClr val="B2EBF2"/>
              </a:solidFill>
              <a:prstDash val="solid"/>
            </a:ln>
          </p:spPr>
        </p:sp>
        <p:sp>
          <p:nvSpPr>
            <p:cNvPr id="88" name="Shape 28">
              <a:extLst>
                <a:ext uri="{FF2B5EF4-FFF2-40B4-BE49-F238E27FC236}">
                  <a16:creationId xmlns:a16="http://schemas.microsoft.com/office/drawing/2014/main" id="{9F3BF243-D8E0-71CC-CCFA-1F153AE7A423}"/>
                </a:ext>
              </a:extLst>
            </p:cNvPr>
            <p:cNvSpPr/>
            <p:nvPr/>
          </p:nvSpPr>
          <p:spPr>
            <a:xfrm>
              <a:off x="5988387" y="3406420"/>
              <a:ext cx="4206240" cy="384048"/>
            </a:xfrm>
            <a:prstGeom prst="rect">
              <a:avLst/>
            </a:prstGeom>
            <a:solidFill>
              <a:srgbClr val="FFFFFF"/>
            </a:solidFill>
            <a:ln w="6350">
              <a:solidFill>
                <a:srgbClr val="B2EBF2"/>
              </a:solidFill>
              <a:prstDash val="solid"/>
            </a:ln>
          </p:spPr>
        </p:sp>
        <p:sp>
          <p:nvSpPr>
            <p:cNvPr id="93" name="Shape 33">
              <a:extLst>
                <a:ext uri="{FF2B5EF4-FFF2-40B4-BE49-F238E27FC236}">
                  <a16:creationId xmlns:a16="http://schemas.microsoft.com/office/drawing/2014/main" id="{FF7EA227-59AB-A3A4-5B27-B5FCC9D3A50B}"/>
                </a:ext>
              </a:extLst>
            </p:cNvPr>
            <p:cNvSpPr/>
            <p:nvPr/>
          </p:nvSpPr>
          <p:spPr>
            <a:xfrm>
              <a:off x="5988387" y="3817900"/>
              <a:ext cx="4206240" cy="384048"/>
            </a:xfrm>
            <a:prstGeom prst="rect">
              <a:avLst/>
            </a:prstGeom>
            <a:solidFill>
              <a:srgbClr val="E0F7FA"/>
            </a:solidFill>
            <a:ln w="6350">
              <a:solidFill>
                <a:srgbClr val="B2EBF2"/>
              </a:solidFill>
              <a:prstDash val="solid"/>
            </a:ln>
          </p:spPr>
        </p:sp>
        <p:sp>
          <p:nvSpPr>
            <p:cNvPr id="98" name="Shape 38">
              <a:extLst>
                <a:ext uri="{FF2B5EF4-FFF2-40B4-BE49-F238E27FC236}">
                  <a16:creationId xmlns:a16="http://schemas.microsoft.com/office/drawing/2014/main" id="{AECD7C2E-2DE4-CD78-BE6C-5247C5469FB6}"/>
                </a:ext>
              </a:extLst>
            </p:cNvPr>
            <p:cNvSpPr/>
            <p:nvPr/>
          </p:nvSpPr>
          <p:spPr>
            <a:xfrm>
              <a:off x="5988387" y="4229380"/>
              <a:ext cx="4206240" cy="384048"/>
            </a:xfrm>
            <a:prstGeom prst="rect">
              <a:avLst/>
            </a:prstGeom>
            <a:solidFill>
              <a:srgbClr val="FFFFFF"/>
            </a:solidFill>
            <a:ln w="6350">
              <a:solidFill>
                <a:srgbClr val="B2EBF2"/>
              </a:solidFill>
              <a:prstDash val="solid"/>
            </a:ln>
          </p:spPr>
        </p:sp>
      </p:grpSp>
      <p:sp>
        <p:nvSpPr>
          <p:cNvPr id="77" name="Text 17">
            <a:extLst>
              <a:ext uri="{FF2B5EF4-FFF2-40B4-BE49-F238E27FC236}">
                <a16:creationId xmlns:a16="http://schemas.microsoft.com/office/drawing/2014/main" id="{1CB93014-2F5A-778B-6462-D547201A06F1}"/>
              </a:ext>
            </a:extLst>
          </p:cNvPr>
          <p:cNvSpPr/>
          <p:nvPr/>
        </p:nvSpPr>
        <p:spPr>
          <a:xfrm>
            <a:off x="6238951" y="2153227"/>
            <a:ext cx="3977640" cy="310896"/>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5 DETECTORS  (detect_errors)</a:t>
            </a:r>
            <a:endParaRPr lang="en-US" dirty="0"/>
          </a:p>
        </p:txBody>
      </p:sp>
      <p:sp>
        <p:nvSpPr>
          <p:cNvPr id="79" name="Text 19">
            <a:extLst>
              <a:ext uri="{FF2B5EF4-FFF2-40B4-BE49-F238E27FC236}">
                <a16:creationId xmlns:a16="http://schemas.microsoft.com/office/drawing/2014/main" id="{9C922857-2DF3-1047-1E28-399A58D84456}"/>
              </a:ext>
            </a:extLst>
          </p:cNvPr>
          <p:cNvSpPr/>
          <p:nvPr/>
        </p:nvSpPr>
        <p:spPr>
          <a:xfrm>
            <a:off x="6118913" y="2630138"/>
            <a:ext cx="1371600" cy="347472"/>
          </a:xfrm>
          <a:prstGeom prst="rect">
            <a:avLst/>
          </a:prstGeom>
          <a:noFill/>
          <a:ln/>
        </p:spPr>
        <p:txBody>
          <a:bodyPr wrap="square" rtlCol="0" anchor="ctr"/>
          <a:lstStyle/>
          <a:p>
            <a:pPr marL="0" indent="0">
              <a:buNone/>
            </a:pPr>
            <a:r>
              <a:rPr lang="en-US" sz="1600" b="1" dirty="0">
                <a:solidFill>
                  <a:srgbClr val="0891B2"/>
                </a:solidFill>
              </a:rPr>
              <a:t>Salesforce LogAI</a:t>
            </a:r>
            <a:endParaRPr lang="en-US" sz="1600" dirty="0"/>
          </a:p>
        </p:txBody>
      </p:sp>
      <p:sp>
        <p:nvSpPr>
          <p:cNvPr id="80" name="Shape 20">
            <a:extLst>
              <a:ext uri="{FF2B5EF4-FFF2-40B4-BE49-F238E27FC236}">
                <a16:creationId xmlns:a16="http://schemas.microsoft.com/office/drawing/2014/main" id="{ACD0A47B-58F0-D6FA-1F3B-7334D58896E6}"/>
              </a:ext>
            </a:extLst>
          </p:cNvPr>
          <p:cNvSpPr/>
          <p:nvPr/>
        </p:nvSpPr>
        <p:spPr>
          <a:xfrm>
            <a:off x="7411173" y="2666776"/>
            <a:ext cx="749808" cy="256032"/>
          </a:xfrm>
          <a:prstGeom prst="rect">
            <a:avLst/>
          </a:prstGeom>
          <a:solidFill>
            <a:srgbClr val="0891B2">
              <a:alpha val="25000"/>
            </a:srgbClr>
          </a:solidFill>
          <a:ln w="12700">
            <a:solidFill>
              <a:srgbClr val="0891B2">
                <a:alpha val="50000"/>
              </a:srgbClr>
            </a:solidFill>
            <a:prstDash val="solid"/>
          </a:ln>
        </p:spPr>
        <p:txBody>
          <a:bodyPr/>
          <a:lstStyle/>
          <a:p>
            <a:endParaRPr lang="en-IN" dirty="0"/>
          </a:p>
        </p:txBody>
      </p:sp>
      <p:sp>
        <p:nvSpPr>
          <p:cNvPr id="81" name="Text 21">
            <a:extLst>
              <a:ext uri="{FF2B5EF4-FFF2-40B4-BE49-F238E27FC236}">
                <a16:creationId xmlns:a16="http://schemas.microsoft.com/office/drawing/2014/main" id="{DBAF36C0-D6EE-1016-9B2E-C10CF65BA4C5}"/>
              </a:ext>
            </a:extLst>
          </p:cNvPr>
          <p:cNvSpPr/>
          <p:nvPr/>
        </p:nvSpPr>
        <p:spPr>
          <a:xfrm>
            <a:off x="7390376" y="2666776"/>
            <a:ext cx="749808" cy="256032"/>
          </a:xfrm>
          <a:prstGeom prst="rect">
            <a:avLst/>
          </a:prstGeom>
          <a:noFill/>
          <a:ln/>
        </p:spPr>
        <p:txBody>
          <a:bodyPr wrap="square" rtlCol="0" anchor="ctr"/>
          <a:lstStyle/>
          <a:p>
            <a:pPr marL="0" indent="0" algn="ctr">
              <a:buNone/>
            </a:pPr>
            <a:r>
              <a:rPr lang="en-US" sz="1050" dirty="0">
                <a:solidFill>
                  <a:srgbClr val="0891B2"/>
                </a:solidFill>
              </a:rPr>
              <a:t>ML</a:t>
            </a:r>
            <a:endParaRPr lang="en-US" sz="1050" dirty="0"/>
          </a:p>
        </p:txBody>
      </p:sp>
      <p:sp>
        <p:nvSpPr>
          <p:cNvPr id="82" name="Text 22">
            <a:extLst>
              <a:ext uri="{FF2B5EF4-FFF2-40B4-BE49-F238E27FC236}">
                <a16:creationId xmlns:a16="http://schemas.microsoft.com/office/drawing/2014/main" id="{65940307-2895-359D-FB33-381DF2DD5911}"/>
              </a:ext>
            </a:extLst>
          </p:cNvPr>
          <p:cNvSpPr/>
          <p:nvPr/>
        </p:nvSpPr>
        <p:spPr>
          <a:xfrm>
            <a:off x="8368784" y="2677251"/>
            <a:ext cx="2493513" cy="347472"/>
          </a:xfrm>
          <a:prstGeom prst="rect">
            <a:avLst/>
          </a:prstGeom>
          <a:noFill/>
          <a:ln/>
        </p:spPr>
        <p:txBody>
          <a:bodyPr wrap="square" rtlCol="0" anchor="ctr"/>
          <a:lstStyle/>
          <a:p>
            <a:pPr marL="0" indent="0">
              <a:buNone/>
            </a:pPr>
            <a:r>
              <a:rPr lang="en-US" sz="1400" dirty="0">
                <a:solidFill>
                  <a:srgbClr val="475569"/>
                </a:solidFill>
              </a:rPr>
              <a:t>Drain + Isolation Forest anomaly scoring</a:t>
            </a:r>
            <a:endParaRPr lang="en-US" sz="1400" dirty="0"/>
          </a:p>
        </p:txBody>
      </p:sp>
      <p:sp>
        <p:nvSpPr>
          <p:cNvPr id="84" name="Text 24">
            <a:extLst>
              <a:ext uri="{FF2B5EF4-FFF2-40B4-BE49-F238E27FC236}">
                <a16:creationId xmlns:a16="http://schemas.microsoft.com/office/drawing/2014/main" id="{BA39EE32-BE27-1F09-4B03-A1FE69DAFDB8}"/>
              </a:ext>
            </a:extLst>
          </p:cNvPr>
          <p:cNvSpPr/>
          <p:nvPr/>
        </p:nvSpPr>
        <p:spPr>
          <a:xfrm>
            <a:off x="6118913" y="3184771"/>
            <a:ext cx="1371600" cy="347472"/>
          </a:xfrm>
          <a:prstGeom prst="rect">
            <a:avLst/>
          </a:prstGeom>
          <a:noFill/>
          <a:ln/>
        </p:spPr>
        <p:txBody>
          <a:bodyPr wrap="square" rtlCol="0" anchor="ctr"/>
          <a:lstStyle/>
          <a:p>
            <a:pPr marL="0" indent="0">
              <a:buNone/>
            </a:pPr>
            <a:r>
              <a:rPr lang="en-US" sz="1600" b="1" dirty="0">
                <a:solidFill>
                  <a:srgbClr val="0891B2"/>
                </a:solidFill>
              </a:rPr>
              <a:t>DeepLog LSTM</a:t>
            </a:r>
            <a:endParaRPr lang="en-US" sz="1600" dirty="0"/>
          </a:p>
        </p:txBody>
      </p:sp>
      <p:sp>
        <p:nvSpPr>
          <p:cNvPr id="85" name="Shape 25">
            <a:extLst>
              <a:ext uri="{FF2B5EF4-FFF2-40B4-BE49-F238E27FC236}">
                <a16:creationId xmlns:a16="http://schemas.microsoft.com/office/drawing/2014/main" id="{ACB8D105-5EE0-DE68-9484-D3B2EBCA4D11}"/>
              </a:ext>
            </a:extLst>
          </p:cNvPr>
          <p:cNvSpPr/>
          <p:nvPr/>
        </p:nvSpPr>
        <p:spPr>
          <a:xfrm>
            <a:off x="7371070" y="3253130"/>
            <a:ext cx="815852" cy="308179"/>
          </a:xfrm>
          <a:prstGeom prst="rect">
            <a:avLst/>
          </a:prstGeom>
          <a:solidFill>
            <a:srgbClr val="0891B2">
              <a:alpha val="25000"/>
            </a:srgbClr>
          </a:solidFill>
          <a:ln w="12700">
            <a:solidFill>
              <a:srgbClr val="0891B2">
                <a:alpha val="50000"/>
              </a:srgbClr>
            </a:solidFill>
            <a:prstDash val="solid"/>
          </a:ln>
        </p:spPr>
        <p:txBody>
          <a:bodyPr/>
          <a:lstStyle/>
          <a:p>
            <a:endParaRPr lang="en-IN" dirty="0"/>
          </a:p>
        </p:txBody>
      </p:sp>
      <p:sp>
        <p:nvSpPr>
          <p:cNvPr id="86" name="Text 26">
            <a:extLst>
              <a:ext uri="{FF2B5EF4-FFF2-40B4-BE49-F238E27FC236}">
                <a16:creationId xmlns:a16="http://schemas.microsoft.com/office/drawing/2014/main" id="{F9DA155A-34F0-D4AD-C807-5EFF3E33CD1D}"/>
              </a:ext>
            </a:extLst>
          </p:cNvPr>
          <p:cNvSpPr/>
          <p:nvPr/>
        </p:nvSpPr>
        <p:spPr>
          <a:xfrm>
            <a:off x="7264403" y="3291147"/>
            <a:ext cx="1043349" cy="241096"/>
          </a:xfrm>
          <a:prstGeom prst="rect">
            <a:avLst/>
          </a:prstGeom>
          <a:noFill/>
          <a:ln/>
        </p:spPr>
        <p:txBody>
          <a:bodyPr wrap="square" rtlCol="0" anchor="ctr"/>
          <a:lstStyle/>
          <a:p>
            <a:pPr marL="0" indent="0" algn="ctr">
              <a:buNone/>
            </a:pPr>
            <a:r>
              <a:rPr lang="en-US" sz="1100" dirty="0">
                <a:solidFill>
                  <a:srgbClr val="0891B2"/>
                </a:solidFill>
              </a:rPr>
              <a:t>Deep Learning</a:t>
            </a:r>
            <a:endParaRPr lang="en-US" sz="1100" dirty="0"/>
          </a:p>
        </p:txBody>
      </p:sp>
      <p:sp>
        <p:nvSpPr>
          <p:cNvPr id="87" name="Text 27">
            <a:extLst>
              <a:ext uri="{FF2B5EF4-FFF2-40B4-BE49-F238E27FC236}">
                <a16:creationId xmlns:a16="http://schemas.microsoft.com/office/drawing/2014/main" id="{92BCD317-2B4A-3936-CA6A-2CC52785E306}"/>
              </a:ext>
            </a:extLst>
          </p:cNvPr>
          <p:cNvSpPr/>
          <p:nvPr/>
        </p:nvSpPr>
        <p:spPr>
          <a:xfrm>
            <a:off x="8430318" y="3226586"/>
            <a:ext cx="1828800" cy="347472"/>
          </a:xfrm>
          <a:prstGeom prst="rect">
            <a:avLst/>
          </a:prstGeom>
          <a:noFill/>
          <a:ln/>
        </p:spPr>
        <p:txBody>
          <a:bodyPr wrap="square" rtlCol="0" anchor="ctr"/>
          <a:lstStyle/>
          <a:p>
            <a:pPr marL="0" indent="0">
              <a:buNone/>
            </a:pPr>
            <a:r>
              <a:rPr lang="en-US" sz="1200" dirty="0">
                <a:solidFill>
                  <a:srgbClr val="475569"/>
                </a:solidFill>
              </a:rPr>
              <a:t>2-layer LSTM predicts next template</a:t>
            </a:r>
            <a:endParaRPr lang="en-US" sz="1200" dirty="0"/>
          </a:p>
        </p:txBody>
      </p:sp>
      <p:sp>
        <p:nvSpPr>
          <p:cNvPr id="89" name="Text 29">
            <a:extLst>
              <a:ext uri="{FF2B5EF4-FFF2-40B4-BE49-F238E27FC236}">
                <a16:creationId xmlns:a16="http://schemas.microsoft.com/office/drawing/2014/main" id="{B0BBFA2B-2B4B-3571-0013-A09C27AABEAD}"/>
              </a:ext>
            </a:extLst>
          </p:cNvPr>
          <p:cNvSpPr/>
          <p:nvPr/>
        </p:nvSpPr>
        <p:spPr>
          <a:xfrm>
            <a:off x="6165080" y="3751668"/>
            <a:ext cx="1371600" cy="347472"/>
          </a:xfrm>
          <a:prstGeom prst="rect">
            <a:avLst/>
          </a:prstGeom>
          <a:noFill/>
          <a:ln/>
        </p:spPr>
        <p:txBody>
          <a:bodyPr wrap="square" rtlCol="0" anchor="ctr"/>
          <a:lstStyle/>
          <a:p>
            <a:pPr marL="0" indent="0">
              <a:buNone/>
            </a:pPr>
            <a:r>
              <a:rPr lang="en-US" sz="1600" b="1" dirty="0">
                <a:solidFill>
                  <a:srgbClr val="0891B2"/>
                </a:solidFill>
              </a:rPr>
              <a:t>PyOD IForest</a:t>
            </a:r>
            <a:endParaRPr lang="en-US" sz="1600" dirty="0"/>
          </a:p>
        </p:txBody>
      </p:sp>
      <p:sp>
        <p:nvSpPr>
          <p:cNvPr id="90" name="Shape 30">
            <a:extLst>
              <a:ext uri="{FF2B5EF4-FFF2-40B4-BE49-F238E27FC236}">
                <a16:creationId xmlns:a16="http://schemas.microsoft.com/office/drawing/2014/main" id="{5BBE567D-C7DF-5DE3-BFEE-0DD8EBD977C5}"/>
              </a:ext>
            </a:extLst>
          </p:cNvPr>
          <p:cNvSpPr/>
          <p:nvPr/>
        </p:nvSpPr>
        <p:spPr>
          <a:xfrm>
            <a:off x="7390376" y="3805944"/>
            <a:ext cx="749808" cy="256032"/>
          </a:xfrm>
          <a:prstGeom prst="rect">
            <a:avLst/>
          </a:prstGeom>
          <a:solidFill>
            <a:srgbClr val="0891B2">
              <a:alpha val="25000"/>
            </a:srgbClr>
          </a:solidFill>
          <a:ln w="12700">
            <a:solidFill>
              <a:srgbClr val="0891B2">
                <a:alpha val="50000"/>
              </a:srgbClr>
            </a:solidFill>
            <a:prstDash val="solid"/>
          </a:ln>
        </p:spPr>
      </p:sp>
      <p:sp>
        <p:nvSpPr>
          <p:cNvPr id="91" name="Text 31">
            <a:extLst>
              <a:ext uri="{FF2B5EF4-FFF2-40B4-BE49-F238E27FC236}">
                <a16:creationId xmlns:a16="http://schemas.microsoft.com/office/drawing/2014/main" id="{2F03607F-9B73-6FDC-F661-CA0E14F8C1A3}"/>
              </a:ext>
            </a:extLst>
          </p:cNvPr>
          <p:cNvSpPr/>
          <p:nvPr/>
        </p:nvSpPr>
        <p:spPr>
          <a:xfrm>
            <a:off x="7404092" y="3780948"/>
            <a:ext cx="749808" cy="256032"/>
          </a:xfrm>
          <a:prstGeom prst="rect">
            <a:avLst/>
          </a:prstGeom>
          <a:noFill/>
          <a:ln/>
        </p:spPr>
        <p:txBody>
          <a:bodyPr wrap="square" rtlCol="0" anchor="ctr"/>
          <a:lstStyle/>
          <a:p>
            <a:pPr marL="0" indent="0" algn="ctr">
              <a:buNone/>
            </a:pPr>
            <a:r>
              <a:rPr lang="en-US" sz="1000" dirty="0">
                <a:solidFill>
                  <a:srgbClr val="0891B2"/>
                </a:solidFill>
              </a:rPr>
              <a:t>Statistical</a:t>
            </a:r>
            <a:endParaRPr lang="en-US" sz="1000" dirty="0"/>
          </a:p>
        </p:txBody>
      </p:sp>
      <p:sp>
        <p:nvSpPr>
          <p:cNvPr id="92" name="Text 32">
            <a:extLst>
              <a:ext uri="{FF2B5EF4-FFF2-40B4-BE49-F238E27FC236}">
                <a16:creationId xmlns:a16="http://schemas.microsoft.com/office/drawing/2014/main" id="{3CD7BACD-3097-9D93-4696-AAF92D177398}"/>
              </a:ext>
            </a:extLst>
          </p:cNvPr>
          <p:cNvSpPr/>
          <p:nvPr/>
        </p:nvSpPr>
        <p:spPr>
          <a:xfrm>
            <a:off x="8402700" y="3751668"/>
            <a:ext cx="1828800" cy="347472"/>
          </a:xfrm>
          <a:prstGeom prst="rect">
            <a:avLst/>
          </a:prstGeom>
          <a:noFill/>
          <a:ln/>
        </p:spPr>
        <p:txBody>
          <a:bodyPr wrap="square" rtlCol="0" anchor="ctr"/>
          <a:lstStyle/>
          <a:p>
            <a:pPr marL="0" indent="0">
              <a:buNone/>
            </a:pPr>
            <a:r>
              <a:rPr lang="en-US" sz="1400" dirty="0">
                <a:solidFill>
                  <a:srgbClr val="475569"/>
                </a:solidFill>
              </a:rPr>
              <a:t>7-feature vector → Isolation Forest</a:t>
            </a:r>
            <a:endParaRPr lang="en-US" sz="1400" dirty="0"/>
          </a:p>
        </p:txBody>
      </p:sp>
      <p:sp>
        <p:nvSpPr>
          <p:cNvPr id="94" name="Text 34">
            <a:extLst>
              <a:ext uri="{FF2B5EF4-FFF2-40B4-BE49-F238E27FC236}">
                <a16:creationId xmlns:a16="http://schemas.microsoft.com/office/drawing/2014/main" id="{5CF791F0-394D-C2CA-4E1A-05FC3DCC538F}"/>
              </a:ext>
            </a:extLst>
          </p:cNvPr>
          <p:cNvSpPr/>
          <p:nvPr/>
        </p:nvSpPr>
        <p:spPr>
          <a:xfrm>
            <a:off x="6178796" y="4321547"/>
            <a:ext cx="1371600" cy="347472"/>
          </a:xfrm>
          <a:prstGeom prst="rect">
            <a:avLst/>
          </a:prstGeom>
          <a:noFill/>
          <a:ln/>
        </p:spPr>
        <p:txBody>
          <a:bodyPr wrap="square" rtlCol="0" anchor="ctr"/>
          <a:lstStyle/>
          <a:p>
            <a:pPr marL="0" indent="0">
              <a:buNone/>
            </a:pPr>
            <a:r>
              <a:rPr lang="en-US" sz="1600" b="1" dirty="0">
                <a:solidFill>
                  <a:srgbClr val="0891B2"/>
                </a:solidFill>
              </a:rPr>
              <a:t>FlashText</a:t>
            </a:r>
            <a:endParaRPr lang="en-US" sz="1600" dirty="0"/>
          </a:p>
        </p:txBody>
      </p:sp>
      <p:sp>
        <p:nvSpPr>
          <p:cNvPr id="95" name="Shape 35">
            <a:extLst>
              <a:ext uri="{FF2B5EF4-FFF2-40B4-BE49-F238E27FC236}">
                <a16:creationId xmlns:a16="http://schemas.microsoft.com/office/drawing/2014/main" id="{C0390C20-B138-0A84-60F5-8D4C38A439C9}"/>
              </a:ext>
            </a:extLst>
          </p:cNvPr>
          <p:cNvSpPr/>
          <p:nvPr/>
        </p:nvSpPr>
        <p:spPr>
          <a:xfrm>
            <a:off x="7404092" y="4331026"/>
            <a:ext cx="749808" cy="256032"/>
          </a:xfrm>
          <a:prstGeom prst="rect">
            <a:avLst/>
          </a:prstGeom>
          <a:solidFill>
            <a:srgbClr val="0891B2">
              <a:alpha val="25000"/>
            </a:srgbClr>
          </a:solidFill>
          <a:ln w="12700">
            <a:solidFill>
              <a:srgbClr val="0891B2">
                <a:alpha val="50000"/>
              </a:srgbClr>
            </a:solidFill>
            <a:prstDash val="solid"/>
          </a:ln>
        </p:spPr>
        <p:txBody>
          <a:bodyPr/>
          <a:lstStyle/>
          <a:p>
            <a:endParaRPr lang="en-IN" dirty="0"/>
          </a:p>
        </p:txBody>
      </p:sp>
      <p:sp>
        <p:nvSpPr>
          <p:cNvPr id="96" name="Text 36">
            <a:extLst>
              <a:ext uri="{FF2B5EF4-FFF2-40B4-BE49-F238E27FC236}">
                <a16:creationId xmlns:a16="http://schemas.microsoft.com/office/drawing/2014/main" id="{5DE758EF-70EB-AA93-0BFF-4AFC2C6F316D}"/>
              </a:ext>
            </a:extLst>
          </p:cNvPr>
          <p:cNvSpPr/>
          <p:nvPr/>
        </p:nvSpPr>
        <p:spPr>
          <a:xfrm>
            <a:off x="7404092" y="4331026"/>
            <a:ext cx="749808" cy="256032"/>
          </a:xfrm>
          <a:prstGeom prst="rect">
            <a:avLst/>
          </a:prstGeom>
          <a:noFill/>
          <a:ln/>
        </p:spPr>
        <p:txBody>
          <a:bodyPr wrap="square" rtlCol="0" anchor="ctr"/>
          <a:lstStyle/>
          <a:p>
            <a:pPr marL="0" indent="0" algn="ctr">
              <a:buNone/>
            </a:pPr>
            <a:r>
              <a:rPr lang="en-US" sz="1050" dirty="0">
                <a:solidFill>
                  <a:srgbClr val="0891B2"/>
                </a:solidFill>
              </a:rPr>
              <a:t>Keyword</a:t>
            </a:r>
            <a:endParaRPr lang="en-US" sz="1050" dirty="0"/>
          </a:p>
        </p:txBody>
      </p:sp>
      <p:sp>
        <p:nvSpPr>
          <p:cNvPr id="97" name="Text 37">
            <a:extLst>
              <a:ext uri="{FF2B5EF4-FFF2-40B4-BE49-F238E27FC236}">
                <a16:creationId xmlns:a16="http://schemas.microsoft.com/office/drawing/2014/main" id="{C20A030B-E01E-F9F9-216B-965E610DE881}"/>
              </a:ext>
            </a:extLst>
          </p:cNvPr>
          <p:cNvSpPr/>
          <p:nvPr/>
        </p:nvSpPr>
        <p:spPr>
          <a:xfrm>
            <a:off x="8387791" y="4316089"/>
            <a:ext cx="1828800" cy="347472"/>
          </a:xfrm>
          <a:prstGeom prst="rect">
            <a:avLst/>
          </a:prstGeom>
          <a:noFill/>
          <a:ln/>
        </p:spPr>
        <p:txBody>
          <a:bodyPr wrap="square" rtlCol="0" anchor="ctr"/>
          <a:lstStyle/>
          <a:p>
            <a:pPr marL="0" indent="0">
              <a:buNone/>
            </a:pPr>
            <a:r>
              <a:rPr lang="en-US" sz="1400" dirty="0">
                <a:solidFill>
                  <a:srgbClr val="475569"/>
                </a:solidFill>
              </a:rPr>
              <a:t>Aho-Corasick O(n), 50+ keywords, 5 tiers</a:t>
            </a:r>
            <a:endParaRPr lang="en-US" sz="1400" dirty="0"/>
          </a:p>
        </p:txBody>
      </p:sp>
      <p:sp>
        <p:nvSpPr>
          <p:cNvPr id="99" name="Text 39">
            <a:extLst>
              <a:ext uri="{FF2B5EF4-FFF2-40B4-BE49-F238E27FC236}">
                <a16:creationId xmlns:a16="http://schemas.microsoft.com/office/drawing/2014/main" id="{45384D87-E323-D807-BC6F-9A9DD5A18C31}"/>
              </a:ext>
            </a:extLst>
          </p:cNvPr>
          <p:cNvSpPr/>
          <p:nvPr/>
        </p:nvSpPr>
        <p:spPr>
          <a:xfrm>
            <a:off x="6178796" y="4880750"/>
            <a:ext cx="1371600" cy="347472"/>
          </a:xfrm>
          <a:prstGeom prst="rect">
            <a:avLst/>
          </a:prstGeom>
          <a:noFill/>
          <a:ln/>
        </p:spPr>
        <p:txBody>
          <a:bodyPr wrap="square" rtlCol="0" anchor="ctr"/>
          <a:lstStyle/>
          <a:p>
            <a:pPr marL="0" indent="0">
              <a:buNone/>
            </a:pPr>
            <a:r>
              <a:rPr lang="en-US" sz="1600" b="1" dirty="0">
                <a:solidFill>
                  <a:srgbClr val="0891B2"/>
                </a:solidFill>
              </a:rPr>
              <a:t>Regex Patterns</a:t>
            </a:r>
            <a:endParaRPr lang="en-US" sz="1600" dirty="0"/>
          </a:p>
        </p:txBody>
      </p:sp>
      <p:sp>
        <p:nvSpPr>
          <p:cNvPr id="100" name="Shape 40">
            <a:extLst>
              <a:ext uri="{FF2B5EF4-FFF2-40B4-BE49-F238E27FC236}">
                <a16:creationId xmlns:a16="http://schemas.microsoft.com/office/drawing/2014/main" id="{629CDBDA-6EAC-AB02-656E-3EA279FCE2AB}"/>
              </a:ext>
            </a:extLst>
          </p:cNvPr>
          <p:cNvSpPr/>
          <p:nvPr/>
        </p:nvSpPr>
        <p:spPr>
          <a:xfrm>
            <a:off x="7404092" y="4891649"/>
            <a:ext cx="749808" cy="374078"/>
          </a:xfrm>
          <a:prstGeom prst="rect">
            <a:avLst/>
          </a:prstGeom>
          <a:solidFill>
            <a:srgbClr val="0891B2">
              <a:alpha val="25000"/>
            </a:srgbClr>
          </a:solidFill>
          <a:ln w="12700">
            <a:solidFill>
              <a:srgbClr val="0891B2">
                <a:alpha val="50000"/>
              </a:srgbClr>
            </a:solidFill>
            <a:prstDash val="solid"/>
          </a:ln>
        </p:spPr>
        <p:txBody>
          <a:bodyPr/>
          <a:lstStyle/>
          <a:p>
            <a:endParaRPr lang="en-IN" dirty="0"/>
          </a:p>
        </p:txBody>
      </p:sp>
      <p:sp>
        <p:nvSpPr>
          <p:cNvPr id="101" name="Text 41">
            <a:extLst>
              <a:ext uri="{FF2B5EF4-FFF2-40B4-BE49-F238E27FC236}">
                <a16:creationId xmlns:a16="http://schemas.microsoft.com/office/drawing/2014/main" id="{5ED29412-CCCA-8A8F-AF61-23AF76F77524}"/>
              </a:ext>
            </a:extLst>
          </p:cNvPr>
          <p:cNvSpPr/>
          <p:nvPr/>
        </p:nvSpPr>
        <p:spPr>
          <a:xfrm>
            <a:off x="7404092" y="4952792"/>
            <a:ext cx="749808" cy="256032"/>
          </a:xfrm>
          <a:prstGeom prst="rect">
            <a:avLst/>
          </a:prstGeom>
          <a:noFill/>
          <a:ln/>
        </p:spPr>
        <p:txBody>
          <a:bodyPr wrap="square" rtlCol="0" anchor="ctr"/>
          <a:lstStyle/>
          <a:p>
            <a:pPr marL="0" indent="0" algn="ctr">
              <a:buNone/>
            </a:pPr>
            <a:r>
              <a:rPr lang="en-US" sz="1200" dirty="0">
                <a:solidFill>
                  <a:srgbClr val="0891B2"/>
                </a:solidFill>
              </a:rPr>
              <a:t>Rule-Based</a:t>
            </a:r>
            <a:endParaRPr lang="en-US" sz="1200" dirty="0"/>
          </a:p>
        </p:txBody>
      </p:sp>
      <p:sp>
        <p:nvSpPr>
          <p:cNvPr id="102" name="Text 42">
            <a:extLst>
              <a:ext uri="{FF2B5EF4-FFF2-40B4-BE49-F238E27FC236}">
                <a16:creationId xmlns:a16="http://schemas.microsoft.com/office/drawing/2014/main" id="{2E7CAB36-3558-C913-C1B8-8D92F97A4621}"/>
              </a:ext>
            </a:extLst>
          </p:cNvPr>
          <p:cNvSpPr/>
          <p:nvPr/>
        </p:nvSpPr>
        <p:spPr>
          <a:xfrm>
            <a:off x="8430318" y="4891649"/>
            <a:ext cx="2569913" cy="347472"/>
          </a:xfrm>
          <a:prstGeom prst="rect">
            <a:avLst/>
          </a:prstGeom>
          <a:noFill/>
          <a:ln/>
        </p:spPr>
        <p:txBody>
          <a:bodyPr wrap="square" rtlCol="0" anchor="ctr"/>
          <a:lstStyle/>
          <a:p>
            <a:pPr marL="0" indent="0">
              <a:buNone/>
            </a:pPr>
            <a:r>
              <a:rPr lang="en-US" sz="1400" dirty="0">
                <a:solidFill>
                  <a:srgbClr val="475569"/>
                </a:solidFill>
              </a:rPr>
              <a:t>11 compiled: HTTP, disk, memory, auth, SSL</a:t>
            </a:r>
            <a:endParaRPr lang="en-US" sz="1400" dirty="0"/>
          </a:p>
        </p:txBody>
      </p:sp>
      <p:sp>
        <p:nvSpPr>
          <p:cNvPr id="61" name="Text 3">
            <a:extLst>
              <a:ext uri="{FF2B5EF4-FFF2-40B4-BE49-F238E27FC236}">
                <a16:creationId xmlns:a16="http://schemas.microsoft.com/office/drawing/2014/main" id="{69DF4160-BB50-5B5E-0AA2-98285D12D973}"/>
              </a:ext>
            </a:extLst>
          </p:cNvPr>
          <p:cNvSpPr/>
          <p:nvPr/>
        </p:nvSpPr>
        <p:spPr>
          <a:xfrm>
            <a:off x="694944" y="1969205"/>
            <a:ext cx="5013495" cy="760073"/>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 PARSERS  (parse_logs)</a:t>
            </a:r>
            <a:endParaRPr lang="en-US" sz="2000" dirty="0"/>
          </a:p>
        </p:txBody>
      </p:sp>
      <p:sp>
        <p:nvSpPr>
          <p:cNvPr id="65" name="Text 5">
            <a:extLst>
              <a:ext uri="{FF2B5EF4-FFF2-40B4-BE49-F238E27FC236}">
                <a16:creationId xmlns:a16="http://schemas.microsoft.com/office/drawing/2014/main" id="{FFB8B353-FEA3-B028-B5F9-C629A4E5F4AA}"/>
              </a:ext>
            </a:extLst>
          </p:cNvPr>
          <p:cNvSpPr/>
          <p:nvPr/>
        </p:nvSpPr>
        <p:spPr>
          <a:xfrm>
            <a:off x="781353" y="2412698"/>
            <a:ext cx="1345084" cy="1073044"/>
          </a:xfrm>
          <a:prstGeom prst="rect">
            <a:avLst/>
          </a:prstGeom>
          <a:noFill/>
          <a:ln/>
        </p:spPr>
        <p:txBody>
          <a:bodyPr wrap="square" rtlCol="0" anchor="ctr"/>
          <a:lstStyle/>
          <a:p>
            <a:pPr marL="0" indent="0">
              <a:buNone/>
            </a:pPr>
            <a:r>
              <a:rPr lang="en-US" sz="1600" b="1" dirty="0">
                <a:solidFill>
                  <a:srgbClr val="2A56CC"/>
                </a:solidFill>
              </a:rPr>
              <a:t>Drain3</a:t>
            </a:r>
            <a:endParaRPr lang="en-US" sz="1600" dirty="0"/>
          </a:p>
        </p:txBody>
      </p:sp>
      <p:sp>
        <p:nvSpPr>
          <p:cNvPr id="66" name="Text 6">
            <a:extLst>
              <a:ext uri="{FF2B5EF4-FFF2-40B4-BE49-F238E27FC236}">
                <a16:creationId xmlns:a16="http://schemas.microsoft.com/office/drawing/2014/main" id="{2714EA4E-F062-A207-5F64-9FF7045E875A}"/>
              </a:ext>
            </a:extLst>
          </p:cNvPr>
          <p:cNvSpPr/>
          <p:nvPr/>
        </p:nvSpPr>
        <p:spPr>
          <a:xfrm>
            <a:off x="1773935" y="2361852"/>
            <a:ext cx="3607271" cy="1073044"/>
          </a:xfrm>
          <a:prstGeom prst="rect">
            <a:avLst/>
          </a:prstGeom>
          <a:noFill/>
          <a:ln/>
        </p:spPr>
        <p:txBody>
          <a:bodyPr wrap="square" rtlCol="0" anchor="ctr"/>
          <a:lstStyle/>
          <a:p>
            <a:pPr marL="0" indent="0">
              <a:buNone/>
            </a:pPr>
            <a:r>
              <a:rPr lang="en-US" sz="1400" dirty="0">
                <a:solidFill>
                  <a:srgbClr val="475569"/>
                </a:solidFill>
              </a:rPr>
              <a:t>Template mining · clusters messages · masks IPs/paths/timestamps</a:t>
            </a:r>
            <a:endParaRPr lang="en-US" sz="1400" dirty="0"/>
          </a:p>
        </p:txBody>
      </p:sp>
      <p:sp>
        <p:nvSpPr>
          <p:cNvPr id="68" name="Text 8">
            <a:extLst>
              <a:ext uri="{FF2B5EF4-FFF2-40B4-BE49-F238E27FC236}">
                <a16:creationId xmlns:a16="http://schemas.microsoft.com/office/drawing/2014/main" id="{AD54C027-C45E-5F79-9B6E-33F4CFAD400C}"/>
              </a:ext>
            </a:extLst>
          </p:cNvPr>
          <p:cNvSpPr/>
          <p:nvPr/>
        </p:nvSpPr>
        <p:spPr>
          <a:xfrm>
            <a:off x="768096" y="3034292"/>
            <a:ext cx="1345084" cy="1073044"/>
          </a:xfrm>
          <a:prstGeom prst="rect">
            <a:avLst/>
          </a:prstGeom>
          <a:noFill/>
          <a:ln/>
        </p:spPr>
        <p:txBody>
          <a:bodyPr wrap="square" rtlCol="0" anchor="ctr"/>
          <a:lstStyle/>
          <a:p>
            <a:pPr marL="0" indent="0">
              <a:buNone/>
            </a:pPr>
            <a:r>
              <a:rPr lang="en-US" sz="1600" b="1" dirty="0">
                <a:solidFill>
                  <a:srgbClr val="2A56CC"/>
                </a:solidFill>
              </a:rPr>
              <a:t>Grok (PyGrok)</a:t>
            </a:r>
            <a:endParaRPr lang="en-US" sz="1600" dirty="0"/>
          </a:p>
        </p:txBody>
      </p:sp>
      <p:sp>
        <p:nvSpPr>
          <p:cNvPr id="69" name="Text 9">
            <a:extLst>
              <a:ext uri="{FF2B5EF4-FFF2-40B4-BE49-F238E27FC236}">
                <a16:creationId xmlns:a16="http://schemas.microsoft.com/office/drawing/2014/main" id="{9969BBD2-90E8-BFE6-4C6F-F56A78268A99}"/>
              </a:ext>
            </a:extLst>
          </p:cNvPr>
          <p:cNvSpPr/>
          <p:nvPr/>
        </p:nvSpPr>
        <p:spPr>
          <a:xfrm>
            <a:off x="1801367" y="3034292"/>
            <a:ext cx="3607271" cy="1073044"/>
          </a:xfrm>
          <a:prstGeom prst="rect">
            <a:avLst/>
          </a:prstGeom>
          <a:noFill/>
          <a:ln/>
        </p:spPr>
        <p:txBody>
          <a:bodyPr wrap="square" rtlCol="0" anchor="ctr"/>
          <a:lstStyle/>
          <a:p>
            <a:pPr marL="0" indent="0">
              <a:buNone/>
            </a:pPr>
            <a:r>
              <a:rPr lang="en-US" sz="1400" dirty="0">
                <a:solidFill>
                  <a:srgbClr val="475569"/>
                </a:solidFill>
              </a:rPr>
              <a:t>Logstash-style field extraction for 6 log formats</a:t>
            </a:r>
            <a:endParaRPr lang="en-US" sz="1400" dirty="0"/>
          </a:p>
        </p:txBody>
      </p:sp>
      <p:sp>
        <p:nvSpPr>
          <p:cNvPr id="71" name="Text 11">
            <a:extLst>
              <a:ext uri="{FF2B5EF4-FFF2-40B4-BE49-F238E27FC236}">
                <a16:creationId xmlns:a16="http://schemas.microsoft.com/office/drawing/2014/main" id="{59BD71A5-EAAB-0FCD-DCA5-A1E04D2D71B2}"/>
              </a:ext>
            </a:extLst>
          </p:cNvPr>
          <p:cNvSpPr/>
          <p:nvPr/>
        </p:nvSpPr>
        <p:spPr>
          <a:xfrm>
            <a:off x="784087" y="3656076"/>
            <a:ext cx="1345084" cy="1073044"/>
          </a:xfrm>
          <a:prstGeom prst="rect">
            <a:avLst/>
          </a:prstGeom>
          <a:noFill/>
          <a:ln/>
        </p:spPr>
        <p:txBody>
          <a:bodyPr wrap="square" rtlCol="0" anchor="ctr"/>
          <a:lstStyle/>
          <a:p>
            <a:pPr marL="0" indent="0">
              <a:buNone/>
            </a:pPr>
            <a:r>
              <a:rPr lang="en-US" sz="1600" b="1" dirty="0">
                <a:solidFill>
                  <a:srgbClr val="2A56CC"/>
                </a:solidFill>
              </a:rPr>
              <a:t>JSON</a:t>
            </a:r>
            <a:endParaRPr lang="en-US" sz="1600" dirty="0"/>
          </a:p>
        </p:txBody>
      </p:sp>
      <p:sp>
        <p:nvSpPr>
          <p:cNvPr id="72" name="Text 12">
            <a:extLst>
              <a:ext uri="{FF2B5EF4-FFF2-40B4-BE49-F238E27FC236}">
                <a16:creationId xmlns:a16="http://schemas.microsoft.com/office/drawing/2014/main" id="{E70EC575-448A-F7C0-395D-7C02E4BC9874}"/>
              </a:ext>
            </a:extLst>
          </p:cNvPr>
          <p:cNvSpPr/>
          <p:nvPr/>
        </p:nvSpPr>
        <p:spPr>
          <a:xfrm>
            <a:off x="1801367" y="3741338"/>
            <a:ext cx="3607271" cy="1073044"/>
          </a:xfrm>
          <a:prstGeom prst="rect">
            <a:avLst/>
          </a:prstGeom>
          <a:noFill/>
          <a:ln/>
        </p:spPr>
        <p:txBody>
          <a:bodyPr wrap="square" rtlCol="0" anchor="ctr"/>
          <a:lstStyle/>
          <a:p>
            <a:pPr marL="0" indent="0">
              <a:buNone/>
            </a:pPr>
            <a:r>
              <a:rPr lang="en-US" sz="1400" dirty="0">
                <a:solidFill>
                  <a:srgbClr val="475569"/>
                </a:solidFill>
              </a:rPr>
              <a:t>NDJSON parsing with 10+ field alias normalization</a:t>
            </a:r>
            <a:endParaRPr lang="en-US" sz="1400" dirty="0"/>
          </a:p>
        </p:txBody>
      </p:sp>
      <p:sp>
        <p:nvSpPr>
          <p:cNvPr id="74" name="Text 14">
            <a:extLst>
              <a:ext uri="{FF2B5EF4-FFF2-40B4-BE49-F238E27FC236}">
                <a16:creationId xmlns:a16="http://schemas.microsoft.com/office/drawing/2014/main" id="{D095703A-DE5A-3739-B127-EDA8B3801EC7}"/>
              </a:ext>
            </a:extLst>
          </p:cNvPr>
          <p:cNvSpPr/>
          <p:nvPr/>
        </p:nvSpPr>
        <p:spPr>
          <a:xfrm>
            <a:off x="784087" y="4402694"/>
            <a:ext cx="1345084" cy="1073044"/>
          </a:xfrm>
          <a:prstGeom prst="rect">
            <a:avLst/>
          </a:prstGeom>
          <a:noFill/>
          <a:ln/>
        </p:spPr>
        <p:txBody>
          <a:bodyPr wrap="square" rtlCol="0" anchor="ctr"/>
          <a:lstStyle/>
          <a:p>
            <a:pPr marL="0" indent="0">
              <a:buNone/>
            </a:pPr>
            <a:r>
              <a:rPr lang="en-US" sz="1600" b="1" dirty="0">
                <a:solidFill>
                  <a:srgbClr val="2A56CC"/>
                </a:solidFill>
              </a:rPr>
              <a:t>Regex</a:t>
            </a:r>
            <a:endParaRPr lang="en-US" sz="1600" dirty="0"/>
          </a:p>
        </p:txBody>
      </p:sp>
      <p:sp>
        <p:nvSpPr>
          <p:cNvPr id="75" name="Text 15">
            <a:extLst>
              <a:ext uri="{FF2B5EF4-FFF2-40B4-BE49-F238E27FC236}">
                <a16:creationId xmlns:a16="http://schemas.microsoft.com/office/drawing/2014/main" id="{4281915A-9356-A83D-943D-D493DE0BB795}"/>
              </a:ext>
            </a:extLst>
          </p:cNvPr>
          <p:cNvSpPr/>
          <p:nvPr/>
        </p:nvSpPr>
        <p:spPr>
          <a:xfrm>
            <a:off x="1828799" y="4397965"/>
            <a:ext cx="3607271" cy="1073044"/>
          </a:xfrm>
          <a:prstGeom prst="rect">
            <a:avLst/>
          </a:prstGeom>
          <a:noFill/>
          <a:ln/>
        </p:spPr>
        <p:txBody>
          <a:bodyPr wrap="square" rtlCol="0" anchor="ctr"/>
          <a:lstStyle/>
          <a:p>
            <a:pPr marL="0" indent="0">
              <a:buNone/>
            </a:pPr>
            <a:r>
              <a:rPr lang="en-US" sz="1400" dirty="0">
                <a:solidFill>
                  <a:srgbClr val="475569"/>
                </a:solidFill>
              </a:rPr>
              <a:t>Fallback — timestamps (6 formats), levels (12 types), components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840" b="1" kern="0" spc="180" dirty="0">
                <a:solidFill>
                  <a:srgbClr val="00A8C8"/>
                </a:solidFill>
                <a:latin typeface="Aptos" pitchFamily="34" charset="0"/>
                <a:ea typeface="Aptos" pitchFamily="34" charset="-122"/>
                <a:cs typeface="Aptos" pitchFamily="34" charset="-120"/>
              </a:rPr>
              <a:t>COMPLIANCE AND SECURITY ENGINE</a:t>
            </a:r>
            <a:endParaRPr lang="en-US" sz="84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Risk scoring built into the analysis pipeline</a:t>
            </a:r>
            <a:endParaRPr lang="en-US" sz="2650" dirty="0"/>
          </a:p>
        </p:txBody>
      </p:sp>
      <p:sp>
        <p:nvSpPr>
          <p:cNvPr id="5" name="Text 2"/>
          <p:cNvSpPr/>
          <p:nvPr/>
        </p:nvSpPr>
        <p:spPr>
          <a:xfrm>
            <a:off x="658368" y="1371600"/>
            <a:ext cx="7680960" cy="329184"/>
          </a:xfrm>
          <a:prstGeom prst="rect">
            <a:avLst/>
          </a:prstGeom>
          <a:noFill/>
          <a:ln/>
        </p:spPr>
        <p:txBody>
          <a:bodyPr wrap="square" lIns="0" tIns="0" rIns="0" bIns="0" rtlCol="0" anchor="t">
            <a:normAutofit/>
          </a:bodyPr>
          <a:lstStyle/>
          <a:p>
            <a:pPr marL="0" indent="0" algn="l">
              <a:buNone/>
            </a:pPr>
            <a:r>
              <a:rPr lang="en-US" sz="1040" dirty="0">
                <a:solidFill>
                  <a:srgbClr val="64748B"/>
                </a:solidFill>
                <a:latin typeface="Aptos" pitchFamily="34" charset="0"/>
                <a:ea typeface="Aptos" pitchFamily="34" charset="-122"/>
                <a:cs typeface="Aptos" pitchFamily="34" charset="-120"/>
              </a:rPr>
              <a:t>PII detection, security rule checks, audit trail validation, and standards-aligned fix recommendations.</a:t>
            </a:r>
            <a:endParaRPr lang="en-US" sz="1040" dirty="0"/>
          </a:p>
        </p:txBody>
      </p:sp>
      <p:sp>
        <p:nvSpPr>
          <p:cNvPr id="6" name="Shape 3"/>
          <p:cNvSpPr/>
          <p:nvPr/>
        </p:nvSpPr>
        <p:spPr>
          <a:xfrm>
            <a:off x="749808" y="1810512"/>
            <a:ext cx="3767328" cy="4069080"/>
          </a:xfrm>
          <a:prstGeom prst="roundRect">
            <a:avLst>
              <a:gd name="adj" fmla="val 3155"/>
            </a:avLst>
          </a:prstGeom>
          <a:solidFill>
            <a:srgbClr val="FFFFFF">
              <a:alpha val="91000"/>
            </a:srgbClr>
          </a:solidFill>
          <a:ln w="12700">
            <a:solidFill>
              <a:srgbClr val="FFFFFF">
                <a:alpha val="90000"/>
              </a:srgbClr>
            </a:solidFill>
            <a:prstDash val="solid"/>
          </a:ln>
          <a:effectLst>
            <a:outerShdw blurRad="203200" dist="25400" dir="2700000" algn="bl" rotWithShape="0">
              <a:srgbClr val="9AB2C3">
                <a:alpha val="13000"/>
              </a:srgbClr>
            </a:outerShdw>
          </a:effectLst>
        </p:spPr>
      </p:sp>
      <p:sp>
        <p:nvSpPr>
          <p:cNvPr id="7" name="Shape 4"/>
          <p:cNvSpPr/>
          <p:nvPr/>
        </p:nvSpPr>
        <p:spPr>
          <a:xfrm>
            <a:off x="795528" y="1847088"/>
            <a:ext cx="367588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8" name="Shape 5"/>
          <p:cNvSpPr/>
          <p:nvPr/>
        </p:nvSpPr>
        <p:spPr>
          <a:xfrm>
            <a:off x="1865376" y="2139696"/>
            <a:ext cx="1298448" cy="1298448"/>
          </a:xfrm>
          <a:prstGeom prst="ellipse">
            <a:avLst/>
          </a:prstGeom>
          <a:solidFill>
            <a:srgbClr val="ECFE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9" name="Image 1" descr="shield icon"/>
          <p:cNvPicPr>
            <a:picLocks noChangeAspect="1"/>
          </p:cNvPicPr>
          <p:nvPr/>
        </p:nvPicPr>
        <p:blipFill>
          <a:blip r:embed="rId4"/>
          <a:stretch>
            <a:fillRect/>
          </a:stretch>
        </p:blipFill>
        <p:spPr>
          <a:xfrm>
            <a:off x="2151035" y="2425355"/>
            <a:ext cx="727131" cy="727131"/>
          </a:xfrm>
          <a:prstGeom prst="rect">
            <a:avLst/>
          </a:prstGeom>
        </p:spPr>
      </p:pic>
      <p:sp>
        <p:nvSpPr>
          <p:cNvPr id="10" name="Text 6"/>
          <p:cNvSpPr/>
          <p:nvPr/>
        </p:nvSpPr>
        <p:spPr>
          <a:xfrm>
            <a:off x="1078991" y="3694176"/>
            <a:ext cx="2746559" cy="82296"/>
          </a:xfrm>
          <a:prstGeom prst="rect">
            <a:avLst/>
          </a:prstGeom>
          <a:noFill/>
          <a:ln/>
        </p:spPr>
        <p:txBody>
          <a:bodyPr wrap="square" lIns="0" tIns="0" rIns="0" bIns="0" rtlCol="0" anchor="t">
            <a:noAutofit/>
          </a:bodyPr>
          <a:lstStyle/>
          <a:p>
            <a:pPr marL="0" indent="0" algn="l">
              <a:buNone/>
            </a:pPr>
            <a:r>
              <a:rPr lang="en-US" sz="3200" b="1" dirty="0">
                <a:solidFill>
                  <a:srgbClr val="102033"/>
                </a:solidFill>
                <a:latin typeface="Aptos Display" pitchFamily="34" charset="0"/>
                <a:ea typeface="Aptos Display" pitchFamily="34" charset="-122"/>
                <a:cs typeface="Aptos Display" pitchFamily="34" charset="-120"/>
              </a:rPr>
              <a:t>PII detection</a:t>
            </a:r>
            <a:endParaRPr lang="en-US" sz="3200" dirty="0"/>
          </a:p>
        </p:txBody>
      </p:sp>
      <p:sp>
        <p:nvSpPr>
          <p:cNvPr id="11" name="Shape 7"/>
          <p:cNvSpPr/>
          <p:nvPr/>
        </p:nvSpPr>
        <p:spPr>
          <a:xfrm>
            <a:off x="1078992" y="4169664"/>
            <a:ext cx="1170432" cy="310896"/>
          </a:xfrm>
          <a:prstGeom prst="roundRect">
            <a:avLst>
              <a:gd name="adj" fmla="val 35294"/>
            </a:avLst>
          </a:prstGeom>
          <a:solidFill>
            <a:srgbClr val="ECFEFF">
              <a:alpha val="90000"/>
            </a:srgbClr>
          </a:solidFill>
          <a:ln w="9525">
            <a:solidFill>
              <a:srgbClr val="D7E7F0">
                <a:alpha val="90000"/>
              </a:srgbClr>
            </a:solidFill>
            <a:prstDash val="solid"/>
          </a:ln>
        </p:spPr>
      </p:sp>
      <p:sp>
        <p:nvSpPr>
          <p:cNvPr id="12" name="Text 8"/>
          <p:cNvSpPr/>
          <p:nvPr/>
        </p:nvSpPr>
        <p:spPr>
          <a:xfrm>
            <a:off x="1188720" y="4256532"/>
            <a:ext cx="950976" cy="118872"/>
          </a:xfrm>
          <a:prstGeom prst="rect">
            <a:avLst/>
          </a:prstGeom>
          <a:noFill/>
          <a:ln/>
        </p:spPr>
        <p:txBody>
          <a:bodyPr wrap="square" lIns="0" tIns="0" rIns="0" bIns="0" rtlCol="0" anchor="t">
            <a:noAutofit/>
          </a:bodyPr>
          <a:lstStyle/>
          <a:p>
            <a:pPr marL="0" indent="0" algn="ctr">
              <a:buNone/>
            </a:pPr>
            <a:r>
              <a:rPr lang="en-US" sz="1400" b="1" dirty="0">
                <a:solidFill>
                  <a:srgbClr val="00A8C8"/>
                </a:solidFill>
                <a:latin typeface="Aptos" pitchFamily="34" charset="0"/>
                <a:ea typeface="Aptos" pitchFamily="34" charset="-122"/>
                <a:cs typeface="Aptos" pitchFamily="34" charset="-120"/>
              </a:rPr>
              <a:t>Email</a:t>
            </a:r>
            <a:endParaRPr lang="en-US" sz="1400" dirty="0"/>
          </a:p>
        </p:txBody>
      </p:sp>
      <p:sp>
        <p:nvSpPr>
          <p:cNvPr id="13" name="Shape 9"/>
          <p:cNvSpPr/>
          <p:nvPr/>
        </p:nvSpPr>
        <p:spPr>
          <a:xfrm>
            <a:off x="2560320" y="4169664"/>
            <a:ext cx="1170432" cy="310896"/>
          </a:xfrm>
          <a:prstGeom prst="roundRect">
            <a:avLst>
              <a:gd name="adj" fmla="val 35294"/>
            </a:avLst>
          </a:prstGeom>
          <a:solidFill>
            <a:srgbClr val="F0FDF4">
              <a:alpha val="90000"/>
            </a:srgbClr>
          </a:solidFill>
          <a:ln w="9525">
            <a:solidFill>
              <a:srgbClr val="D7E7F0">
                <a:alpha val="90000"/>
              </a:srgbClr>
            </a:solidFill>
            <a:prstDash val="solid"/>
          </a:ln>
        </p:spPr>
      </p:sp>
      <p:sp>
        <p:nvSpPr>
          <p:cNvPr id="14" name="Text 10"/>
          <p:cNvSpPr/>
          <p:nvPr/>
        </p:nvSpPr>
        <p:spPr>
          <a:xfrm>
            <a:off x="2670048" y="4256532"/>
            <a:ext cx="950976" cy="118872"/>
          </a:xfrm>
          <a:prstGeom prst="rect">
            <a:avLst/>
          </a:prstGeom>
          <a:noFill/>
          <a:ln/>
        </p:spPr>
        <p:txBody>
          <a:bodyPr wrap="square" lIns="0" tIns="0" rIns="0" bIns="0" rtlCol="0" anchor="t">
            <a:noAutofit/>
          </a:bodyPr>
          <a:lstStyle/>
          <a:p>
            <a:pPr marL="0" indent="0" algn="ctr">
              <a:buNone/>
            </a:pPr>
            <a:r>
              <a:rPr lang="en-US" sz="1400" b="1" dirty="0">
                <a:solidFill>
                  <a:srgbClr val="10B981"/>
                </a:solidFill>
                <a:latin typeface="Aptos" pitchFamily="34" charset="0"/>
                <a:ea typeface="Aptos" pitchFamily="34" charset="-122"/>
                <a:cs typeface="Aptos" pitchFamily="34" charset="-120"/>
              </a:rPr>
              <a:t>IPv4</a:t>
            </a:r>
            <a:endParaRPr lang="en-US" sz="1400" dirty="0"/>
          </a:p>
        </p:txBody>
      </p:sp>
      <p:sp>
        <p:nvSpPr>
          <p:cNvPr id="15" name="Shape 11"/>
          <p:cNvSpPr/>
          <p:nvPr/>
        </p:nvSpPr>
        <p:spPr>
          <a:xfrm>
            <a:off x="1078992" y="4581144"/>
            <a:ext cx="1170432" cy="310896"/>
          </a:xfrm>
          <a:prstGeom prst="roundRect">
            <a:avLst>
              <a:gd name="adj" fmla="val 35294"/>
            </a:avLst>
          </a:prstGeom>
          <a:solidFill>
            <a:srgbClr val="ECFEFF">
              <a:alpha val="90000"/>
            </a:srgbClr>
          </a:solidFill>
          <a:ln w="9525">
            <a:solidFill>
              <a:srgbClr val="D7E7F0">
                <a:alpha val="90000"/>
              </a:srgbClr>
            </a:solidFill>
            <a:prstDash val="solid"/>
          </a:ln>
        </p:spPr>
      </p:sp>
      <p:sp>
        <p:nvSpPr>
          <p:cNvPr id="16" name="Text 12"/>
          <p:cNvSpPr/>
          <p:nvPr/>
        </p:nvSpPr>
        <p:spPr>
          <a:xfrm>
            <a:off x="1188720" y="4668012"/>
            <a:ext cx="950976" cy="118872"/>
          </a:xfrm>
          <a:prstGeom prst="rect">
            <a:avLst/>
          </a:prstGeom>
          <a:noFill/>
          <a:ln/>
        </p:spPr>
        <p:txBody>
          <a:bodyPr wrap="square" lIns="0" tIns="0" rIns="0" bIns="0" rtlCol="0" anchor="t">
            <a:noAutofit/>
          </a:bodyPr>
          <a:lstStyle/>
          <a:p>
            <a:pPr marL="0" indent="0" algn="ctr">
              <a:buNone/>
            </a:pPr>
            <a:r>
              <a:rPr lang="en-US" sz="1400" b="1" dirty="0">
                <a:solidFill>
                  <a:srgbClr val="00A8C8"/>
                </a:solidFill>
                <a:latin typeface="Aptos" pitchFamily="34" charset="0"/>
                <a:ea typeface="Aptos" pitchFamily="34" charset="-122"/>
                <a:cs typeface="Aptos" pitchFamily="34" charset="-120"/>
              </a:rPr>
              <a:t>SSN</a:t>
            </a:r>
            <a:endParaRPr lang="en-US" sz="1400" dirty="0"/>
          </a:p>
        </p:txBody>
      </p:sp>
      <p:sp>
        <p:nvSpPr>
          <p:cNvPr id="17" name="Shape 13"/>
          <p:cNvSpPr/>
          <p:nvPr/>
        </p:nvSpPr>
        <p:spPr>
          <a:xfrm>
            <a:off x="2560320" y="4581144"/>
            <a:ext cx="1170432" cy="310896"/>
          </a:xfrm>
          <a:prstGeom prst="roundRect">
            <a:avLst>
              <a:gd name="adj" fmla="val 35294"/>
            </a:avLst>
          </a:prstGeom>
          <a:solidFill>
            <a:srgbClr val="F0FDF4">
              <a:alpha val="90000"/>
            </a:srgbClr>
          </a:solidFill>
          <a:ln w="9525">
            <a:solidFill>
              <a:srgbClr val="D7E7F0">
                <a:alpha val="90000"/>
              </a:srgbClr>
            </a:solidFill>
            <a:prstDash val="solid"/>
          </a:ln>
        </p:spPr>
      </p:sp>
      <p:sp>
        <p:nvSpPr>
          <p:cNvPr id="18" name="Text 14"/>
          <p:cNvSpPr/>
          <p:nvPr/>
        </p:nvSpPr>
        <p:spPr>
          <a:xfrm>
            <a:off x="2670048" y="4668012"/>
            <a:ext cx="950976" cy="118872"/>
          </a:xfrm>
          <a:prstGeom prst="rect">
            <a:avLst/>
          </a:prstGeom>
          <a:noFill/>
          <a:ln/>
        </p:spPr>
        <p:txBody>
          <a:bodyPr wrap="square" lIns="0" tIns="0" rIns="0" bIns="0" rtlCol="0" anchor="t">
            <a:noAutofit/>
          </a:bodyPr>
          <a:lstStyle/>
          <a:p>
            <a:pPr marL="0" indent="0" algn="ctr">
              <a:buNone/>
            </a:pPr>
            <a:r>
              <a:rPr lang="en-US" sz="1400" b="1" dirty="0">
                <a:solidFill>
                  <a:srgbClr val="10B981"/>
                </a:solidFill>
                <a:latin typeface="Aptos" pitchFamily="34" charset="0"/>
                <a:ea typeface="Aptos" pitchFamily="34" charset="-122"/>
                <a:cs typeface="Aptos" pitchFamily="34" charset="-120"/>
              </a:rPr>
              <a:t>Cards</a:t>
            </a:r>
            <a:endParaRPr lang="en-US" sz="1400" dirty="0"/>
          </a:p>
        </p:txBody>
      </p:sp>
      <p:sp>
        <p:nvSpPr>
          <p:cNvPr id="19" name="Shape 15"/>
          <p:cNvSpPr/>
          <p:nvPr/>
        </p:nvSpPr>
        <p:spPr>
          <a:xfrm>
            <a:off x="1078992" y="4992624"/>
            <a:ext cx="1170432" cy="310896"/>
          </a:xfrm>
          <a:prstGeom prst="roundRect">
            <a:avLst>
              <a:gd name="adj" fmla="val 35294"/>
            </a:avLst>
          </a:prstGeom>
          <a:solidFill>
            <a:srgbClr val="ECFEFF">
              <a:alpha val="90000"/>
            </a:srgbClr>
          </a:solidFill>
          <a:ln w="9525">
            <a:solidFill>
              <a:srgbClr val="D7E7F0">
                <a:alpha val="90000"/>
              </a:srgbClr>
            </a:solidFill>
            <a:prstDash val="solid"/>
          </a:ln>
        </p:spPr>
      </p:sp>
      <p:sp>
        <p:nvSpPr>
          <p:cNvPr id="20" name="Text 16"/>
          <p:cNvSpPr/>
          <p:nvPr/>
        </p:nvSpPr>
        <p:spPr>
          <a:xfrm>
            <a:off x="1188720" y="5079492"/>
            <a:ext cx="950976" cy="118872"/>
          </a:xfrm>
          <a:prstGeom prst="rect">
            <a:avLst/>
          </a:prstGeom>
          <a:noFill/>
          <a:ln/>
        </p:spPr>
        <p:txBody>
          <a:bodyPr wrap="square" lIns="0" tIns="0" rIns="0" bIns="0" rtlCol="0" anchor="t">
            <a:noAutofit/>
          </a:bodyPr>
          <a:lstStyle/>
          <a:p>
            <a:pPr marL="0" indent="0" algn="ctr">
              <a:buNone/>
            </a:pPr>
            <a:r>
              <a:rPr lang="en-US" sz="1400" b="1" dirty="0">
                <a:solidFill>
                  <a:srgbClr val="00A8C8"/>
                </a:solidFill>
                <a:latin typeface="Aptos" pitchFamily="34" charset="0"/>
                <a:ea typeface="Aptos" pitchFamily="34" charset="-122"/>
                <a:cs typeface="Aptos" pitchFamily="34" charset="-120"/>
              </a:rPr>
              <a:t>Phone</a:t>
            </a:r>
            <a:endParaRPr lang="en-US" sz="1400" dirty="0"/>
          </a:p>
        </p:txBody>
      </p:sp>
      <p:sp>
        <p:nvSpPr>
          <p:cNvPr id="21" name="Shape 17"/>
          <p:cNvSpPr/>
          <p:nvPr/>
        </p:nvSpPr>
        <p:spPr>
          <a:xfrm>
            <a:off x="2560320" y="4992624"/>
            <a:ext cx="1170432" cy="310896"/>
          </a:xfrm>
          <a:prstGeom prst="roundRect">
            <a:avLst>
              <a:gd name="adj" fmla="val 35294"/>
            </a:avLst>
          </a:prstGeom>
          <a:solidFill>
            <a:srgbClr val="F0FDF4">
              <a:alpha val="90000"/>
            </a:srgbClr>
          </a:solidFill>
          <a:ln w="9525">
            <a:solidFill>
              <a:srgbClr val="D7E7F0">
                <a:alpha val="90000"/>
              </a:srgbClr>
            </a:solidFill>
            <a:prstDash val="solid"/>
          </a:ln>
        </p:spPr>
      </p:sp>
      <p:sp>
        <p:nvSpPr>
          <p:cNvPr id="22" name="Text 18"/>
          <p:cNvSpPr/>
          <p:nvPr/>
        </p:nvSpPr>
        <p:spPr>
          <a:xfrm>
            <a:off x="2670048" y="5079492"/>
            <a:ext cx="950976" cy="118872"/>
          </a:xfrm>
          <a:prstGeom prst="rect">
            <a:avLst/>
          </a:prstGeom>
          <a:noFill/>
          <a:ln/>
        </p:spPr>
        <p:txBody>
          <a:bodyPr wrap="square" lIns="0" tIns="0" rIns="0" bIns="0" rtlCol="0" anchor="t">
            <a:noAutofit/>
          </a:bodyPr>
          <a:lstStyle/>
          <a:p>
            <a:pPr marL="0" indent="0" algn="ctr">
              <a:buNone/>
            </a:pPr>
            <a:r>
              <a:rPr lang="en-US" sz="1400" b="1" dirty="0">
                <a:solidFill>
                  <a:srgbClr val="10B981"/>
                </a:solidFill>
                <a:latin typeface="Aptos" pitchFamily="34" charset="0"/>
                <a:ea typeface="Aptos" pitchFamily="34" charset="-122"/>
                <a:cs typeface="Aptos" pitchFamily="34" charset="-120"/>
              </a:rPr>
              <a:t>API Keys</a:t>
            </a:r>
            <a:endParaRPr lang="en-US" sz="1400" dirty="0"/>
          </a:p>
        </p:txBody>
      </p:sp>
      <p:sp>
        <p:nvSpPr>
          <p:cNvPr id="25" name="Shape 21"/>
          <p:cNvSpPr/>
          <p:nvPr/>
        </p:nvSpPr>
        <p:spPr>
          <a:xfrm>
            <a:off x="4901184" y="1810512"/>
            <a:ext cx="6400800" cy="4069080"/>
          </a:xfrm>
          <a:prstGeom prst="roundRect">
            <a:avLst>
              <a:gd name="adj" fmla="val 2921"/>
            </a:avLst>
          </a:prstGeom>
          <a:solidFill>
            <a:srgbClr val="FFFFFF">
              <a:alpha val="90000"/>
            </a:srgbClr>
          </a:solidFill>
          <a:ln w="12700">
            <a:solidFill>
              <a:srgbClr val="FFFFFF">
                <a:alpha val="90000"/>
              </a:srgbClr>
            </a:solidFill>
            <a:prstDash val="solid"/>
          </a:ln>
          <a:effectLst>
            <a:outerShdw blurRad="190500" dist="25400" dir="2700000" algn="bl" rotWithShape="0">
              <a:srgbClr val="9AB2C3">
                <a:alpha val="13000"/>
              </a:srgbClr>
            </a:outerShdw>
          </a:effectLst>
        </p:spPr>
      </p:sp>
      <p:sp>
        <p:nvSpPr>
          <p:cNvPr id="26" name="Shape 22"/>
          <p:cNvSpPr/>
          <p:nvPr/>
        </p:nvSpPr>
        <p:spPr>
          <a:xfrm>
            <a:off x="4946904" y="1847088"/>
            <a:ext cx="630936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7" name="Text 23"/>
          <p:cNvSpPr/>
          <p:nvPr/>
        </p:nvSpPr>
        <p:spPr>
          <a:xfrm>
            <a:off x="5230368" y="2084832"/>
            <a:ext cx="1645920" cy="219456"/>
          </a:xfrm>
          <a:prstGeom prst="rect">
            <a:avLst/>
          </a:prstGeom>
          <a:noFill/>
          <a:ln/>
        </p:spPr>
        <p:txBody>
          <a:bodyPr wrap="square" lIns="0" tIns="0" rIns="0" bIns="0" rtlCol="0" anchor="t">
            <a:noAutofit/>
          </a:bodyPr>
          <a:lstStyle/>
          <a:p>
            <a:pPr marL="0" indent="0" algn="l">
              <a:buNone/>
            </a:pPr>
            <a:r>
              <a:rPr lang="en-US" sz="3200" b="1" dirty="0">
                <a:solidFill>
                  <a:srgbClr val="10B981"/>
                </a:solidFill>
                <a:latin typeface="Aptos Display" pitchFamily="34" charset="0"/>
                <a:ea typeface="Aptos Display" pitchFamily="34" charset="-122"/>
                <a:cs typeface="Aptos Display" pitchFamily="34" charset="-120"/>
              </a:rPr>
              <a:t>Security rules</a:t>
            </a:r>
            <a:endParaRPr lang="en-US" sz="3200" dirty="0"/>
          </a:p>
        </p:txBody>
      </p:sp>
      <p:sp>
        <p:nvSpPr>
          <p:cNvPr id="28" name="Shape 24"/>
          <p:cNvSpPr/>
          <p:nvPr/>
        </p:nvSpPr>
        <p:spPr>
          <a:xfrm>
            <a:off x="5230368" y="2596896"/>
            <a:ext cx="5687568" cy="384048"/>
          </a:xfrm>
          <a:prstGeom prst="roundRect">
            <a:avLst>
              <a:gd name="adj" fmla="val 14286"/>
            </a:avLst>
          </a:prstGeom>
          <a:solidFill>
            <a:srgbClr val="F8FBFD">
              <a:alpha val="94000"/>
            </a:srgbClr>
          </a:solidFill>
          <a:ln w="6350">
            <a:solidFill>
              <a:srgbClr val="D7E7F0">
                <a:alpha val="55000"/>
              </a:srgbClr>
            </a:solidFill>
            <a:prstDash val="solid"/>
          </a:ln>
        </p:spPr>
      </p:sp>
      <p:sp>
        <p:nvSpPr>
          <p:cNvPr id="29" name="Shape 25"/>
          <p:cNvSpPr/>
          <p:nvPr/>
        </p:nvSpPr>
        <p:spPr>
          <a:xfrm>
            <a:off x="5376672" y="2697480"/>
            <a:ext cx="164592" cy="164592"/>
          </a:xfrm>
          <a:prstGeom prst="ellipse">
            <a:avLst/>
          </a:prstGeom>
          <a:solidFill>
            <a:srgbClr val="00A8C8"/>
          </a:solidFill>
          <a:ln w="12700">
            <a:solidFill>
              <a:srgbClr val="00A8C8"/>
            </a:solidFill>
            <a:prstDash val="solid"/>
          </a:ln>
        </p:spPr>
      </p:sp>
      <p:sp>
        <p:nvSpPr>
          <p:cNvPr id="30" name="Text 26"/>
          <p:cNvSpPr/>
          <p:nvPr/>
        </p:nvSpPr>
        <p:spPr>
          <a:xfrm>
            <a:off x="5632704" y="2697480"/>
            <a:ext cx="1901952" cy="91440"/>
          </a:xfrm>
          <a:prstGeom prst="rect">
            <a:avLst/>
          </a:prstGeom>
          <a:noFill/>
          <a:ln/>
        </p:spPr>
        <p:txBody>
          <a:bodyPr wrap="square" lIns="0" tIns="0" rIns="0" bIns="0" rtlCol="0" anchor="t">
            <a:noAutofit/>
          </a:bodyPr>
          <a:lstStyle/>
          <a:p>
            <a:pPr marL="0" indent="0" algn="l">
              <a:buNone/>
            </a:pPr>
            <a:r>
              <a:rPr lang="en-US" sz="1200" b="1" dirty="0">
                <a:solidFill>
                  <a:srgbClr val="102033"/>
                </a:solidFill>
                <a:latin typeface="Aptos" pitchFamily="34" charset="0"/>
                <a:ea typeface="Aptos" pitchFamily="34" charset="-122"/>
                <a:cs typeface="Aptos" pitchFamily="34" charset="-120"/>
              </a:rPr>
              <a:t>Unencrypted protocols</a:t>
            </a:r>
            <a:endParaRPr lang="en-US" sz="1200" dirty="0"/>
          </a:p>
        </p:txBody>
      </p:sp>
      <p:sp>
        <p:nvSpPr>
          <p:cNvPr id="31" name="Text 27"/>
          <p:cNvSpPr/>
          <p:nvPr/>
        </p:nvSpPr>
        <p:spPr>
          <a:xfrm>
            <a:off x="7699248" y="2603754"/>
            <a:ext cx="859536" cy="91440"/>
          </a:xfrm>
          <a:prstGeom prst="rect">
            <a:avLst/>
          </a:prstGeom>
          <a:noFill/>
          <a:ln/>
        </p:spPr>
        <p:txBody>
          <a:bodyPr wrap="square" lIns="0" tIns="0" rIns="0" bIns="0" rtlCol="0" anchor="t">
            <a:noAutofit/>
          </a:bodyPr>
          <a:lstStyle/>
          <a:p>
            <a:pPr marL="0" indent="0" algn="l">
              <a:buNone/>
            </a:pPr>
            <a:r>
              <a:rPr lang="en-US" sz="1200" b="1" dirty="0">
                <a:solidFill>
                  <a:srgbClr val="00A8C8"/>
                </a:solidFill>
                <a:latin typeface="Aptos" pitchFamily="34" charset="0"/>
                <a:ea typeface="Aptos" pitchFamily="34" charset="-122"/>
                <a:cs typeface="Aptos" pitchFamily="34" charset="-120"/>
              </a:rPr>
              <a:t>SOC2 / HIPAA</a:t>
            </a:r>
            <a:endParaRPr lang="en-US" sz="1200" dirty="0"/>
          </a:p>
        </p:txBody>
      </p:sp>
      <p:sp>
        <p:nvSpPr>
          <p:cNvPr id="32" name="Text 28"/>
          <p:cNvSpPr/>
          <p:nvPr/>
        </p:nvSpPr>
        <p:spPr>
          <a:xfrm>
            <a:off x="8723376" y="2697480"/>
            <a:ext cx="1920240" cy="91440"/>
          </a:xfrm>
          <a:prstGeom prst="rect">
            <a:avLst/>
          </a:prstGeom>
          <a:noFill/>
          <a:ln/>
        </p:spPr>
        <p:txBody>
          <a:bodyPr wrap="square" lIns="0" tIns="0" rIns="0" bIns="0" rtlCol="0" anchor="t">
            <a:noAutofit/>
          </a:bodyPr>
          <a:lstStyle/>
          <a:p>
            <a:pPr marL="0" indent="0" algn="l">
              <a:buNone/>
            </a:pPr>
            <a:r>
              <a:rPr lang="en-US" sz="1200" dirty="0">
                <a:solidFill>
                  <a:srgbClr val="64748B"/>
                </a:solidFill>
                <a:latin typeface="Aptos" pitchFamily="34" charset="0"/>
                <a:ea typeface="Aptos" pitchFamily="34" charset="-122"/>
                <a:cs typeface="Aptos" pitchFamily="34" charset="-120"/>
              </a:rPr>
              <a:t>http, ftp, telnet</a:t>
            </a:r>
            <a:endParaRPr lang="en-US" sz="1200" dirty="0"/>
          </a:p>
        </p:txBody>
      </p:sp>
      <p:sp>
        <p:nvSpPr>
          <p:cNvPr id="33" name="Shape 29"/>
          <p:cNvSpPr/>
          <p:nvPr/>
        </p:nvSpPr>
        <p:spPr>
          <a:xfrm>
            <a:off x="5230368" y="3054096"/>
            <a:ext cx="5687568" cy="384048"/>
          </a:xfrm>
          <a:prstGeom prst="roundRect">
            <a:avLst>
              <a:gd name="adj" fmla="val 14286"/>
            </a:avLst>
          </a:prstGeom>
          <a:solidFill>
            <a:srgbClr val="FFFFFF">
              <a:alpha val="94000"/>
            </a:srgbClr>
          </a:solidFill>
          <a:ln w="6350">
            <a:solidFill>
              <a:srgbClr val="D7E7F0">
                <a:alpha val="55000"/>
              </a:srgbClr>
            </a:solidFill>
            <a:prstDash val="solid"/>
          </a:ln>
        </p:spPr>
      </p:sp>
      <p:sp>
        <p:nvSpPr>
          <p:cNvPr id="34" name="Shape 30"/>
          <p:cNvSpPr/>
          <p:nvPr/>
        </p:nvSpPr>
        <p:spPr>
          <a:xfrm>
            <a:off x="5376672" y="3154680"/>
            <a:ext cx="164592" cy="164592"/>
          </a:xfrm>
          <a:prstGeom prst="ellipse">
            <a:avLst/>
          </a:prstGeom>
          <a:solidFill>
            <a:srgbClr val="FF6B6B"/>
          </a:solidFill>
          <a:ln w="12700">
            <a:solidFill>
              <a:srgbClr val="FF6B6B"/>
            </a:solidFill>
            <a:prstDash val="solid"/>
          </a:ln>
        </p:spPr>
      </p:sp>
      <p:sp>
        <p:nvSpPr>
          <p:cNvPr id="35" name="Text 31"/>
          <p:cNvSpPr/>
          <p:nvPr/>
        </p:nvSpPr>
        <p:spPr>
          <a:xfrm>
            <a:off x="5632704" y="3154680"/>
            <a:ext cx="1901952" cy="91440"/>
          </a:xfrm>
          <a:prstGeom prst="rect">
            <a:avLst/>
          </a:prstGeom>
          <a:noFill/>
          <a:ln/>
        </p:spPr>
        <p:txBody>
          <a:bodyPr wrap="square" lIns="0" tIns="0" rIns="0" bIns="0" rtlCol="0" anchor="t">
            <a:noAutofit/>
          </a:bodyPr>
          <a:lstStyle/>
          <a:p>
            <a:pPr marL="0" indent="0" algn="l">
              <a:buNone/>
            </a:pPr>
            <a:r>
              <a:rPr lang="en-US" sz="1200" b="1" dirty="0">
                <a:solidFill>
                  <a:srgbClr val="102033"/>
                </a:solidFill>
                <a:latin typeface="Aptos" pitchFamily="34" charset="0"/>
                <a:ea typeface="Aptos" pitchFamily="34" charset="-122"/>
                <a:cs typeface="Aptos" pitchFamily="34" charset="-120"/>
              </a:rPr>
              <a:t>Auth failure bursts</a:t>
            </a:r>
            <a:endParaRPr lang="en-US" sz="1200" dirty="0"/>
          </a:p>
        </p:txBody>
      </p:sp>
      <p:sp>
        <p:nvSpPr>
          <p:cNvPr id="36" name="Text 32"/>
          <p:cNvSpPr/>
          <p:nvPr/>
        </p:nvSpPr>
        <p:spPr>
          <a:xfrm>
            <a:off x="7699248" y="3154680"/>
            <a:ext cx="859536" cy="91440"/>
          </a:xfrm>
          <a:prstGeom prst="rect">
            <a:avLst/>
          </a:prstGeom>
          <a:noFill/>
          <a:ln/>
        </p:spPr>
        <p:txBody>
          <a:bodyPr wrap="square" lIns="0" tIns="0" rIns="0" bIns="0" rtlCol="0" anchor="t">
            <a:noAutofit/>
          </a:bodyPr>
          <a:lstStyle/>
          <a:p>
            <a:pPr marL="0" indent="0" algn="l">
              <a:buNone/>
            </a:pPr>
            <a:r>
              <a:rPr lang="en-US" sz="1200" b="1" dirty="0">
                <a:solidFill>
                  <a:srgbClr val="FF6B6B"/>
                </a:solidFill>
                <a:latin typeface="Aptos" pitchFamily="34" charset="0"/>
                <a:ea typeface="Aptos" pitchFamily="34" charset="-122"/>
                <a:cs typeface="Aptos" pitchFamily="34" charset="-120"/>
              </a:rPr>
              <a:t>SOC2</a:t>
            </a:r>
            <a:endParaRPr lang="en-US" sz="1200" dirty="0"/>
          </a:p>
        </p:txBody>
      </p:sp>
      <p:sp>
        <p:nvSpPr>
          <p:cNvPr id="37" name="Text 33"/>
          <p:cNvSpPr/>
          <p:nvPr/>
        </p:nvSpPr>
        <p:spPr>
          <a:xfrm>
            <a:off x="8723376" y="3154680"/>
            <a:ext cx="1920240" cy="91440"/>
          </a:xfrm>
          <a:prstGeom prst="rect">
            <a:avLst/>
          </a:prstGeom>
          <a:noFill/>
          <a:ln/>
        </p:spPr>
        <p:txBody>
          <a:bodyPr wrap="square" lIns="0" tIns="0" rIns="0" bIns="0" rtlCol="0" anchor="t">
            <a:noAutofit/>
          </a:bodyPr>
          <a:lstStyle/>
          <a:p>
            <a:pPr marL="0" indent="0" algn="l">
              <a:buNone/>
            </a:pPr>
            <a:r>
              <a:rPr lang="en-US" sz="1200" dirty="0">
                <a:solidFill>
                  <a:srgbClr val="64748B"/>
                </a:solidFill>
                <a:latin typeface="Aptos" pitchFamily="34" charset="0"/>
                <a:ea typeface="Aptos" pitchFamily="34" charset="-122"/>
                <a:cs typeface="Aptos" pitchFamily="34" charset="-120"/>
              </a:rPr>
              <a:t>&gt;=5 failed passwords</a:t>
            </a:r>
            <a:endParaRPr lang="en-US" sz="1200" dirty="0"/>
          </a:p>
        </p:txBody>
      </p:sp>
      <p:sp>
        <p:nvSpPr>
          <p:cNvPr id="38" name="Shape 34"/>
          <p:cNvSpPr/>
          <p:nvPr/>
        </p:nvSpPr>
        <p:spPr>
          <a:xfrm>
            <a:off x="5230368" y="3511296"/>
            <a:ext cx="5687568" cy="384048"/>
          </a:xfrm>
          <a:prstGeom prst="roundRect">
            <a:avLst>
              <a:gd name="adj" fmla="val 14286"/>
            </a:avLst>
          </a:prstGeom>
          <a:solidFill>
            <a:srgbClr val="F8FBFD">
              <a:alpha val="94000"/>
            </a:srgbClr>
          </a:solidFill>
          <a:ln w="6350">
            <a:solidFill>
              <a:srgbClr val="D7E7F0">
                <a:alpha val="55000"/>
              </a:srgbClr>
            </a:solidFill>
            <a:prstDash val="solid"/>
          </a:ln>
        </p:spPr>
      </p:sp>
      <p:sp>
        <p:nvSpPr>
          <p:cNvPr id="39" name="Shape 35"/>
          <p:cNvSpPr/>
          <p:nvPr/>
        </p:nvSpPr>
        <p:spPr>
          <a:xfrm>
            <a:off x="5376672" y="3611880"/>
            <a:ext cx="164592" cy="164592"/>
          </a:xfrm>
          <a:prstGeom prst="ellipse">
            <a:avLst/>
          </a:prstGeom>
          <a:solidFill>
            <a:srgbClr val="8B5CF6"/>
          </a:solidFill>
          <a:ln w="12700">
            <a:solidFill>
              <a:srgbClr val="8B5CF6"/>
            </a:solidFill>
            <a:prstDash val="solid"/>
          </a:ln>
        </p:spPr>
      </p:sp>
      <p:sp>
        <p:nvSpPr>
          <p:cNvPr id="40" name="Text 36"/>
          <p:cNvSpPr/>
          <p:nvPr/>
        </p:nvSpPr>
        <p:spPr>
          <a:xfrm>
            <a:off x="5632704" y="3611880"/>
            <a:ext cx="1901952" cy="91440"/>
          </a:xfrm>
          <a:prstGeom prst="rect">
            <a:avLst/>
          </a:prstGeom>
          <a:noFill/>
          <a:ln/>
        </p:spPr>
        <p:txBody>
          <a:bodyPr wrap="square" lIns="0" tIns="0" rIns="0" bIns="0" rtlCol="0" anchor="t">
            <a:noAutofit/>
          </a:bodyPr>
          <a:lstStyle/>
          <a:p>
            <a:pPr marL="0" indent="0" algn="l">
              <a:buNone/>
            </a:pPr>
            <a:r>
              <a:rPr lang="en-US" sz="1200" b="1" dirty="0">
                <a:solidFill>
                  <a:srgbClr val="102033"/>
                </a:solidFill>
                <a:latin typeface="Aptos" pitchFamily="34" charset="0"/>
                <a:ea typeface="Aptos" pitchFamily="34" charset="-122"/>
                <a:cs typeface="Aptos" pitchFamily="34" charset="-120"/>
              </a:rPr>
              <a:t>Privilege escalation</a:t>
            </a:r>
            <a:endParaRPr lang="en-US" sz="1200" dirty="0"/>
          </a:p>
        </p:txBody>
      </p:sp>
      <p:sp>
        <p:nvSpPr>
          <p:cNvPr id="41" name="Text 37"/>
          <p:cNvSpPr/>
          <p:nvPr/>
        </p:nvSpPr>
        <p:spPr>
          <a:xfrm>
            <a:off x="7699248" y="3611880"/>
            <a:ext cx="859536" cy="91440"/>
          </a:xfrm>
          <a:prstGeom prst="rect">
            <a:avLst/>
          </a:prstGeom>
          <a:noFill/>
          <a:ln/>
        </p:spPr>
        <p:txBody>
          <a:bodyPr wrap="square" lIns="0" tIns="0" rIns="0" bIns="0" rtlCol="0" anchor="t">
            <a:noAutofit/>
          </a:bodyPr>
          <a:lstStyle/>
          <a:p>
            <a:pPr marL="0" indent="0" algn="l">
              <a:buNone/>
            </a:pPr>
            <a:r>
              <a:rPr lang="en-US" sz="1200" b="1" dirty="0">
                <a:solidFill>
                  <a:srgbClr val="8B5CF6"/>
                </a:solidFill>
                <a:latin typeface="Aptos" pitchFamily="34" charset="0"/>
                <a:ea typeface="Aptos" pitchFamily="34" charset="-122"/>
                <a:cs typeface="Aptos" pitchFamily="34" charset="-120"/>
              </a:rPr>
              <a:t>ISO27001</a:t>
            </a:r>
            <a:endParaRPr lang="en-US" sz="1200" dirty="0"/>
          </a:p>
        </p:txBody>
      </p:sp>
      <p:sp>
        <p:nvSpPr>
          <p:cNvPr id="42" name="Text 38"/>
          <p:cNvSpPr/>
          <p:nvPr/>
        </p:nvSpPr>
        <p:spPr>
          <a:xfrm>
            <a:off x="8723376" y="3611880"/>
            <a:ext cx="1920240" cy="91440"/>
          </a:xfrm>
          <a:prstGeom prst="rect">
            <a:avLst/>
          </a:prstGeom>
          <a:noFill/>
          <a:ln/>
        </p:spPr>
        <p:txBody>
          <a:bodyPr wrap="square" lIns="0" tIns="0" rIns="0" bIns="0" rtlCol="0" anchor="t">
            <a:noAutofit/>
          </a:bodyPr>
          <a:lstStyle/>
          <a:p>
            <a:pPr marL="0" indent="0" algn="l">
              <a:buNone/>
            </a:pPr>
            <a:r>
              <a:rPr lang="en-US" sz="1200" dirty="0">
                <a:solidFill>
                  <a:srgbClr val="64748B"/>
                </a:solidFill>
                <a:latin typeface="Aptos" pitchFamily="34" charset="0"/>
                <a:ea typeface="Aptos" pitchFamily="34" charset="-122"/>
                <a:cs typeface="Aptos" pitchFamily="34" charset="-120"/>
              </a:rPr>
              <a:t>sudo, root, admin</a:t>
            </a:r>
            <a:endParaRPr lang="en-US" sz="1200" dirty="0"/>
          </a:p>
        </p:txBody>
      </p:sp>
      <p:sp>
        <p:nvSpPr>
          <p:cNvPr id="43" name="Shape 39"/>
          <p:cNvSpPr/>
          <p:nvPr/>
        </p:nvSpPr>
        <p:spPr>
          <a:xfrm>
            <a:off x="5230368" y="3968496"/>
            <a:ext cx="5687568" cy="384048"/>
          </a:xfrm>
          <a:prstGeom prst="roundRect">
            <a:avLst>
              <a:gd name="adj" fmla="val 14286"/>
            </a:avLst>
          </a:prstGeom>
          <a:solidFill>
            <a:srgbClr val="FFFFFF">
              <a:alpha val="94000"/>
            </a:srgbClr>
          </a:solidFill>
          <a:ln w="6350">
            <a:solidFill>
              <a:srgbClr val="D7E7F0">
                <a:alpha val="55000"/>
              </a:srgbClr>
            </a:solidFill>
            <a:prstDash val="solid"/>
          </a:ln>
        </p:spPr>
      </p:sp>
      <p:sp>
        <p:nvSpPr>
          <p:cNvPr id="44" name="Shape 40"/>
          <p:cNvSpPr/>
          <p:nvPr/>
        </p:nvSpPr>
        <p:spPr>
          <a:xfrm>
            <a:off x="5376672" y="4069080"/>
            <a:ext cx="164592" cy="164592"/>
          </a:xfrm>
          <a:prstGeom prst="ellipse">
            <a:avLst/>
          </a:prstGeom>
          <a:solidFill>
            <a:srgbClr val="F59E0B"/>
          </a:solidFill>
          <a:ln w="12700">
            <a:solidFill>
              <a:srgbClr val="F59E0B"/>
            </a:solidFill>
            <a:prstDash val="solid"/>
          </a:ln>
        </p:spPr>
      </p:sp>
      <p:sp>
        <p:nvSpPr>
          <p:cNvPr id="45" name="Text 41"/>
          <p:cNvSpPr/>
          <p:nvPr/>
        </p:nvSpPr>
        <p:spPr>
          <a:xfrm>
            <a:off x="5632704" y="4069080"/>
            <a:ext cx="1901952" cy="91440"/>
          </a:xfrm>
          <a:prstGeom prst="rect">
            <a:avLst/>
          </a:prstGeom>
          <a:noFill/>
          <a:ln/>
        </p:spPr>
        <p:txBody>
          <a:bodyPr wrap="square" lIns="0" tIns="0" rIns="0" bIns="0" rtlCol="0" anchor="t">
            <a:noAutofit/>
          </a:bodyPr>
          <a:lstStyle/>
          <a:p>
            <a:pPr marL="0" indent="0" algn="l">
              <a:buNone/>
            </a:pPr>
            <a:r>
              <a:rPr lang="en-US" sz="1200" b="1" dirty="0">
                <a:solidFill>
                  <a:srgbClr val="102033"/>
                </a:solidFill>
                <a:latin typeface="Aptos" pitchFamily="34" charset="0"/>
                <a:ea typeface="Aptos" pitchFamily="34" charset="-122"/>
                <a:cs typeface="Aptos" pitchFamily="34" charset="-120"/>
              </a:rPr>
              <a:t>Certificate errors</a:t>
            </a:r>
            <a:endParaRPr lang="en-US" sz="1200" dirty="0"/>
          </a:p>
        </p:txBody>
      </p:sp>
      <p:sp>
        <p:nvSpPr>
          <p:cNvPr id="46" name="Text 42"/>
          <p:cNvSpPr/>
          <p:nvPr/>
        </p:nvSpPr>
        <p:spPr>
          <a:xfrm>
            <a:off x="7699248" y="4069080"/>
            <a:ext cx="859536" cy="91440"/>
          </a:xfrm>
          <a:prstGeom prst="rect">
            <a:avLst/>
          </a:prstGeom>
          <a:noFill/>
          <a:ln/>
        </p:spPr>
        <p:txBody>
          <a:bodyPr wrap="square" lIns="0" tIns="0" rIns="0" bIns="0" rtlCol="0" anchor="t">
            <a:noAutofit/>
          </a:bodyPr>
          <a:lstStyle/>
          <a:p>
            <a:pPr marL="0" indent="0" algn="l">
              <a:buNone/>
            </a:pPr>
            <a:r>
              <a:rPr lang="en-US" sz="1200" b="1" dirty="0">
                <a:solidFill>
                  <a:srgbClr val="F59E0B"/>
                </a:solidFill>
                <a:latin typeface="Aptos" pitchFamily="34" charset="0"/>
                <a:ea typeface="Aptos" pitchFamily="34" charset="-122"/>
                <a:cs typeface="Aptos" pitchFamily="34" charset="-120"/>
              </a:rPr>
              <a:t>PCI-DSS</a:t>
            </a:r>
            <a:endParaRPr lang="en-US" sz="1200" dirty="0"/>
          </a:p>
        </p:txBody>
      </p:sp>
      <p:sp>
        <p:nvSpPr>
          <p:cNvPr id="47" name="Text 43"/>
          <p:cNvSpPr/>
          <p:nvPr/>
        </p:nvSpPr>
        <p:spPr>
          <a:xfrm>
            <a:off x="8723376" y="4069080"/>
            <a:ext cx="1920240" cy="91440"/>
          </a:xfrm>
          <a:prstGeom prst="rect">
            <a:avLst/>
          </a:prstGeom>
          <a:noFill/>
          <a:ln/>
        </p:spPr>
        <p:txBody>
          <a:bodyPr wrap="square" lIns="0" tIns="0" rIns="0" bIns="0" rtlCol="0" anchor="t">
            <a:noAutofit/>
          </a:bodyPr>
          <a:lstStyle/>
          <a:p>
            <a:pPr marL="0" indent="0" algn="l">
              <a:buNone/>
            </a:pPr>
            <a:r>
              <a:rPr lang="en-US" sz="1200" dirty="0">
                <a:solidFill>
                  <a:srgbClr val="64748B"/>
                </a:solidFill>
                <a:latin typeface="Aptos" pitchFamily="34" charset="0"/>
                <a:ea typeface="Aptos" pitchFamily="34" charset="-122"/>
                <a:cs typeface="Aptos" pitchFamily="34" charset="-120"/>
              </a:rPr>
              <a:t>expired or invalid SSL/TLS</a:t>
            </a:r>
            <a:endParaRPr lang="en-US" sz="1200" dirty="0"/>
          </a:p>
        </p:txBody>
      </p:sp>
      <p:sp>
        <p:nvSpPr>
          <p:cNvPr id="48" name="Shape 44"/>
          <p:cNvSpPr/>
          <p:nvPr/>
        </p:nvSpPr>
        <p:spPr>
          <a:xfrm>
            <a:off x="5230368" y="4425696"/>
            <a:ext cx="5687568" cy="384048"/>
          </a:xfrm>
          <a:prstGeom prst="roundRect">
            <a:avLst>
              <a:gd name="adj" fmla="val 14286"/>
            </a:avLst>
          </a:prstGeom>
          <a:solidFill>
            <a:srgbClr val="F8FBFD">
              <a:alpha val="94000"/>
            </a:srgbClr>
          </a:solidFill>
          <a:ln w="6350">
            <a:solidFill>
              <a:srgbClr val="D7E7F0">
                <a:alpha val="55000"/>
              </a:srgbClr>
            </a:solidFill>
            <a:prstDash val="solid"/>
          </a:ln>
        </p:spPr>
      </p:sp>
      <p:sp>
        <p:nvSpPr>
          <p:cNvPr id="49" name="Shape 45"/>
          <p:cNvSpPr/>
          <p:nvPr/>
        </p:nvSpPr>
        <p:spPr>
          <a:xfrm>
            <a:off x="5376672" y="4526280"/>
            <a:ext cx="164592" cy="164592"/>
          </a:xfrm>
          <a:prstGeom prst="ellipse">
            <a:avLst/>
          </a:prstGeom>
          <a:solidFill>
            <a:srgbClr val="10B981"/>
          </a:solidFill>
          <a:ln w="12700">
            <a:solidFill>
              <a:srgbClr val="10B981"/>
            </a:solidFill>
            <a:prstDash val="solid"/>
          </a:ln>
        </p:spPr>
      </p:sp>
      <p:sp>
        <p:nvSpPr>
          <p:cNvPr id="50" name="Text 46"/>
          <p:cNvSpPr/>
          <p:nvPr/>
        </p:nvSpPr>
        <p:spPr>
          <a:xfrm>
            <a:off x="5632704" y="4526280"/>
            <a:ext cx="1901952" cy="91440"/>
          </a:xfrm>
          <a:prstGeom prst="rect">
            <a:avLst/>
          </a:prstGeom>
          <a:noFill/>
          <a:ln/>
        </p:spPr>
        <p:txBody>
          <a:bodyPr wrap="square" lIns="0" tIns="0" rIns="0" bIns="0" rtlCol="0" anchor="t">
            <a:noAutofit/>
          </a:bodyPr>
          <a:lstStyle/>
          <a:p>
            <a:pPr marL="0" indent="0" algn="l">
              <a:buNone/>
            </a:pPr>
            <a:r>
              <a:rPr lang="en-US" sz="1200" b="1" dirty="0">
                <a:solidFill>
                  <a:srgbClr val="102033"/>
                </a:solidFill>
                <a:latin typeface="Aptos" pitchFamily="34" charset="0"/>
                <a:ea typeface="Aptos" pitchFamily="34" charset="-122"/>
                <a:cs typeface="Aptos" pitchFamily="34" charset="-120"/>
              </a:rPr>
              <a:t>Debug data exposure</a:t>
            </a:r>
            <a:endParaRPr lang="en-US" sz="1200" dirty="0"/>
          </a:p>
        </p:txBody>
      </p:sp>
      <p:sp>
        <p:nvSpPr>
          <p:cNvPr id="51" name="Text 47"/>
          <p:cNvSpPr/>
          <p:nvPr/>
        </p:nvSpPr>
        <p:spPr>
          <a:xfrm>
            <a:off x="7699248" y="4526280"/>
            <a:ext cx="859536" cy="91440"/>
          </a:xfrm>
          <a:prstGeom prst="rect">
            <a:avLst/>
          </a:prstGeom>
          <a:noFill/>
          <a:ln/>
        </p:spPr>
        <p:txBody>
          <a:bodyPr wrap="square" lIns="0" tIns="0" rIns="0" bIns="0" rtlCol="0" anchor="t">
            <a:noAutofit/>
          </a:bodyPr>
          <a:lstStyle/>
          <a:p>
            <a:pPr marL="0" indent="0" algn="l">
              <a:buNone/>
            </a:pPr>
            <a:r>
              <a:rPr lang="en-US" sz="1200" b="1" dirty="0">
                <a:solidFill>
                  <a:srgbClr val="10B981"/>
                </a:solidFill>
                <a:latin typeface="Aptos" pitchFamily="34" charset="0"/>
                <a:ea typeface="Aptos" pitchFamily="34" charset="-122"/>
                <a:cs typeface="Aptos" pitchFamily="34" charset="-120"/>
              </a:rPr>
              <a:t>OWASP</a:t>
            </a:r>
            <a:endParaRPr lang="en-US" sz="1200" dirty="0"/>
          </a:p>
        </p:txBody>
      </p:sp>
      <p:sp>
        <p:nvSpPr>
          <p:cNvPr id="52" name="Text 48"/>
          <p:cNvSpPr/>
          <p:nvPr/>
        </p:nvSpPr>
        <p:spPr>
          <a:xfrm>
            <a:off x="8723376" y="4526280"/>
            <a:ext cx="1920240" cy="91440"/>
          </a:xfrm>
          <a:prstGeom prst="rect">
            <a:avLst/>
          </a:prstGeom>
          <a:noFill/>
          <a:ln/>
        </p:spPr>
        <p:txBody>
          <a:bodyPr wrap="square" lIns="0" tIns="0" rIns="0" bIns="0" rtlCol="0" anchor="t">
            <a:noAutofit/>
          </a:bodyPr>
          <a:lstStyle/>
          <a:p>
            <a:pPr marL="0" indent="0" algn="l">
              <a:buNone/>
            </a:pPr>
            <a:r>
              <a:rPr lang="en-US" sz="1200" dirty="0">
                <a:solidFill>
                  <a:srgbClr val="64748B"/>
                </a:solidFill>
                <a:latin typeface="Aptos" pitchFamily="34" charset="0"/>
                <a:ea typeface="Aptos" pitchFamily="34" charset="-122"/>
                <a:cs typeface="Aptos" pitchFamily="34" charset="-120"/>
              </a:rPr>
              <a:t>stack traces in production</a:t>
            </a:r>
            <a:endParaRPr lang="en-US" sz="1200" dirty="0"/>
          </a:p>
        </p:txBody>
      </p:sp>
      <p:sp>
        <p:nvSpPr>
          <p:cNvPr id="53" name="Shape 49"/>
          <p:cNvSpPr/>
          <p:nvPr/>
        </p:nvSpPr>
        <p:spPr>
          <a:xfrm>
            <a:off x="5230368" y="4882896"/>
            <a:ext cx="5687568" cy="384048"/>
          </a:xfrm>
          <a:prstGeom prst="roundRect">
            <a:avLst>
              <a:gd name="adj" fmla="val 14286"/>
            </a:avLst>
          </a:prstGeom>
          <a:solidFill>
            <a:srgbClr val="FFFFFF">
              <a:alpha val="94000"/>
            </a:srgbClr>
          </a:solidFill>
          <a:ln w="6350">
            <a:solidFill>
              <a:srgbClr val="D7E7F0">
                <a:alpha val="55000"/>
              </a:srgbClr>
            </a:solidFill>
            <a:prstDash val="solid"/>
          </a:ln>
        </p:spPr>
      </p:sp>
      <p:sp>
        <p:nvSpPr>
          <p:cNvPr id="54" name="Shape 50"/>
          <p:cNvSpPr/>
          <p:nvPr/>
        </p:nvSpPr>
        <p:spPr>
          <a:xfrm>
            <a:off x="5376672" y="4983480"/>
            <a:ext cx="164592" cy="164592"/>
          </a:xfrm>
          <a:prstGeom prst="ellipse">
            <a:avLst/>
          </a:prstGeom>
          <a:solidFill>
            <a:srgbClr val="00A8C8"/>
          </a:solidFill>
          <a:ln w="12700">
            <a:solidFill>
              <a:srgbClr val="00A8C8"/>
            </a:solidFill>
            <a:prstDash val="solid"/>
          </a:ln>
        </p:spPr>
      </p:sp>
      <p:sp>
        <p:nvSpPr>
          <p:cNvPr id="55" name="Text 51"/>
          <p:cNvSpPr/>
          <p:nvPr/>
        </p:nvSpPr>
        <p:spPr>
          <a:xfrm>
            <a:off x="5632704" y="4983480"/>
            <a:ext cx="1901952" cy="91440"/>
          </a:xfrm>
          <a:prstGeom prst="rect">
            <a:avLst/>
          </a:prstGeom>
          <a:noFill/>
          <a:ln/>
        </p:spPr>
        <p:txBody>
          <a:bodyPr wrap="square" lIns="0" tIns="0" rIns="0" bIns="0" rtlCol="0" anchor="t">
            <a:noAutofit/>
          </a:bodyPr>
          <a:lstStyle/>
          <a:p>
            <a:pPr marL="0" indent="0" algn="l">
              <a:buNone/>
            </a:pPr>
            <a:r>
              <a:rPr lang="en-US" sz="1200" b="1" dirty="0">
                <a:solidFill>
                  <a:srgbClr val="102033"/>
                </a:solidFill>
                <a:latin typeface="Aptos" pitchFamily="34" charset="0"/>
                <a:ea typeface="Aptos" pitchFamily="34" charset="-122"/>
                <a:cs typeface="Aptos" pitchFamily="34" charset="-120"/>
              </a:rPr>
              <a:t>Service accounts</a:t>
            </a:r>
            <a:endParaRPr lang="en-US" sz="1200" dirty="0"/>
          </a:p>
        </p:txBody>
      </p:sp>
      <p:sp>
        <p:nvSpPr>
          <p:cNvPr id="56" name="Text 52"/>
          <p:cNvSpPr/>
          <p:nvPr/>
        </p:nvSpPr>
        <p:spPr>
          <a:xfrm>
            <a:off x="7699248" y="4983480"/>
            <a:ext cx="859536" cy="91440"/>
          </a:xfrm>
          <a:prstGeom prst="rect">
            <a:avLst/>
          </a:prstGeom>
          <a:noFill/>
          <a:ln/>
        </p:spPr>
        <p:txBody>
          <a:bodyPr wrap="square" lIns="0" tIns="0" rIns="0" bIns="0" rtlCol="0" anchor="t">
            <a:noAutofit/>
          </a:bodyPr>
          <a:lstStyle/>
          <a:p>
            <a:pPr marL="0" indent="0" algn="l">
              <a:buNone/>
            </a:pPr>
            <a:r>
              <a:rPr lang="en-US" sz="1200" b="1" dirty="0">
                <a:solidFill>
                  <a:srgbClr val="00A8C8"/>
                </a:solidFill>
                <a:latin typeface="Aptos" pitchFamily="34" charset="0"/>
                <a:ea typeface="Aptos" pitchFamily="34" charset="-122"/>
                <a:cs typeface="Aptos" pitchFamily="34" charset="-120"/>
              </a:rPr>
              <a:t>SOC2</a:t>
            </a:r>
            <a:endParaRPr lang="en-US" sz="1200" dirty="0"/>
          </a:p>
        </p:txBody>
      </p:sp>
      <p:sp>
        <p:nvSpPr>
          <p:cNvPr id="57" name="Text 53"/>
          <p:cNvSpPr/>
          <p:nvPr/>
        </p:nvSpPr>
        <p:spPr>
          <a:xfrm>
            <a:off x="8723376" y="4983480"/>
            <a:ext cx="1920240" cy="91440"/>
          </a:xfrm>
          <a:prstGeom prst="rect">
            <a:avLst/>
          </a:prstGeom>
          <a:noFill/>
          <a:ln/>
        </p:spPr>
        <p:txBody>
          <a:bodyPr wrap="square" lIns="0" tIns="0" rIns="0" bIns="0" rtlCol="0" anchor="t">
            <a:noAutofit/>
          </a:bodyPr>
          <a:lstStyle/>
          <a:p>
            <a:pPr marL="0" indent="0" algn="l">
              <a:buNone/>
            </a:pPr>
            <a:r>
              <a:rPr lang="en-US" sz="1200" dirty="0">
                <a:solidFill>
                  <a:srgbClr val="64748B"/>
                </a:solidFill>
                <a:latin typeface="Aptos" pitchFamily="34" charset="0"/>
                <a:ea typeface="Aptos" pitchFamily="34" charset="-122"/>
                <a:cs typeface="Aptos" pitchFamily="34" charset="-120"/>
              </a:rPr>
              <a:t>failed system identity actions</a:t>
            </a:r>
            <a:endParaRPr lang="en-US" sz="1200" dirty="0"/>
          </a:p>
        </p:txBody>
      </p:sp>
      <p:sp>
        <p:nvSpPr>
          <p:cNvPr id="58" name="Shape 54"/>
          <p:cNvSpPr/>
          <p:nvPr/>
        </p:nvSpPr>
        <p:spPr>
          <a:xfrm>
            <a:off x="5230368" y="5394960"/>
            <a:ext cx="5687568" cy="310896"/>
          </a:xfrm>
          <a:prstGeom prst="roundRect">
            <a:avLst>
              <a:gd name="adj" fmla="val 38235"/>
            </a:avLst>
          </a:prstGeom>
          <a:solidFill>
            <a:srgbClr val="FFFFFF">
              <a:alpha val="82000"/>
            </a:srgbClr>
          </a:solidFill>
          <a:ln w="12700">
            <a:solidFill>
              <a:srgbClr val="FFFFFF">
                <a:alpha val="90000"/>
              </a:srgbClr>
            </a:solidFill>
            <a:prstDash val="solid"/>
          </a:ln>
          <a:effectLst>
            <a:outerShdw blurRad="76200" dist="25400" dir="2700000" algn="bl" rotWithShape="0">
              <a:srgbClr val="9AB2C3">
                <a:alpha val="13000"/>
              </a:srgbClr>
            </a:outerShdw>
          </a:effectLst>
        </p:spPr>
      </p:sp>
      <p:sp>
        <p:nvSpPr>
          <p:cNvPr id="59" name="Shape 55"/>
          <p:cNvSpPr/>
          <p:nvPr/>
        </p:nvSpPr>
        <p:spPr>
          <a:xfrm>
            <a:off x="5276088" y="5431536"/>
            <a:ext cx="559612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60" name="Text 56"/>
          <p:cNvSpPr/>
          <p:nvPr/>
        </p:nvSpPr>
        <p:spPr>
          <a:xfrm>
            <a:off x="5504688" y="5495544"/>
            <a:ext cx="5138928" cy="91440"/>
          </a:xfrm>
          <a:prstGeom prst="rect">
            <a:avLst/>
          </a:prstGeom>
          <a:noFill/>
          <a:ln/>
        </p:spPr>
        <p:txBody>
          <a:bodyPr wrap="square" lIns="0" tIns="0" rIns="0" bIns="0" rtlCol="0" anchor="t">
            <a:no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Audit trail: session IDs + user identity + timestamps + action types</a:t>
            </a:r>
            <a:endParaRPr lang="en-US" sz="1200" dirty="0"/>
          </a:p>
        </p:txBody>
      </p:sp>
      <p:sp>
        <p:nvSpPr>
          <p:cNvPr id="63" name="Text 59"/>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07</a:t>
            </a:r>
            <a:endParaRPr lang="en-US" sz="780" dirty="0"/>
          </a:p>
        </p:txBody>
      </p:sp>
      <p:sp>
        <p:nvSpPr>
          <p:cNvPr id="64" name="Text 60"/>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DFF"/>
        </a:solidFill>
        <a:effectLst/>
      </p:bgPr>
    </p:bg>
    <p:spTree>
      <p:nvGrpSpPr>
        <p:cNvPr id="1" name=""/>
        <p:cNvGrpSpPr/>
        <p:nvPr/>
      </p:nvGrpSpPr>
      <p:grpSpPr>
        <a:xfrm>
          <a:off x="0" y="0"/>
          <a:ext cx="0" cy="0"/>
          <a:chOff x="0" y="0"/>
          <a:chExt cx="0" cy="0"/>
        </a:xfrm>
      </p:grpSpPr>
      <p:sp>
        <p:nvSpPr>
          <p:cNvPr id="66" name="Shape 25">
            <a:extLst>
              <a:ext uri="{FF2B5EF4-FFF2-40B4-BE49-F238E27FC236}">
                <a16:creationId xmlns:a16="http://schemas.microsoft.com/office/drawing/2014/main" id="{09F38CFB-E62C-0B0E-2559-442C43702F35}"/>
              </a:ext>
            </a:extLst>
          </p:cNvPr>
          <p:cNvSpPr/>
          <p:nvPr/>
        </p:nvSpPr>
        <p:spPr>
          <a:xfrm>
            <a:off x="4635573" y="5061204"/>
            <a:ext cx="2346960" cy="448056"/>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840" b="1" kern="0" spc="180" dirty="0">
                <a:solidFill>
                  <a:srgbClr val="00A8C8"/>
                </a:solidFill>
                <a:latin typeface="Aptos" pitchFamily="34" charset="0"/>
                <a:ea typeface="Aptos" pitchFamily="34" charset="-122"/>
                <a:cs typeface="Aptos" pitchFamily="34" charset="-120"/>
              </a:rPr>
              <a:t>TECH STACK</a:t>
            </a:r>
            <a:endParaRPr lang="en-US" sz="84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A compact, production-ready Python AI system</a:t>
            </a:r>
            <a:endParaRPr lang="en-US" sz="2650" dirty="0"/>
          </a:p>
        </p:txBody>
      </p:sp>
      <p:sp>
        <p:nvSpPr>
          <p:cNvPr id="5" name="Text 2"/>
          <p:cNvSpPr/>
          <p:nvPr/>
        </p:nvSpPr>
        <p:spPr>
          <a:xfrm>
            <a:off x="658368" y="1371600"/>
            <a:ext cx="7680960" cy="329184"/>
          </a:xfrm>
          <a:prstGeom prst="rect">
            <a:avLst/>
          </a:prstGeom>
          <a:noFill/>
          <a:ln/>
        </p:spPr>
        <p:txBody>
          <a:bodyPr wrap="square" lIns="0" tIns="0" rIns="0" bIns="0" rtlCol="0" anchor="t">
            <a:normAutofit/>
          </a:bodyPr>
          <a:lstStyle/>
          <a:p>
            <a:pPr marL="0" indent="0" algn="l">
              <a:buNone/>
            </a:pPr>
            <a:r>
              <a:rPr lang="en-US" sz="1040" dirty="0">
                <a:solidFill>
                  <a:srgbClr val="64748B"/>
                </a:solidFill>
                <a:latin typeface="Aptos" pitchFamily="34" charset="0"/>
                <a:ea typeface="Aptos" pitchFamily="34" charset="-122"/>
                <a:cs typeface="Aptos" pitchFamily="34" charset="-120"/>
              </a:rPr>
              <a:t>16 packages, about 2500 LOC, 25 source files, and Python 3.10+.</a:t>
            </a:r>
            <a:endParaRPr lang="en-US" sz="1040" dirty="0"/>
          </a:p>
        </p:txBody>
      </p:sp>
      <p:sp>
        <p:nvSpPr>
          <p:cNvPr id="6" name="Shape 3"/>
          <p:cNvSpPr/>
          <p:nvPr/>
        </p:nvSpPr>
        <p:spPr>
          <a:xfrm>
            <a:off x="834717" y="2073402"/>
            <a:ext cx="10497312" cy="3662172"/>
          </a:xfrm>
          <a:prstGeom prst="roundRect">
            <a:avLst>
              <a:gd name="adj" fmla="val 3023"/>
            </a:avLst>
          </a:prstGeom>
          <a:solidFill>
            <a:srgbClr val="FFFFFF">
              <a:alpha val="87000"/>
            </a:srgbClr>
          </a:solidFill>
          <a:ln w="12700">
            <a:solidFill>
              <a:srgbClr val="FFFFFF">
                <a:alpha val="90000"/>
              </a:srgbClr>
            </a:solidFill>
            <a:prstDash val="solid"/>
          </a:ln>
          <a:effectLst>
            <a:outerShdw blurRad="203200" dist="25400" dir="2700000" algn="bl" rotWithShape="0">
              <a:srgbClr val="9AB2C3">
                <a:alpha val="13000"/>
              </a:srgbClr>
            </a:outerShdw>
          </a:effectLst>
        </p:spPr>
      </p:sp>
      <p:sp>
        <p:nvSpPr>
          <p:cNvPr id="7" name="Shape 4"/>
          <p:cNvSpPr/>
          <p:nvPr/>
        </p:nvSpPr>
        <p:spPr>
          <a:xfrm>
            <a:off x="880437" y="2109978"/>
            <a:ext cx="1049731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8" name="Shape 5"/>
          <p:cNvSpPr/>
          <p:nvPr/>
        </p:nvSpPr>
        <p:spPr>
          <a:xfrm>
            <a:off x="1109037" y="2347722"/>
            <a:ext cx="4590288" cy="658368"/>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9" name="Shape 6"/>
          <p:cNvSpPr/>
          <p:nvPr/>
        </p:nvSpPr>
        <p:spPr>
          <a:xfrm>
            <a:off x="1154757" y="2384298"/>
            <a:ext cx="449884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0" name="Shape 7"/>
          <p:cNvSpPr/>
          <p:nvPr/>
        </p:nvSpPr>
        <p:spPr>
          <a:xfrm>
            <a:off x="1255341" y="2503170"/>
            <a:ext cx="347472" cy="34747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11" name="Image 1" descr="code icon"/>
          <p:cNvPicPr>
            <a:picLocks noChangeAspect="1"/>
          </p:cNvPicPr>
          <p:nvPr/>
        </p:nvPicPr>
        <p:blipFill>
          <a:blip r:embed="rId4"/>
          <a:stretch>
            <a:fillRect/>
          </a:stretch>
        </p:blipFill>
        <p:spPr>
          <a:xfrm>
            <a:off x="1292161" y="2450958"/>
            <a:ext cx="316748" cy="316748"/>
          </a:xfrm>
          <a:prstGeom prst="rect">
            <a:avLst/>
          </a:prstGeom>
        </p:spPr>
      </p:pic>
      <p:sp>
        <p:nvSpPr>
          <p:cNvPr id="12" name="Text 8"/>
          <p:cNvSpPr/>
          <p:nvPr/>
        </p:nvSpPr>
        <p:spPr>
          <a:xfrm>
            <a:off x="1730828" y="2484882"/>
            <a:ext cx="1145053" cy="356616"/>
          </a:xfrm>
          <a:prstGeom prst="rect">
            <a:avLst/>
          </a:prstGeom>
          <a:noFill/>
          <a:ln/>
        </p:spPr>
        <p:txBody>
          <a:bodyPr wrap="square" lIns="0" tIns="0" rIns="0" bIns="0" rtlCol="0" anchor="t">
            <a:normAutofit/>
          </a:bodyPr>
          <a:lstStyle/>
          <a:p>
            <a:pPr marL="0" indent="0" algn="l">
              <a:buNone/>
            </a:pPr>
            <a:r>
              <a:rPr lang="en-US" sz="1600" b="1" dirty="0">
                <a:solidFill>
                  <a:srgbClr val="102033"/>
                </a:solidFill>
                <a:latin typeface="Aptos" pitchFamily="34" charset="0"/>
                <a:ea typeface="Aptos" pitchFamily="34" charset="-122"/>
                <a:cs typeface="Aptos" pitchFamily="34" charset="-120"/>
              </a:rPr>
              <a:t>Frontend</a:t>
            </a:r>
            <a:endParaRPr lang="en-US" sz="1600" dirty="0"/>
          </a:p>
        </p:txBody>
      </p:sp>
      <p:sp>
        <p:nvSpPr>
          <p:cNvPr id="13" name="Text 9"/>
          <p:cNvSpPr/>
          <p:nvPr/>
        </p:nvSpPr>
        <p:spPr>
          <a:xfrm>
            <a:off x="2736668" y="2494026"/>
            <a:ext cx="3267458" cy="416052"/>
          </a:xfrm>
          <a:prstGeom prst="rect">
            <a:avLst/>
          </a:prstGeom>
          <a:noFill/>
          <a:ln/>
        </p:spPr>
        <p:txBody>
          <a:bodyPr wrap="square" lIns="0" tIns="0" rIns="0" bIns="0" rtlCol="0" anchor="t">
            <a:noAutofit/>
          </a:bodyPr>
          <a:lstStyle/>
          <a:p>
            <a:pPr marL="0" indent="0" algn="l">
              <a:buNone/>
            </a:pPr>
            <a:r>
              <a:rPr lang="en-US" sz="1200" dirty="0">
                <a:solidFill>
                  <a:srgbClr val="334155"/>
                </a:solidFill>
                <a:latin typeface="Aptos" pitchFamily="34" charset="0"/>
                <a:ea typeface="Aptos" pitchFamily="34" charset="-122"/>
                <a:cs typeface="Aptos" pitchFamily="34" charset="-120"/>
              </a:rPr>
              <a:t>Vanilla JS, HTML, CSS, Vanta.js, AOS, Typed.js</a:t>
            </a:r>
            <a:endParaRPr lang="en-US" sz="1200" dirty="0"/>
          </a:p>
        </p:txBody>
      </p:sp>
      <p:sp>
        <p:nvSpPr>
          <p:cNvPr id="14" name="Shape 10"/>
          <p:cNvSpPr/>
          <p:nvPr/>
        </p:nvSpPr>
        <p:spPr>
          <a:xfrm>
            <a:off x="6247965" y="2347722"/>
            <a:ext cx="4590288" cy="658368"/>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15" name="Shape 11"/>
          <p:cNvSpPr/>
          <p:nvPr/>
        </p:nvSpPr>
        <p:spPr>
          <a:xfrm>
            <a:off x="6293685" y="2384298"/>
            <a:ext cx="449884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6" name="Shape 12"/>
          <p:cNvSpPr/>
          <p:nvPr/>
        </p:nvSpPr>
        <p:spPr>
          <a:xfrm>
            <a:off x="6394269" y="2503170"/>
            <a:ext cx="347472" cy="34747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17" name="Image 2" descr="server icon"/>
          <p:cNvPicPr>
            <a:picLocks noChangeAspect="1"/>
          </p:cNvPicPr>
          <p:nvPr/>
        </p:nvPicPr>
        <p:blipFill>
          <a:blip r:embed="rId5"/>
          <a:stretch>
            <a:fillRect/>
          </a:stretch>
        </p:blipFill>
        <p:spPr>
          <a:xfrm>
            <a:off x="6470713" y="2579614"/>
            <a:ext cx="194584" cy="194584"/>
          </a:xfrm>
          <a:prstGeom prst="rect">
            <a:avLst/>
          </a:prstGeom>
        </p:spPr>
      </p:pic>
      <p:sp>
        <p:nvSpPr>
          <p:cNvPr id="18" name="Text 13"/>
          <p:cNvSpPr/>
          <p:nvPr/>
        </p:nvSpPr>
        <p:spPr>
          <a:xfrm>
            <a:off x="6869757" y="2484882"/>
            <a:ext cx="960120" cy="128016"/>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Backend</a:t>
            </a:r>
            <a:endParaRPr lang="en-US" sz="1600" dirty="0"/>
          </a:p>
        </p:txBody>
      </p:sp>
      <p:sp>
        <p:nvSpPr>
          <p:cNvPr id="19" name="Text 14"/>
          <p:cNvSpPr/>
          <p:nvPr/>
        </p:nvSpPr>
        <p:spPr>
          <a:xfrm>
            <a:off x="7875597" y="2494026"/>
            <a:ext cx="2688336" cy="219456"/>
          </a:xfrm>
          <a:prstGeom prst="rect">
            <a:avLst/>
          </a:prstGeom>
          <a:noFill/>
          <a:ln/>
        </p:spPr>
        <p:txBody>
          <a:bodyPr wrap="square" lIns="0" tIns="0" rIns="0" bIns="0" rtlCol="0" anchor="t">
            <a:normAutofit/>
          </a:bodyPr>
          <a:lstStyle/>
          <a:p>
            <a:pPr marL="0" indent="0" algn="l">
              <a:buNone/>
            </a:pPr>
            <a:r>
              <a:rPr lang="en-US" sz="1200" dirty="0">
                <a:solidFill>
                  <a:srgbClr val="334155"/>
                </a:solidFill>
                <a:latin typeface="Aptos" pitchFamily="34" charset="0"/>
                <a:ea typeface="Aptos" pitchFamily="34" charset="-122"/>
                <a:cs typeface="Aptos" pitchFamily="34" charset="-120"/>
              </a:rPr>
              <a:t>FastAPI, Uvicorn, Pydantic v2, aiofiles</a:t>
            </a:r>
            <a:endParaRPr lang="en-US" sz="1200" dirty="0"/>
          </a:p>
        </p:txBody>
      </p:sp>
      <p:sp>
        <p:nvSpPr>
          <p:cNvPr id="20" name="Shape 15"/>
          <p:cNvSpPr/>
          <p:nvPr/>
        </p:nvSpPr>
        <p:spPr>
          <a:xfrm>
            <a:off x="1109037" y="3188970"/>
            <a:ext cx="4590288" cy="658368"/>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21" name="Shape 16"/>
          <p:cNvSpPr/>
          <p:nvPr/>
        </p:nvSpPr>
        <p:spPr>
          <a:xfrm>
            <a:off x="1154757" y="3225546"/>
            <a:ext cx="449884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2" name="Shape 17"/>
          <p:cNvSpPr/>
          <p:nvPr/>
        </p:nvSpPr>
        <p:spPr>
          <a:xfrm>
            <a:off x="1255341" y="3344418"/>
            <a:ext cx="347472" cy="34747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23" name="Image 3" descr="brain icon"/>
          <p:cNvPicPr>
            <a:picLocks noChangeAspect="1"/>
          </p:cNvPicPr>
          <p:nvPr/>
        </p:nvPicPr>
        <p:blipFill>
          <a:blip r:embed="rId6"/>
          <a:stretch>
            <a:fillRect/>
          </a:stretch>
        </p:blipFill>
        <p:spPr>
          <a:xfrm>
            <a:off x="1331785" y="3420862"/>
            <a:ext cx="194584" cy="194584"/>
          </a:xfrm>
          <a:prstGeom prst="rect">
            <a:avLst/>
          </a:prstGeom>
        </p:spPr>
      </p:pic>
      <p:sp>
        <p:nvSpPr>
          <p:cNvPr id="24" name="Text 18"/>
          <p:cNvSpPr/>
          <p:nvPr/>
        </p:nvSpPr>
        <p:spPr>
          <a:xfrm>
            <a:off x="1730829" y="3326130"/>
            <a:ext cx="960120" cy="128016"/>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AI / LLM</a:t>
            </a:r>
            <a:endParaRPr lang="en-US" sz="1600" dirty="0"/>
          </a:p>
        </p:txBody>
      </p:sp>
      <p:sp>
        <p:nvSpPr>
          <p:cNvPr id="25" name="Text 19"/>
          <p:cNvSpPr/>
          <p:nvPr/>
        </p:nvSpPr>
        <p:spPr>
          <a:xfrm>
            <a:off x="2736669" y="3335274"/>
            <a:ext cx="2688336" cy="219456"/>
          </a:xfrm>
          <a:prstGeom prst="rect">
            <a:avLst/>
          </a:prstGeom>
          <a:noFill/>
          <a:ln/>
        </p:spPr>
        <p:txBody>
          <a:bodyPr wrap="square" lIns="0" tIns="0" rIns="0" bIns="0" rtlCol="0" anchor="t">
            <a:noAutofit/>
          </a:bodyPr>
          <a:lstStyle/>
          <a:p>
            <a:pPr marL="0" indent="0" algn="l">
              <a:buNone/>
            </a:pPr>
            <a:r>
              <a:rPr lang="en-US" sz="1200" dirty="0">
                <a:solidFill>
                  <a:srgbClr val="334155"/>
                </a:solidFill>
                <a:latin typeface="Aptos" pitchFamily="34" charset="0"/>
                <a:ea typeface="Aptos" pitchFamily="34" charset="-122"/>
                <a:cs typeface="Aptos" pitchFamily="34" charset="-120"/>
              </a:rPr>
              <a:t>Google Gemini 3.1 Flash Lite, google-genai SDK</a:t>
            </a:r>
            <a:endParaRPr lang="en-US" sz="1200" dirty="0"/>
          </a:p>
        </p:txBody>
      </p:sp>
      <p:sp>
        <p:nvSpPr>
          <p:cNvPr id="26" name="Shape 20"/>
          <p:cNvSpPr/>
          <p:nvPr/>
        </p:nvSpPr>
        <p:spPr>
          <a:xfrm>
            <a:off x="6247965" y="3188970"/>
            <a:ext cx="4590288" cy="658368"/>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27" name="Shape 21"/>
          <p:cNvSpPr/>
          <p:nvPr/>
        </p:nvSpPr>
        <p:spPr>
          <a:xfrm>
            <a:off x="6293685" y="3225546"/>
            <a:ext cx="449884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8" name="Shape 22"/>
          <p:cNvSpPr/>
          <p:nvPr/>
        </p:nvSpPr>
        <p:spPr>
          <a:xfrm>
            <a:off x="6394269" y="3344418"/>
            <a:ext cx="347472" cy="34747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29" name="Image 4" descr="flow icon"/>
          <p:cNvPicPr>
            <a:picLocks noChangeAspect="1"/>
          </p:cNvPicPr>
          <p:nvPr/>
        </p:nvPicPr>
        <p:blipFill>
          <a:blip r:embed="rId7"/>
          <a:stretch>
            <a:fillRect/>
          </a:stretch>
        </p:blipFill>
        <p:spPr>
          <a:xfrm>
            <a:off x="6470713" y="3420862"/>
            <a:ext cx="194584" cy="194584"/>
          </a:xfrm>
          <a:prstGeom prst="rect">
            <a:avLst/>
          </a:prstGeom>
        </p:spPr>
      </p:pic>
      <p:sp>
        <p:nvSpPr>
          <p:cNvPr id="30" name="Text 23"/>
          <p:cNvSpPr/>
          <p:nvPr/>
        </p:nvSpPr>
        <p:spPr>
          <a:xfrm>
            <a:off x="6869757" y="3326130"/>
            <a:ext cx="960120" cy="128016"/>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Protocol</a:t>
            </a:r>
            <a:endParaRPr lang="en-US" sz="1600" dirty="0"/>
          </a:p>
        </p:txBody>
      </p:sp>
      <p:sp>
        <p:nvSpPr>
          <p:cNvPr id="31" name="Text 24"/>
          <p:cNvSpPr/>
          <p:nvPr/>
        </p:nvSpPr>
        <p:spPr>
          <a:xfrm>
            <a:off x="7875597" y="3335274"/>
            <a:ext cx="2688336" cy="219456"/>
          </a:xfrm>
          <a:prstGeom prst="rect">
            <a:avLst/>
          </a:prstGeom>
          <a:noFill/>
          <a:ln/>
        </p:spPr>
        <p:txBody>
          <a:bodyPr wrap="square" lIns="0" tIns="0" rIns="0" bIns="0" rtlCol="0" anchor="t">
            <a:normAutofit/>
          </a:bodyPr>
          <a:lstStyle/>
          <a:p>
            <a:pPr marL="0" indent="0" algn="l">
              <a:buNone/>
            </a:pPr>
            <a:r>
              <a:rPr lang="en-US" sz="1200" dirty="0">
                <a:solidFill>
                  <a:srgbClr val="334155"/>
                </a:solidFill>
                <a:latin typeface="Aptos" pitchFamily="34" charset="0"/>
                <a:ea typeface="Aptos" pitchFamily="34" charset="-122"/>
                <a:cs typeface="Aptos" pitchFamily="34" charset="-120"/>
              </a:rPr>
              <a:t>MCP, FastMCP 2.0, SSE transport</a:t>
            </a:r>
            <a:endParaRPr lang="en-US" sz="1200" dirty="0"/>
          </a:p>
        </p:txBody>
      </p:sp>
      <p:sp>
        <p:nvSpPr>
          <p:cNvPr id="32" name="Shape 25"/>
          <p:cNvSpPr/>
          <p:nvPr/>
        </p:nvSpPr>
        <p:spPr>
          <a:xfrm>
            <a:off x="1109037" y="4030218"/>
            <a:ext cx="4590288" cy="658368"/>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33" name="Shape 26"/>
          <p:cNvSpPr/>
          <p:nvPr/>
        </p:nvSpPr>
        <p:spPr>
          <a:xfrm>
            <a:off x="1154757" y="4066794"/>
            <a:ext cx="449884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4" name="Shape 27"/>
          <p:cNvSpPr/>
          <p:nvPr/>
        </p:nvSpPr>
        <p:spPr>
          <a:xfrm>
            <a:off x="1255341" y="4185666"/>
            <a:ext cx="347472" cy="34747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35" name="Image 5" descr="parser icon"/>
          <p:cNvPicPr>
            <a:picLocks noChangeAspect="1"/>
          </p:cNvPicPr>
          <p:nvPr/>
        </p:nvPicPr>
        <p:blipFill>
          <a:blip r:embed="rId8"/>
          <a:stretch>
            <a:fillRect/>
          </a:stretch>
        </p:blipFill>
        <p:spPr>
          <a:xfrm>
            <a:off x="1331785" y="4262110"/>
            <a:ext cx="194584" cy="194584"/>
          </a:xfrm>
          <a:prstGeom prst="rect">
            <a:avLst/>
          </a:prstGeom>
        </p:spPr>
      </p:pic>
      <p:sp>
        <p:nvSpPr>
          <p:cNvPr id="36" name="Text 28"/>
          <p:cNvSpPr/>
          <p:nvPr/>
        </p:nvSpPr>
        <p:spPr>
          <a:xfrm>
            <a:off x="1730829" y="4167378"/>
            <a:ext cx="960120" cy="128016"/>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Parsing</a:t>
            </a:r>
            <a:endParaRPr lang="en-US" sz="1600" dirty="0"/>
          </a:p>
        </p:txBody>
      </p:sp>
      <p:sp>
        <p:nvSpPr>
          <p:cNvPr id="37" name="Text 29"/>
          <p:cNvSpPr/>
          <p:nvPr/>
        </p:nvSpPr>
        <p:spPr>
          <a:xfrm>
            <a:off x="2736669" y="4176522"/>
            <a:ext cx="2688336" cy="219456"/>
          </a:xfrm>
          <a:prstGeom prst="rect">
            <a:avLst/>
          </a:prstGeom>
          <a:noFill/>
          <a:ln/>
        </p:spPr>
        <p:txBody>
          <a:bodyPr wrap="square" lIns="0" tIns="0" rIns="0" bIns="0" rtlCol="0" anchor="t">
            <a:normAutofit/>
          </a:bodyPr>
          <a:lstStyle/>
          <a:p>
            <a:pPr marL="0" indent="0" algn="l">
              <a:buNone/>
            </a:pPr>
            <a:r>
              <a:rPr lang="en-US" sz="1200" dirty="0">
                <a:solidFill>
                  <a:srgbClr val="334155"/>
                </a:solidFill>
                <a:latin typeface="Aptos" pitchFamily="34" charset="0"/>
                <a:ea typeface="Aptos" pitchFamily="34" charset="-122"/>
                <a:cs typeface="Aptos" pitchFamily="34" charset="-120"/>
              </a:rPr>
              <a:t>Drain3, PyGrok</a:t>
            </a:r>
            <a:endParaRPr lang="en-US" sz="1200" dirty="0"/>
          </a:p>
        </p:txBody>
      </p:sp>
      <p:sp>
        <p:nvSpPr>
          <p:cNvPr id="38" name="Shape 30"/>
          <p:cNvSpPr/>
          <p:nvPr/>
        </p:nvSpPr>
        <p:spPr>
          <a:xfrm>
            <a:off x="6247965" y="4030218"/>
            <a:ext cx="4590288" cy="658368"/>
          </a:xfrm>
          <a:prstGeom prst="roundRect">
            <a:avLst>
              <a:gd name="adj" fmla="val 18056"/>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39" name="Shape 31"/>
          <p:cNvSpPr/>
          <p:nvPr/>
        </p:nvSpPr>
        <p:spPr>
          <a:xfrm>
            <a:off x="6293685" y="4066794"/>
            <a:ext cx="449884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40" name="Shape 32"/>
          <p:cNvSpPr/>
          <p:nvPr/>
        </p:nvSpPr>
        <p:spPr>
          <a:xfrm>
            <a:off x="6394269" y="4185666"/>
            <a:ext cx="347472" cy="34747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41" name="Image 6" descr="spark icon"/>
          <p:cNvPicPr>
            <a:picLocks noChangeAspect="1"/>
          </p:cNvPicPr>
          <p:nvPr/>
        </p:nvPicPr>
        <p:blipFill>
          <a:blip r:embed="rId9"/>
          <a:stretch>
            <a:fillRect/>
          </a:stretch>
        </p:blipFill>
        <p:spPr>
          <a:xfrm>
            <a:off x="6470713" y="4262110"/>
            <a:ext cx="194584" cy="194584"/>
          </a:xfrm>
          <a:prstGeom prst="rect">
            <a:avLst/>
          </a:prstGeom>
        </p:spPr>
      </p:pic>
      <p:sp>
        <p:nvSpPr>
          <p:cNvPr id="42" name="Text 33"/>
          <p:cNvSpPr/>
          <p:nvPr/>
        </p:nvSpPr>
        <p:spPr>
          <a:xfrm>
            <a:off x="6869757" y="4167378"/>
            <a:ext cx="960120" cy="128016"/>
          </a:xfrm>
          <a:prstGeom prst="rect">
            <a:avLst/>
          </a:prstGeom>
          <a:noFill/>
          <a:ln/>
        </p:spPr>
        <p:txBody>
          <a:bodyPr wrap="square" lIns="0" tIns="0" rIns="0" bIns="0" rtlCol="0" anchor="t">
            <a:noAutofit/>
          </a:bodyPr>
          <a:lstStyle/>
          <a:p>
            <a:pPr marL="0" indent="0" algn="l">
              <a:buNone/>
            </a:pPr>
            <a:r>
              <a:rPr lang="en-US" sz="1600" b="1" dirty="0">
                <a:solidFill>
                  <a:srgbClr val="102033"/>
                </a:solidFill>
                <a:latin typeface="Aptos" pitchFamily="34" charset="0"/>
                <a:ea typeface="Aptos" pitchFamily="34" charset="-122"/>
                <a:cs typeface="Aptos" pitchFamily="34" charset="-120"/>
              </a:rPr>
              <a:t>Detection</a:t>
            </a:r>
            <a:endParaRPr lang="en-US" sz="1600" dirty="0"/>
          </a:p>
        </p:txBody>
      </p:sp>
      <p:sp>
        <p:nvSpPr>
          <p:cNvPr id="43" name="Text 34"/>
          <p:cNvSpPr/>
          <p:nvPr/>
        </p:nvSpPr>
        <p:spPr>
          <a:xfrm>
            <a:off x="7875597" y="4176522"/>
            <a:ext cx="2688336" cy="219456"/>
          </a:xfrm>
          <a:prstGeom prst="rect">
            <a:avLst/>
          </a:prstGeom>
          <a:noFill/>
          <a:ln/>
        </p:spPr>
        <p:txBody>
          <a:bodyPr wrap="square" lIns="0" tIns="0" rIns="0" bIns="0" rtlCol="0" anchor="t">
            <a:noAutofit/>
          </a:bodyPr>
          <a:lstStyle/>
          <a:p>
            <a:pPr marL="0" indent="0" algn="l">
              <a:buNone/>
            </a:pPr>
            <a:r>
              <a:rPr lang="en-US" sz="1200" dirty="0">
                <a:solidFill>
                  <a:srgbClr val="334155"/>
                </a:solidFill>
                <a:latin typeface="Aptos" pitchFamily="34" charset="0"/>
                <a:ea typeface="Aptos" pitchFamily="34" charset="-122"/>
                <a:cs typeface="Aptos" pitchFamily="34" charset="-120"/>
              </a:rPr>
              <a:t>PyTorch LSTM, PyOD, scikit-learn, LogAI, FlashText</a:t>
            </a:r>
            <a:endParaRPr lang="en-US" sz="1200" dirty="0"/>
          </a:p>
        </p:txBody>
      </p:sp>
      <p:sp>
        <p:nvSpPr>
          <p:cNvPr id="45" name="Shape 36"/>
          <p:cNvSpPr/>
          <p:nvPr/>
        </p:nvSpPr>
        <p:spPr>
          <a:xfrm>
            <a:off x="3696789" y="4908042"/>
            <a:ext cx="484632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46" name="Shape 37"/>
          <p:cNvSpPr/>
          <p:nvPr/>
        </p:nvSpPr>
        <p:spPr>
          <a:xfrm>
            <a:off x="3888813" y="5008626"/>
            <a:ext cx="365760" cy="365760"/>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sp>
        <p:nvSpPr>
          <p:cNvPr id="51" name="Shape 41"/>
          <p:cNvSpPr/>
          <p:nvPr/>
        </p:nvSpPr>
        <p:spPr>
          <a:xfrm>
            <a:off x="1008453" y="5804154"/>
            <a:ext cx="205740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55" name="Shape 45"/>
          <p:cNvSpPr/>
          <p:nvPr/>
        </p:nvSpPr>
        <p:spPr>
          <a:xfrm>
            <a:off x="3751653" y="5804154"/>
            <a:ext cx="205740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59" name="Shape 49"/>
          <p:cNvSpPr/>
          <p:nvPr/>
        </p:nvSpPr>
        <p:spPr>
          <a:xfrm>
            <a:off x="6494853" y="5804154"/>
            <a:ext cx="205740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63" name="Shape 53"/>
          <p:cNvSpPr/>
          <p:nvPr/>
        </p:nvSpPr>
        <p:spPr>
          <a:xfrm>
            <a:off x="9238053" y="5804154"/>
            <a:ext cx="2057400"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65" name="Text 55"/>
          <p:cNvSpPr/>
          <p:nvPr/>
        </p:nvSpPr>
        <p:spPr>
          <a:xfrm>
            <a:off x="5653605" y="5145786"/>
            <a:ext cx="886968" cy="219456"/>
          </a:xfrm>
          <a:prstGeom prst="rect">
            <a:avLst/>
          </a:prstGeom>
          <a:noFill/>
          <a:ln/>
        </p:spPr>
        <p:txBody>
          <a:bodyPr wrap="square" lIns="0" tIns="0" rIns="0" bIns="0" rtlCol="0" anchor="t">
            <a:normAutofit fontScale="92500" lnSpcReduction="10000"/>
          </a:bodyPr>
          <a:lstStyle/>
          <a:p>
            <a:pPr marL="0" indent="0" algn="l">
              <a:buNone/>
            </a:pPr>
            <a:r>
              <a:rPr lang="en-US" sz="1600" b="1" dirty="0">
                <a:solidFill>
                  <a:srgbClr val="102033"/>
                </a:solidFill>
                <a:latin typeface="Aptos" pitchFamily="34" charset="0"/>
                <a:ea typeface="Aptos" pitchFamily="34" charset="-122"/>
                <a:cs typeface="Aptos" pitchFamily="34" charset="-120"/>
              </a:rPr>
              <a:t>Python</a:t>
            </a:r>
            <a:endParaRPr lang="en-US" sz="1600" dirty="0"/>
          </a:p>
        </p:txBody>
      </p:sp>
      <p:sp>
        <p:nvSpPr>
          <p:cNvPr id="68" name="Text 58"/>
          <p:cNvSpPr/>
          <p:nvPr/>
        </p:nvSpPr>
        <p:spPr>
          <a:xfrm>
            <a:off x="10618797" y="6700266"/>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08</a:t>
            </a:r>
            <a:endParaRPr lang="en-US" sz="780" dirty="0"/>
          </a:p>
        </p:txBody>
      </p:sp>
      <p:sp>
        <p:nvSpPr>
          <p:cNvPr id="69" name="Text 59"/>
          <p:cNvSpPr/>
          <p:nvPr/>
        </p:nvSpPr>
        <p:spPr>
          <a:xfrm>
            <a:off x="11039421" y="6700266"/>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sp>
        <p:nvSpPr>
          <p:cNvPr id="72" name="AutoShape 6" descr="Image result for pythonlogo">
            <a:extLst>
              <a:ext uri="{FF2B5EF4-FFF2-40B4-BE49-F238E27FC236}">
                <a16:creationId xmlns:a16="http://schemas.microsoft.com/office/drawing/2014/main" id="{BF098578-C08D-7AD9-05B2-A5C3B2996BD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438912"/>
            <a:ext cx="7680960" cy="201168"/>
          </a:xfrm>
          <a:prstGeom prst="rect">
            <a:avLst/>
          </a:prstGeom>
          <a:noFill/>
          <a:ln/>
        </p:spPr>
        <p:txBody>
          <a:bodyPr wrap="square" lIns="0" tIns="0" rIns="0" bIns="0" rtlCol="0" anchor="t">
            <a:normAutofit/>
          </a:bodyPr>
          <a:lstStyle/>
          <a:p>
            <a:pPr marL="0" indent="0" algn="l">
              <a:buNone/>
            </a:pPr>
            <a:r>
              <a:rPr lang="en-US" sz="840" b="1" kern="0" spc="180" dirty="0">
                <a:solidFill>
                  <a:srgbClr val="00A8C8"/>
                </a:solidFill>
                <a:latin typeface="Aptos" pitchFamily="34" charset="0"/>
                <a:ea typeface="Aptos" pitchFamily="34" charset="-122"/>
                <a:cs typeface="Aptos" pitchFamily="34" charset="-120"/>
              </a:rPr>
              <a:t>RESULTS AND CAPABILITIES</a:t>
            </a:r>
            <a:endParaRPr lang="en-US" sz="840" dirty="0"/>
          </a:p>
        </p:txBody>
      </p:sp>
      <p:sp>
        <p:nvSpPr>
          <p:cNvPr id="4" name="Text 1"/>
          <p:cNvSpPr/>
          <p:nvPr/>
        </p:nvSpPr>
        <p:spPr>
          <a:xfrm>
            <a:off x="658368" y="694944"/>
            <a:ext cx="7680960" cy="621792"/>
          </a:xfrm>
          <a:prstGeom prst="rect">
            <a:avLst/>
          </a:prstGeom>
          <a:noFill/>
          <a:ln/>
        </p:spPr>
        <p:txBody>
          <a:bodyPr wrap="square" lIns="0" tIns="0" rIns="0" bIns="0" rtlCol="0" anchor="t">
            <a:normAutofit/>
          </a:bodyPr>
          <a:lstStyle/>
          <a:p>
            <a:pPr marL="0" indent="0" algn="l">
              <a:buNone/>
            </a:pPr>
            <a:r>
              <a:rPr lang="en-US" sz="2650" b="1" dirty="0">
                <a:solidFill>
                  <a:srgbClr val="102033"/>
                </a:solidFill>
                <a:latin typeface="Aptos Display" pitchFamily="34" charset="0"/>
                <a:ea typeface="Aptos Display" pitchFamily="34" charset="-122"/>
                <a:cs typeface="Aptos Display" pitchFamily="34" charset="-120"/>
              </a:rPr>
              <a:t>A complete enterprise log analysis command center</a:t>
            </a:r>
            <a:endParaRPr lang="en-US" sz="2650" dirty="0"/>
          </a:p>
        </p:txBody>
      </p:sp>
      <p:sp>
        <p:nvSpPr>
          <p:cNvPr id="5" name="Text 2"/>
          <p:cNvSpPr/>
          <p:nvPr/>
        </p:nvSpPr>
        <p:spPr>
          <a:xfrm>
            <a:off x="658368" y="1371600"/>
            <a:ext cx="7680960" cy="329184"/>
          </a:xfrm>
          <a:prstGeom prst="rect">
            <a:avLst/>
          </a:prstGeom>
          <a:noFill/>
          <a:ln/>
        </p:spPr>
        <p:txBody>
          <a:bodyPr wrap="square" lIns="0" tIns="0" rIns="0" bIns="0" rtlCol="0" anchor="t">
            <a:normAutofit/>
          </a:bodyPr>
          <a:lstStyle/>
          <a:p>
            <a:pPr marL="0" indent="0" algn="l">
              <a:buNone/>
            </a:pPr>
            <a:r>
              <a:rPr lang="en-US" sz="1040" dirty="0">
                <a:solidFill>
                  <a:srgbClr val="64748B"/>
                </a:solidFill>
                <a:latin typeface="Aptos" pitchFamily="34" charset="0"/>
                <a:ea typeface="Aptos" pitchFamily="34" charset="-122"/>
                <a:cs typeface="Aptos" pitchFamily="34" charset="-120"/>
              </a:rPr>
              <a:t>The final report surfaces root cause, line numbers, severity ranking, failure chains, trend direction, compliance grade, and a numbered fix list.</a:t>
            </a:r>
            <a:endParaRPr lang="en-US" sz="1040" dirty="0"/>
          </a:p>
        </p:txBody>
      </p:sp>
      <p:sp>
        <p:nvSpPr>
          <p:cNvPr id="6" name="Shape 3"/>
          <p:cNvSpPr/>
          <p:nvPr/>
        </p:nvSpPr>
        <p:spPr>
          <a:xfrm>
            <a:off x="822960" y="1828800"/>
            <a:ext cx="3182112" cy="987552"/>
          </a:xfrm>
          <a:prstGeom prst="roundRect">
            <a:avLst>
              <a:gd name="adj" fmla="val 12037"/>
            </a:avLst>
          </a:prstGeom>
          <a:solidFill>
            <a:srgbClr val="FFFFFF">
              <a:alpha val="93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7" name="Shape 4"/>
          <p:cNvSpPr/>
          <p:nvPr/>
        </p:nvSpPr>
        <p:spPr>
          <a:xfrm>
            <a:off x="868680" y="1865376"/>
            <a:ext cx="3090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8" name="Text 5"/>
          <p:cNvSpPr/>
          <p:nvPr/>
        </p:nvSpPr>
        <p:spPr>
          <a:xfrm>
            <a:off x="1024128" y="2011680"/>
            <a:ext cx="841248" cy="292608"/>
          </a:xfrm>
          <a:prstGeom prst="rect">
            <a:avLst/>
          </a:prstGeom>
          <a:noFill/>
          <a:ln/>
        </p:spPr>
        <p:txBody>
          <a:bodyPr wrap="square" lIns="0" tIns="0" rIns="0" bIns="0" rtlCol="0" anchor="t">
            <a:noAutofit/>
          </a:bodyPr>
          <a:lstStyle/>
          <a:p>
            <a:pPr marL="0" indent="0" algn="ctr">
              <a:buNone/>
            </a:pPr>
            <a:r>
              <a:rPr lang="en-US" sz="3200" b="1" dirty="0">
                <a:solidFill>
                  <a:srgbClr val="00A8C8"/>
                </a:solidFill>
                <a:latin typeface="Aptos Display" pitchFamily="34" charset="0"/>
                <a:ea typeface="Aptos Display" pitchFamily="34" charset="-122"/>
                <a:cs typeface="Aptos Display" pitchFamily="34" charset="-120"/>
              </a:rPr>
              <a:t>7</a:t>
            </a:r>
            <a:endParaRPr lang="en-US" sz="3200" dirty="0"/>
          </a:p>
        </p:txBody>
      </p:sp>
      <p:sp>
        <p:nvSpPr>
          <p:cNvPr id="9" name="Text 6"/>
          <p:cNvSpPr/>
          <p:nvPr/>
        </p:nvSpPr>
        <p:spPr>
          <a:xfrm>
            <a:off x="1956816" y="2039112"/>
            <a:ext cx="1408176" cy="16459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log formats</a:t>
            </a:r>
            <a:endParaRPr lang="en-US" sz="1400" dirty="0"/>
          </a:p>
        </p:txBody>
      </p:sp>
      <p:sp>
        <p:nvSpPr>
          <p:cNvPr id="10" name="Text 7"/>
          <p:cNvSpPr/>
          <p:nvPr/>
        </p:nvSpPr>
        <p:spPr>
          <a:xfrm>
            <a:off x="1956816" y="2331720"/>
            <a:ext cx="1691640" cy="256032"/>
          </a:xfrm>
          <a:prstGeom prst="rect">
            <a:avLst/>
          </a:prstGeom>
          <a:noFill/>
          <a:ln/>
        </p:spPr>
        <p:txBody>
          <a:bodyPr wrap="square" lIns="0" tIns="0" rIns="0" bIns="0" rtlCol="0" anchor="t">
            <a:noAutofit/>
          </a:bodyPr>
          <a:lstStyle/>
          <a:p>
            <a:pPr marL="0" indent="0" algn="l">
              <a:lnSpc>
                <a:spcPct val="86000"/>
              </a:lnSpc>
              <a:buNone/>
            </a:pPr>
            <a:r>
              <a:rPr lang="en-US" sz="1000" dirty="0">
                <a:solidFill>
                  <a:srgbClr val="64748B"/>
                </a:solidFill>
                <a:latin typeface="Aptos" pitchFamily="34" charset="0"/>
                <a:ea typeface="Aptos" pitchFamily="34" charset="-122"/>
                <a:cs typeface="Aptos" pitchFamily="34" charset="-120"/>
              </a:rPr>
              <a:t>Syslog, Apache x2, HDFS, Zookeeper, JSON, Generic</a:t>
            </a:r>
            <a:endParaRPr lang="en-US" sz="1000" dirty="0"/>
          </a:p>
        </p:txBody>
      </p:sp>
      <p:sp>
        <p:nvSpPr>
          <p:cNvPr id="11" name="Shape 8"/>
          <p:cNvSpPr/>
          <p:nvPr/>
        </p:nvSpPr>
        <p:spPr>
          <a:xfrm>
            <a:off x="4526280" y="1828800"/>
            <a:ext cx="3182112" cy="987552"/>
          </a:xfrm>
          <a:prstGeom prst="roundRect">
            <a:avLst>
              <a:gd name="adj" fmla="val 12037"/>
            </a:avLst>
          </a:prstGeom>
          <a:solidFill>
            <a:srgbClr val="FFFFFF">
              <a:alpha val="93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12" name="Shape 9"/>
          <p:cNvSpPr/>
          <p:nvPr/>
        </p:nvSpPr>
        <p:spPr>
          <a:xfrm>
            <a:off x="4572000" y="1865376"/>
            <a:ext cx="3090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3" name="Text 10"/>
          <p:cNvSpPr/>
          <p:nvPr/>
        </p:nvSpPr>
        <p:spPr>
          <a:xfrm>
            <a:off x="4727448" y="2011680"/>
            <a:ext cx="841248" cy="292608"/>
          </a:xfrm>
          <a:prstGeom prst="rect">
            <a:avLst/>
          </a:prstGeom>
          <a:noFill/>
          <a:ln/>
        </p:spPr>
        <p:txBody>
          <a:bodyPr wrap="square" lIns="0" tIns="0" rIns="0" bIns="0" rtlCol="0" anchor="t">
            <a:noAutofit/>
          </a:bodyPr>
          <a:lstStyle/>
          <a:p>
            <a:pPr marL="0" indent="0" algn="ctr">
              <a:buNone/>
            </a:pPr>
            <a:r>
              <a:rPr lang="en-US" sz="3200" b="1" dirty="0">
                <a:solidFill>
                  <a:srgbClr val="8B5CF6"/>
                </a:solidFill>
                <a:latin typeface="Aptos Display" pitchFamily="34" charset="0"/>
                <a:ea typeface="Aptos Display" pitchFamily="34" charset="-122"/>
                <a:cs typeface="Aptos Display" pitchFamily="34" charset="-120"/>
              </a:rPr>
              <a:t>5</a:t>
            </a:r>
            <a:endParaRPr lang="en-US" sz="3200" dirty="0"/>
          </a:p>
        </p:txBody>
      </p:sp>
      <p:sp>
        <p:nvSpPr>
          <p:cNvPr id="14" name="Text 11"/>
          <p:cNvSpPr/>
          <p:nvPr/>
        </p:nvSpPr>
        <p:spPr>
          <a:xfrm>
            <a:off x="5660136" y="2039112"/>
            <a:ext cx="1408176" cy="16459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engines</a:t>
            </a:r>
            <a:endParaRPr lang="en-US" sz="1400" dirty="0"/>
          </a:p>
        </p:txBody>
      </p:sp>
      <p:sp>
        <p:nvSpPr>
          <p:cNvPr id="15" name="Text 12"/>
          <p:cNvSpPr/>
          <p:nvPr/>
        </p:nvSpPr>
        <p:spPr>
          <a:xfrm>
            <a:off x="5660136" y="2331720"/>
            <a:ext cx="1691640" cy="256032"/>
          </a:xfrm>
          <a:prstGeom prst="rect">
            <a:avLst/>
          </a:prstGeom>
          <a:noFill/>
          <a:ln/>
        </p:spPr>
        <p:txBody>
          <a:bodyPr wrap="square" lIns="0" tIns="0" rIns="0" bIns="0" rtlCol="0" anchor="t">
            <a:noAutofit/>
          </a:bodyPr>
          <a:lstStyle/>
          <a:p>
            <a:pPr marL="0" indent="0" algn="l">
              <a:lnSpc>
                <a:spcPct val="86000"/>
              </a:lnSpc>
              <a:buNone/>
            </a:pPr>
            <a:r>
              <a:rPr lang="en-US" sz="1000" dirty="0">
                <a:solidFill>
                  <a:srgbClr val="64748B"/>
                </a:solidFill>
                <a:latin typeface="Aptos" pitchFamily="34" charset="0"/>
                <a:ea typeface="Aptos" pitchFamily="34" charset="-122"/>
                <a:cs typeface="Aptos" pitchFamily="34" charset="-120"/>
              </a:rPr>
              <a:t>ML + DL + statistical + keyword + rule</a:t>
            </a:r>
            <a:endParaRPr lang="en-US" sz="1000" dirty="0"/>
          </a:p>
        </p:txBody>
      </p:sp>
      <p:sp>
        <p:nvSpPr>
          <p:cNvPr id="16" name="Shape 13"/>
          <p:cNvSpPr/>
          <p:nvPr/>
        </p:nvSpPr>
        <p:spPr>
          <a:xfrm>
            <a:off x="8229600" y="1828800"/>
            <a:ext cx="3182112" cy="987552"/>
          </a:xfrm>
          <a:prstGeom prst="roundRect">
            <a:avLst>
              <a:gd name="adj" fmla="val 12037"/>
            </a:avLst>
          </a:prstGeom>
          <a:solidFill>
            <a:srgbClr val="FFFFFF">
              <a:alpha val="93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17" name="Shape 14"/>
          <p:cNvSpPr/>
          <p:nvPr/>
        </p:nvSpPr>
        <p:spPr>
          <a:xfrm>
            <a:off x="8275320" y="1865376"/>
            <a:ext cx="3090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8" name="Text 15"/>
          <p:cNvSpPr/>
          <p:nvPr/>
        </p:nvSpPr>
        <p:spPr>
          <a:xfrm>
            <a:off x="8430768" y="2011680"/>
            <a:ext cx="841248" cy="292608"/>
          </a:xfrm>
          <a:prstGeom prst="rect">
            <a:avLst/>
          </a:prstGeom>
          <a:noFill/>
          <a:ln/>
        </p:spPr>
        <p:txBody>
          <a:bodyPr wrap="square" lIns="0" tIns="0" rIns="0" bIns="0" rtlCol="0" anchor="t">
            <a:noAutofit/>
          </a:bodyPr>
          <a:lstStyle/>
          <a:p>
            <a:pPr marL="0" indent="0" algn="ctr">
              <a:buNone/>
            </a:pPr>
            <a:r>
              <a:rPr lang="en-US" sz="3200" b="1" dirty="0">
                <a:solidFill>
                  <a:srgbClr val="10B981"/>
                </a:solidFill>
                <a:latin typeface="Aptos Display" pitchFamily="34" charset="0"/>
                <a:ea typeface="Aptos Display" pitchFamily="34" charset="-122"/>
                <a:cs typeface="Aptos Display" pitchFamily="34" charset="-120"/>
              </a:rPr>
              <a:t>6</a:t>
            </a:r>
            <a:endParaRPr lang="en-US" sz="3200" dirty="0"/>
          </a:p>
        </p:txBody>
      </p:sp>
      <p:sp>
        <p:nvSpPr>
          <p:cNvPr id="19" name="Text 16"/>
          <p:cNvSpPr/>
          <p:nvPr/>
        </p:nvSpPr>
        <p:spPr>
          <a:xfrm>
            <a:off x="9363456" y="2039112"/>
            <a:ext cx="1408176" cy="16459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standards</a:t>
            </a:r>
            <a:endParaRPr lang="en-US" sz="1400" dirty="0"/>
          </a:p>
        </p:txBody>
      </p:sp>
      <p:sp>
        <p:nvSpPr>
          <p:cNvPr id="20" name="Text 17"/>
          <p:cNvSpPr/>
          <p:nvPr/>
        </p:nvSpPr>
        <p:spPr>
          <a:xfrm>
            <a:off x="9363456" y="2331720"/>
            <a:ext cx="1691640" cy="256032"/>
          </a:xfrm>
          <a:prstGeom prst="rect">
            <a:avLst/>
          </a:prstGeom>
          <a:noFill/>
          <a:ln/>
        </p:spPr>
        <p:txBody>
          <a:bodyPr wrap="square" lIns="0" tIns="0" rIns="0" bIns="0" rtlCol="0" anchor="t">
            <a:noAutofit/>
          </a:bodyPr>
          <a:lstStyle/>
          <a:p>
            <a:pPr marL="0" indent="0" algn="l">
              <a:lnSpc>
                <a:spcPct val="86000"/>
              </a:lnSpc>
              <a:buNone/>
            </a:pPr>
            <a:r>
              <a:rPr lang="en-US" sz="1000" dirty="0">
                <a:solidFill>
                  <a:srgbClr val="64748B"/>
                </a:solidFill>
                <a:latin typeface="Aptos" pitchFamily="34" charset="0"/>
                <a:ea typeface="Aptos" pitchFamily="34" charset="-122"/>
                <a:cs typeface="Aptos" pitchFamily="34" charset="-120"/>
              </a:rPr>
              <a:t>SOC2, HIPAA, PCI-DSS, ISO27001, OWASP, GDPR</a:t>
            </a:r>
            <a:endParaRPr lang="en-US" sz="1000" dirty="0"/>
          </a:p>
        </p:txBody>
      </p:sp>
      <p:sp>
        <p:nvSpPr>
          <p:cNvPr id="21" name="Shape 18"/>
          <p:cNvSpPr/>
          <p:nvPr/>
        </p:nvSpPr>
        <p:spPr>
          <a:xfrm>
            <a:off x="822960" y="3127248"/>
            <a:ext cx="3182112" cy="987552"/>
          </a:xfrm>
          <a:prstGeom prst="roundRect">
            <a:avLst>
              <a:gd name="adj" fmla="val 12037"/>
            </a:avLst>
          </a:prstGeom>
          <a:solidFill>
            <a:srgbClr val="FFFFFF">
              <a:alpha val="93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22" name="Shape 19"/>
          <p:cNvSpPr/>
          <p:nvPr/>
        </p:nvSpPr>
        <p:spPr>
          <a:xfrm>
            <a:off x="868680" y="3163824"/>
            <a:ext cx="3090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3" name="Text 20"/>
          <p:cNvSpPr/>
          <p:nvPr/>
        </p:nvSpPr>
        <p:spPr>
          <a:xfrm>
            <a:off x="1024128" y="3310128"/>
            <a:ext cx="841248" cy="292608"/>
          </a:xfrm>
          <a:prstGeom prst="rect">
            <a:avLst/>
          </a:prstGeom>
          <a:noFill/>
          <a:ln/>
        </p:spPr>
        <p:txBody>
          <a:bodyPr wrap="square" lIns="0" tIns="0" rIns="0" bIns="0" rtlCol="0" anchor="t">
            <a:noAutofit/>
          </a:bodyPr>
          <a:lstStyle/>
          <a:p>
            <a:pPr marL="0" indent="0" algn="ctr">
              <a:buNone/>
            </a:pPr>
            <a:r>
              <a:rPr lang="en-US" sz="3200" b="1" dirty="0">
                <a:solidFill>
                  <a:srgbClr val="F59E0B"/>
                </a:solidFill>
                <a:latin typeface="Aptos Display" pitchFamily="34" charset="0"/>
                <a:ea typeface="Aptos Display" pitchFamily="34" charset="-122"/>
                <a:cs typeface="Aptos Display" pitchFamily="34" charset="-120"/>
              </a:rPr>
              <a:t>3</a:t>
            </a:r>
            <a:endParaRPr lang="en-US" sz="3200" dirty="0"/>
          </a:p>
        </p:txBody>
      </p:sp>
      <p:sp>
        <p:nvSpPr>
          <p:cNvPr id="24" name="Text 21"/>
          <p:cNvSpPr/>
          <p:nvPr/>
        </p:nvSpPr>
        <p:spPr>
          <a:xfrm>
            <a:off x="1956816" y="3337560"/>
            <a:ext cx="1408176" cy="16459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modes</a:t>
            </a:r>
            <a:endParaRPr lang="en-US" sz="1400" dirty="0"/>
          </a:p>
        </p:txBody>
      </p:sp>
      <p:sp>
        <p:nvSpPr>
          <p:cNvPr id="25" name="Text 22"/>
          <p:cNvSpPr/>
          <p:nvPr/>
        </p:nvSpPr>
        <p:spPr>
          <a:xfrm>
            <a:off x="1956816" y="3630168"/>
            <a:ext cx="1691640" cy="256032"/>
          </a:xfrm>
          <a:prstGeom prst="rect">
            <a:avLst/>
          </a:prstGeom>
          <a:noFill/>
          <a:ln/>
        </p:spPr>
        <p:txBody>
          <a:bodyPr wrap="square" lIns="0" tIns="0" rIns="0" bIns="0" rtlCol="0" anchor="t">
            <a:normAutofit/>
          </a:bodyPr>
          <a:lstStyle/>
          <a:p>
            <a:pPr marL="0" indent="0" algn="l">
              <a:lnSpc>
                <a:spcPct val="86000"/>
              </a:lnSpc>
              <a:buNone/>
            </a:pPr>
            <a:r>
              <a:rPr lang="en-US" sz="1000" dirty="0">
                <a:solidFill>
                  <a:srgbClr val="64748B"/>
                </a:solidFill>
                <a:latin typeface="Aptos" pitchFamily="34" charset="0"/>
                <a:ea typeface="Aptos" pitchFamily="34" charset="-122"/>
                <a:cs typeface="Aptos" pitchFamily="34" charset="-120"/>
              </a:rPr>
              <a:t>Full AI, parse-only, detect-only</a:t>
            </a:r>
            <a:endParaRPr lang="en-US" sz="1000" dirty="0"/>
          </a:p>
        </p:txBody>
      </p:sp>
      <p:sp>
        <p:nvSpPr>
          <p:cNvPr id="26" name="Shape 23"/>
          <p:cNvSpPr/>
          <p:nvPr/>
        </p:nvSpPr>
        <p:spPr>
          <a:xfrm>
            <a:off x="4526280" y="3127248"/>
            <a:ext cx="3182112" cy="987552"/>
          </a:xfrm>
          <a:prstGeom prst="roundRect">
            <a:avLst>
              <a:gd name="adj" fmla="val 12037"/>
            </a:avLst>
          </a:prstGeom>
          <a:solidFill>
            <a:srgbClr val="FFFFFF">
              <a:alpha val="93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27" name="Shape 24"/>
          <p:cNvSpPr/>
          <p:nvPr/>
        </p:nvSpPr>
        <p:spPr>
          <a:xfrm>
            <a:off x="4572000" y="3163824"/>
            <a:ext cx="3090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8" name="Text 25"/>
          <p:cNvSpPr/>
          <p:nvPr/>
        </p:nvSpPr>
        <p:spPr>
          <a:xfrm>
            <a:off x="4718304" y="3512602"/>
            <a:ext cx="841248" cy="292608"/>
          </a:xfrm>
          <a:prstGeom prst="rect">
            <a:avLst/>
          </a:prstGeom>
          <a:noFill/>
          <a:ln/>
        </p:spPr>
        <p:txBody>
          <a:bodyPr wrap="square" lIns="0" tIns="0" rIns="0" bIns="0" rtlCol="0" anchor="t">
            <a:normAutofit fontScale="92500" lnSpcReduction="20000"/>
          </a:bodyPr>
          <a:lstStyle/>
          <a:p>
            <a:pPr marL="0" indent="0" algn="ctr">
              <a:buNone/>
            </a:pPr>
            <a:r>
              <a:rPr lang="en-US" sz="2400" b="1" dirty="0">
                <a:solidFill>
                  <a:srgbClr val="FF6B6B"/>
                </a:solidFill>
                <a:latin typeface="Aptos Display" pitchFamily="34" charset="0"/>
                <a:ea typeface="Aptos Display" pitchFamily="34" charset="-122"/>
                <a:cs typeface="Aptos Display" pitchFamily="34" charset="-120"/>
              </a:rPr>
              <a:t>2-up</a:t>
            </a:r>
            <a:endParaRPr lang="en-US" sz="2400" dirty="0"/>
          </a:p>
        </p:txBody>
      </p:sp>
      <p:sp>
        <p:nvSpPr>
          <p:cNvPr id="29" name="Text 26"/>
          <p:cNvSpPr/>
          <p:nvPr/>
        </p:nvSpPr>
        <p:spPr>
          <a:xfrm>
            <a:off x="5660136" y="3337560"/>
            <a:ext cx="1408176" cy="16459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comparison</a:t>
            </a:r>
            <a:endParaRPr lang="en-US" sz="1400" dirty="0"/>
          </a:p>
        </p:txBody>
      </p:sp>
      <p:sp>
        <p:nvSpPr>
          <p:cNvPr id="30" name="Text 27"/>
          <p:cNvSpPr/>
          <p:nvPr/>
        </p:nvSpPr>
        <p:spPr>
          <a:xfrm>
            <a:off x="5660136" y="3630168"/>
            <a:ext cx="1691640" cy="256032"/>
          </a:xfrm>
          <a:prstGeom prst="rect">
            <a:avLst/>
          </a:prstGeom>
          <a:noFill/>
          <a:ln/>
        </p:spPr>
        <p:txBody>
          <a:bodyPr wrap="square" lIns="0" tIns="0" rIns="0" bIns="0" rtlCol="0" anchor="t">
            <a:noAutofit/>
          </a:bodyPr>
          <a:lstStyle/>
          <a:p>
            <a:pPr marL="0" indent="0" algn="l">
              <a:lnSpc>
                <a:spcPct val="86000"/>
              </a:lnSpc>
              <a:buNone/>
            </a:pPr>
            <a:r>
              <a:rPr lang="en-US" sz="1000" dirty="0">
                <a:solidFill>
                  <a:srgbClr val="64748B"/>
                </a:solidFill>
                <a:latin typeface="Aptos" pitchFamily="34" charset="0"/>
                <a:ea typeface="Aptos" pitchFamily="34" charset="-122"/>
                <a:cs typeface="Aptos" pitchFamily="34" charset="-120"/>
              </a:rPr>
              <a:t>Side-by-side before/after deployment analysis</a:t>
            </a:r>
            <a:endParaRPr lang="en-US" sz="1000" dirty="0"/>
          </a:p>
        </p:txBody>
      </p:sp>
      <p:sp>
        <p:nvSpPr>
          <p:cNvPr id="31" name="Shape 28"/>
          <p:cNvSpPr/>
          <p:nvPr/>
        </p:nvSpPr>
        <p:spPr>
          <a:xfrm>
            <a:off x="8229600" y="3127248"/>
            <a:ext cx="3182112" cy="987552"/>
          </a:xfrm>
          <a:prstGeom prst="roundRect">
            <a:avLst>
              <a:gd name="adj" fmla="val 12037"/>
            </a:avLst>
          </a:prstGeom>
          <a:solidFill>
            <a:srgbClr val="FFFFFF">
              <a:alpha val="93000"/>
            </a:srgbClr>
          </a:solidFill>
          <a:ln w="12700">
            <a:solidFill>
              <a:srgbClr val="FFFFFF">
                <a:alpha val="90000"/>
              </a:srgbClr>
            </a:solidFill>
            <a:prstDash val="solid"/>
          </a:ln>
          <a:effectLst>
            <a:outerShdw blurRad="165100" dist="25400" dir="2700000" algn="bl" rotWithShape="0">
              <a:srgbClr val="9AB2C3">
                <a:alpha val="13000"/>
              </a:srgbClr>
            </a:outerShdw>
          </a:effectLst>
        </p:spPr>
      </p:sp>
      <p:sp>
        <p:nvSpPr>
          <p:cNvPr id="32" name="Shape 29"/>
          <p:cNvSpPr/>
          <p:nvPr/>
        </p:nvSpPr>
        <p:spPr>
          <a:xfrm>
            <a:off x="8275320" y="3163824"/>
            <a:ext cx="309067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3" name="Text 30"/>
          <p:cNvSpPr/>
          <p:nvPr/>
        </p:nvSpPr>
        <p:spPr>
          <a:xfrm>
            <a:off x="8430768" y="3310128"/>
            <a:ext cx="841248" cy="292608"/>
          </a:xfrm>
          <a:prstGeom prst="rect">
            <a:avLst/>
          </a:prstGeom>
          <a:noFill/>
          <a:ln/>
        </p:spPr>
        <p:txBody>
          <a:bodyPr wrap="square" lIns="0" tIns="0" rIns="0" bIns="0" rtlCol="0" anchor="t">
            <a:normAutofit fontScale="92500" lnSpcReduction="20000"/>
          </a:bodyPr>
          <a:lstStyle/>
          <a:p>
            <a:pPr marL="0" indent="0" algn="ctr">
              <a:buNone/>
            </a:pPr>
            <a:r>
              <a:rPr lang="en-US" sz="2400" b="1" dirty="0">
                <a:solidFill>
                  <a:srgbClr val="5DB7FF"/>
                </a:solidFill>
                <a:latin typeface="Aptos Display" pitchFamily="34" charset="0"/>
                <a:ea typeface="Aptos Display" pitchFamily="34" charset="-122"/>
                <a:cs typeface="Aptos Display" pitchFamily="34" charset="-120"/>
              </a:rPr>
              <a:t>10MB</a:t>
            </a:r>
            <a:endParaRPr lang="en-US" sz="2400" dirty="0"/>
          </a:p>
        </p:txBody>
      </p:sp>
      <p:sp>
        <p:nvSpPr>
          <p:cNvPr id="34" name="Text 31"/>
          <p:cNvSpPr/>
          <p:nvPr/>
        </p:nvSpPr>
        <p:spPr>
          <a:xfrm>
            <a:off x="9363456" y="3337560"/>
            <a:ext cx="1408176" cy="16459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max file</a:t>
            </a:r>
            <a:endParaRPr lang="en-US" sz="1400" dirty="0"/>
          </a:p>
        </p:txBody>
      </p:sp>
      <p:sp>
        <p:nvSpPr>
          <p:cNvPr id="35" name="Text 32"/>
          <p:cNvSpPr/>
          <p:nvPr/>
        </p:nvSpPr>
        <p:spPr>
          <a:xfrm>
            <a:off x="9363456" y="3630168"/>
            <a:ext cx="1691640" cy="256032"/>
          </a:xfrm>
          <a:prstGeom prst="rect">
            <a:avLst/>
          </a:prstGeom>
          <a:noFill/>
          <a:ln/>
        </p:spPr>
        <p:txBody>
          <a:bodyPr wrap="square" lIns="0" tIns="0" rIns="0" bIns="0" rtlCol="0" anchor="t">
            <a:normAutofit/>
          </a:bodyPr>
          <a:lstStyle/>
          <a:p>
            <a:pPr marL="0" indent="0" algn="l">
              <a:lnSpc>
                <a:spcPct val="86000"/>
              </a:lnSpc>
              <a:buNone/>
            </a:pPr>
            <a:r>
              <a:rPr lang="en-US" sz="1000" dirty="0">
                <a:solidFill>
                  <a:srgbClr val="64748B"/>
                </a:solidFill>
                <a:latin typeface="Aptos" pitchFamily="34" charset="0"/>
                <a:ea typeface="Aptos" pitchFamily="34" charset="-122"/>
                <a:cs typeface="Aptos" pitchFamily="34" charset="-120"/>
              </a:rPr>
              <a:t>Up to 5000 lines per upload</a:t>
            </a:r>
            <a:endParaRPr lang="en-US" sz="1000" dirty="0"/>
          </a:p>
        </p:txBody>
      </p:sp>
      <p:sp>
        <p:nvSpPr>
          <p:cNvPr id="36" name="Shape 33"/>
          <p:cNvSpPr/>
          <p:nvPr/>
        </p:nvSpPr>
        <p:spPr>
          <a:xfrm>
            <a:off x="987552" y="4773168"/>
            <a:ext cx="10131552" cy="932688"/>
          </a:xfrm>
          <a:prstGeom prst="roundRect">
            <a:avLst>
              <a:gd name="adj" fmla="val 12745"/>
            </a:avLst>
          </a:prstGeom>
          <a:solidFill>
            <a:srgbClr val="FFFFFF">
              <a:alpha val="89000"/>
            </a:srgbClr>
          </a:solidFill>
          <a:ln w="12700">
            <a:solidFill>
              <a:srgbClr val="FFFFFF">
                <a:alpha val="90000"/>
              </a:srgbClr>
            </a:solidFill>
            <a:prstDash val="solid"/>
          </a:ln>
          <a:effectLst>
            <a:outerShdw blurRad="190500" dist="25400" dir="2700000" algn="bl" rotWithShape="0">
              <a:srgbClr val="9AB2C3">
                <a:alpha val="13000"/>
              </a:srgbClr>
            </a:outerShdw>
          </a:effectLst>
        </p:spPr>
      </p:sp>
      <p:sp>
        <p:nvSpPr>
          <p:cNvPr id="37" name="Shape 34"/>
          <p:cNvSpPr/>
          <p:nvPr/>
        </p:nvSpPr>
        <p:spPr>
          <a:xfrm>
            <a:off x="1033272" y="4809744"/>
            <a:ext cx="10040112"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8" name="Text 35"/>
          <p:cNvSpPr/>
          <p:nvPr/>
        </p:nvSpPr>
        <p:spPr>
          <a:xfrm>
            <a:off x="1261872" y="5029200"/>
            <a:ext cx="1554480" cy="182880"/>
          </a:xfrm>
          <a:prstGeom prst="rect">
            <a:avLst/>
          </a:prstGeom>
          <a:noFill/>
          <a:ln/>
        </p:spPr>
        <p:txBody>
          <a:bodyPr wrap="square" lIns="0" tIns="0" rIns="0" bIns="0" rtlCol="0" anchor="t">
            <a:noAutofit/>
          </a:bodyPr>
          <a:lstStyle/>
          <a:p>
            <a:pPr marL="0" indent="0" algn="l">
              <a:buNone/>
            </a:pPr>
            <a:r>
              <a:rPr lang="en-US" b="1" dirty="0">
                <a:solidFill>
                  <a:srgbClr val="102033"/>
                </a:solidFill>
                <a:latin typeface="Aptos Display" pitchFamily="34" charset="0"/>
                <a:ea typeface="Aptos Display" pitchFamily="34" charset="-122"/>
                <a:cs typeface="Aptos Display" pitchFamily="34" charset="-120"/>
              </a:rPr>
              <a:t>AI report delivers</a:t>
            </a:r>
            <a:endParaRPr lang="en-US" dirty="0"/>
          </a:p>
        </p:txBody>
      </p:sp>
      <p:sp>
        <p:nvSpPr>
          <p:cNvPr id="39" name="Shape 36"/>
          <p:cNvSpPr/>
          <p:nvPr/>
        </p:nvSpPr>
        <p:spPr>
          <a:xfrm>
            <a:off x="2852928" y="5001768"/>
            <a:ext cx="164592" cy="164592"/>
          </a:xfrm>
          <a:prstGeom prst="ellipse">
            <a:avLst/>
          </a:prstGeom>
          <a:solidFill>
            <a:srgbClr val="00A8C8"/>
          </a:solidFill>
          <a:ln w="12700">
            <a:solidFill>
              <a:srgbClr val="00A8C8"/>
            </a:solidFill>
            <a:prstDash val="solid"/>
          </a:ln>
        </p:spPr>
      </p:sp>
      <p:sp>
        <p:nvSpPr>
          <p:cNvPr id="40" name="Text 37"/>
          <p:cNvSpPr/>
          <p:nvPr/>
        </p:nvSpPr>
        <p:spPr>
          <a:xfrm>
            <a:off x="3127248" y="5001768"/>
            <a:ext cx="2057400" cy="100584"/>
          </a:xfrm>
          <a:prstGeom prst="rect">
            <a:avLst/>
          </a:prstGeom>
          <a:noFill/>
          <a:ln/>
        </p:spPr>
        <p:txBody>
          <a:bodyPr wrap="square" lIns="0" tIns="0" rIns="0" bIns="0" rtlCol="0" anchor="t">
            <a:noAutofit/>
          </a:bodyPr>
          <a:lstStyle/>
          <a:p>
            <a:pPr marL="0" indent="0" algn="l">
              <a:buNone/>
            </a:pPr>
            <a:r>
              <a:rPr lang="en-US" sz="1000" b="1" dirty="0">
                <a:solidFill>
                  <a:srgbClr val="475569"/>
                </a:solidFill>
                <a:latin typeface="Aptos" pitchFamily="34" charset="0"/>
                <a:ea typeface="Aptos" pitchFamily="34" charset="-122"/>
                <a:cs typeface="Aptos" pitchFamily="34" charset="-120"/>
              </a:rPr>
              <a:t>Root cause with line numbers</a:t>
            </a:r>
            <a:endParaRPr lang="en-US" sz="1000" dirty="0"/>
          </a:p>
        </p:txBody>
      </p:sp>
      <p:sp>
        <p:nvSpPr>
          <p:cNvPr id="41" name="Shape 38"/>
          <p:cNvSpPr/>
          <p:nvPr/>
        </p:nvSpPr>
        <p:spPr>
          <a:xfrm>
            <a:off x="5394960" y="5001768"/>
            <a:ext cx="164592" cy="164592"/>
          </a:xfrm>
          <a:prstGeom prst="ellipse">
            <a:avLst/>
          </a:prstGeom>
          <a:solidFill>
            <a:srgbClr val="8B5CF6"/>
          </a:solidFill>
          <a:ln w="12700">
            <a:solidFill>
              <a:srgbClr val="8B5CF6"/>
            </a:solidFill>
            <a:prstDash val="solid"/>
          </a:ln>
        </p:spPr>
      </p:sp>
      <p:sp>
        <p:nvSpPr>
          <p:cNvPr id="42" name="Text 39"/>
          <p:cNvSpPr/>
          <p:nvPr/>
        </p:nvSpPr>
        <p:spPr>
          <a:xfrm>
            <a:off x="5669280" y="5001768"/>
            <a:ext cx="2057400" cy="100584"/>
          </a:xfrm>
          <a:prstGeom prst="rect">
            <a:avLst/>
          </a:prstGeom>
          <a:noFill/>
          <a:ln/>
        </p:spPr>
        <p:txBody>
          <a:bodyPr wrap="square" lIns="0" tIns="0" rIns="0" bIns="0" rtlCol="0" anchor="t">
            <a:noAutofit/>
          </a:bodyPr>
          <a:lstStyle/>
          <a:p>
            <a:pPr marL="0" indent="0" algn="l">
              <a:buNone/>
            </a:pPr>
            <a:r>
              <a:rPr lang="en-US" sz="1000" b="1" dirty="0">
                <a:solidFill>
                  <a:srgbClr val="475569"/>
                </a:solidFill>
                <a:latin typeface="Aptos" pitchFamily="34" charset="0"/>
                <a:ea typeface="Aptos" pitchFamily="34" charset="-122"/>
                <a:cs typeface="Aptos" pitchFamily="34" charset="-120"/>
              </a:rPr>
              <a:t>Severity ranking</a:t>
            </a:r>
            <a:endParaRPr lang="en-US" sz="1000" dirty="0"/>
          </a:p>
        </p:txBody>
      </p:sp>
      <p:sp>
        <p:nvSpPr>
          <p:cNvPr id="43" name="Shape 40"/>
          <p:cNvSpPr/>
          <p:nvPr/>
        </p:nvSpPr>
        <p:spPr>
          <a:xfrm>
            <a:off x="7936992" y="5001768"/>
            <a:ext cx="164592" cy="164592"/>
          </a:xfrm>
          <a:prstGeom prst="ellipse">
            <a:avLst/>
          </a:prstGeom>
          <a:solidFill>
            <a:srgbClr val="10B981"/>
          </a:solidFill>
          <a:ln w="12700">
            <a:solidFill>
              <a:srgbClr val="10B981"/>
            </a:solidFill>
            <a:prstDash val="solid"/>
          </a:ln>
        </p:spPr>
      </p:sp>
      <p:sp>
        <p:nvSpPr>
          <p:cNvPr id="44" name="Text 41"/>
          <p:cNvSpPr/>
          <p:nvPr/>
        </p:nvSpPr>
        <p:spPr>
          <a:xfrm>
            <a:off x="8211312" y="5001768"/>
            <a:ext cx="2057400" cy="100584"/>
          </a:xfrm>
          <a:prstGeom prst="rect">
            <a:avLst/>
          </a:prstGeom>
          <a:noFill/>
          <a:ln/>
        </p:spPr>
        <p:txBody>
          <a:bodyPr wrap="square" lIns="0" tIns="0" rIns="0" bIns="0" rtlCol="0" anchor="t">
            <a:noAutofit/>
          </a:bodyPr>
          <a:lstStyle/>
          <a:p>
            <a:pPr marL="0" indent="0" algn="l">
              <a:buNone/>
            </a:pPr>
            <a:r>
              <a:rPr lang="en-US" sz="1000" b="1" dirty="0">
                <a:solidFill>
                  <a:srgbClr val="475569"/>
                </a:solidFill>
                <a:latin typeface="Aptos" pitchFamily="34" charset="0"/>
                <a:ea typeface="Aptos" pitchFamily="34" charset="-122"/>
                <a:cs typeface="Aptos" pitchFamily="34" charset="-120"/>
              </a:rPr>
              <a:t>Cascading failure chains</a:t>
            </a:r>
            <a:endParaRPr lang="en-US" sz="1000" dirty="0"/>
          </a:p>
        </p:txBody>
      </p:sp>
      <p:sp>
        <p:nvSpPr>
          <p:cNvPr id="45" name="Shape 42"/>
          <p:cNvSpPr/>
          <p:nvPr/>
        </p:nvSpPr>
        <p:spPr>
          <a:xfrm>
            <a:off x="2852928" y="5330952"/>
            <a:ext cx="164592" cy="164592"/>
          </a:xfrm>
          <a:prstGeom prst="ellipse">
            <a:avLst/>
          </a:prstGeom>
          <a:solidFill>
            <a:srgbClr val="F59E0B"/>
          </a:solidFill>
          <a:ln w="12700">
            <a:solidFill>
              <a:srgbClr val="F59E0B"/>
            </a:solidFill>
            <a:prstDash val="solid"/>
          </a:ln>
        </p:spPr>
      </p:sp>
      <p:sp>
        <p:nvSpPr>
          <p:cNvPr id="46" name="Text 43"/>
          <p:cNvSpPr/>
          <p:nvPr/>
        </p:nvSpPr>
        <p:spPr>
          <a:xfrm>
            <a:off x="3127248" y="5330952"/>
            <a:ext cx="2057400" cy="100584"/>
          </a:xfrm>
          <a:prstGeom prst="rect">
            <a:avLst/>
          </a:prstGeom>
          <a:noFill/>
          <a:ln/>
        </p:spPr>
        <p:txBody>
          <a:bodyPr wrap="square" lIns="0" tIns="0" rIns="0" bIns="0" rtlCol="0" anchor="t">
            <a:noAutofit/>
          </a:bodyPr>
          <a:lstStyle/>
          <a:p>
            <a:pPr marL="0" indent="0" algn="l">
              <a:buNone/>
            </a:pPr>
            <a:r>
              <a:rPr lang="en-US" sz="1000" b="1" dirty="0">
                <a:solidFill>
                  <a:srgbClr val="475569"/>
                </a:solidFill>
                <a:latin typeface="Aptos" pitchFamily="34" charset="0"/>
                <a:ea typeface="Aptos" pitchFamily="34" charset="-122"/>
                <a:cs typeface="Aptos" pitchFamily="34" charset="-120"/>
              </a:rPr>
              <a:t>Error trend direction</a:t>
            </a:r>
            <a:endParaRPr lang="en-US" sz="1000" dirty="0"/>
          </a:p>
        </p:txBody>
      </p:sp>
      <p:sp>
        <p:nvSpPr>
          <p:cNvPr id="47" name="Shape 44"/>
          <p:cNvSpPr/>
          <p:nvPr/>
        </p:nvSpPr>
        <p:spPr>
          <a:xfrm>
            <a:off x="5394960" y="5330952"/>
            <a:ext cx="164592" cy="164592"/>
          </a:xfrm>
          <a:prstGeom prst="ellipse">
            <a:avLst/>
          </a:prstGeom>
          <a:solidFill>
            <a:srgbClr val="FF6B6B"/>
          </a:solidFill>
          <a:ln w="12700">
            <a:solidFill>
              <a:srgbClr val="FF6B6B"/>
            </a:solidFill>
            <a:prstDash val="solid"/>
          </a:ln>
        </p:spPr>
      </p:sp>
      <p:sp>
        <p:nvSpPr>
          <p:cNvPr id="48" name="Text 45"/>
          <p:cNvSpPr/>
          <p:nvPr/>
        </p:nvSpPr>
        <p:spPr>
          <a:xfrm>
            <a:off x="5669280" y="5330952"/>
            <a:ext cx="2057400" cy="100584"/>
          </a:xfrm>
          <a:prstGeom prst="rect">
            <a:avLst/>
          </a:prstGeom>
          <a:noFill/>
          <a:ln/>
        </p:spPr>
        <p:txBody>
          <a:bodyPr wrap="square" lIns="0" tIns="0" rIns="0" bIns="0" rtlCol="0" anchor="t">
            <a:noAutofit/>
          </a:bodyPr>
          <a:lstStyle/>
          <a:p>
            <a:pPr marL="0" indent="0" algn="l">
              <a:buNone/>
            </a:pPr>
            <a:r>
              <a:rPr lang="en-US" sz="1000" b="1" dirty="0">
                <a:solidFill>
                  <a:srgbClr val="475569"/>
                </a:solidFill>
                <a:latin typeface="Aptos" pitchFamily="34" charset="0"/>
                <a:ea typeface="Aptos" pitchFamily="34" charset="-122"/>
                <a:cs typeface="Aptos" pitchFamily="34" charset="-120"/>
              </a:rPr>
              <a:t>Compliance grade</a:t>
            </a:r>
            <a:endParaRPr lang="en-US" sz="1000" dirty="0"/>
          </a:p>
        </p:txBody>
      </p:sp>
      <p:sp>
        <p:nvSpPr>
          <p:cNvPr id="49" name="Shape 46"/>
          <p:cNvSpPr/>
          <p:nvPr/>
        </p:nvSpPr>
        <p:spPr>
          <a:xfrm>
            <a:off x="7936992" y="5330952"/>
            <a:ext cx="164592" cy="164592"/>
          </a:xfrm>
          <a:prstGeom prst="ellipse">
            <a:avLst/>
          </a:prstGeom>
          <a:solidFill>
            <a:srgbClr val="5DB7FF"/>
          </a:solidFill>
          <a:ln w="12700">
            <a:solidFill>
              <a:srgbClr val="5DB7FF"/>
            </a:solidFill>
            <a:prstDash val="solid"/>
          </a:ln>
        </p:spPr>
      </p:sp>
      <p:sp>
        <p:nvSpPr>
          <p:cNvPr id="50" name="Text 47"/>
          <p:cNvSpPr/>
          <p:nvPr/>
        </p:nvSpPr>
        <p:spPr>
          <a:xfrm>
            <a:off x="8211312" y="5330952"/>
            <a:ext cx="2057400" cy="100584"/>
          </a:xfrm>
          <a:prstGeom prst="rect">
            <a:avLst/>
          </a:prstGeom>
          <a:noFill/>
          <a:ln/>
        </p:spPr>
        <p:txBody>
          <a:bodyPr wrap="square" lIns="0" tIns="0" rIns="0" bIns="0" rtlCol="0" anchor="t">
            <a:noAutofit/>
          </a:bodyPr>
          <a:lstStyle/>
          <a:p>
            <a:pPr marL="0" indent="0" algn="l">
              <a:buNone/>
            </a:pPr>
            <a:r>
              <a:rPr lang="en-US" sz="1000" b="1" dirty="0">
                <a:solidFill>
                  <a:srgbClr val="475569"/>
                </a:solidFill>
                <a:latin typeface="Aptos" pitchFamily="34" charset="0"/>
                <a:ea typeface="Aptos" pitchFamily="34" charset="-122"/>
                <a:cs typeface="Aptos" pitchFamily="34" charset="-120"/>
              </a:rPr>
              <a:t>Numbered fix list</a:t>
            </a:r>
            <a:endParaRPr lang="en-US" sz="1000" dirty="0"/>
          </a:p>
        </p:txBody>
      </p:sp>
      <p:sp>
        <p:nvSpPr>
          <p:cNvPr id="53" name="Text 50"/>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1000" b="1" dirty="0">
                <a:solidFill>
                  <a:srgbClr val="00A8C8"/>
                </a:solidFill>
                <a:latin typeface="Aptos" pitchFamily="34" charset="0"/>
                <a:ea typeface="Aptos" pitchFamily="34" charset="-122"/>
                <a:cs typeface="Aptos" pitchFamily="34" charset="-120"/>
              </a:rPr>
              <a:t>09</a:t>
            </a:r>
            <a:endParaRPr lang="en-US" sz="1000" dirty="0"/>
          </a:p>
        </p:txBody>
      </p:sp>
      <p:sp>
        <p:nvSpPr>
          <p:cNvPr id="54" name="Text 51"/>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1000" dirty="0">
                <a:solidFill>
                  <a:srgbClr val="64748B"/>
                </a:solidFill>
                <a:latin typeface="Aptos" pitchFamily="34" charset="0"/>
                <a:ea typeface="Aptos" pitchFamily="34" charset="-122"/>
                <a:cs typeface="Aptos" pitchFamily="34" charset="-120"/>
              </a:rPr>
              <a:t>/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DFF"/>
        </a:solidFill>
        <a:effectLst/>
      </p:bgPr>
    </p:bg>
    <p:spTree>
      <p:nvGrpSpPr>
        <p:cNvPr id="1" name=""/>
        <p:cNvGrpSpPr/>
        <p:nvPr/>
      </p:nvGrpSpPr>
      <p:grpSpPr>
        <a:xfrm>
          <a:off x="0" y="0"/>
          <a:ext cx="0" cy="0"/>
          <a:chOff x="0" y="0"/>
          <a:chExt cx="0" cy="0"/>
        </a:xfrm>
      </p:grpSpPr>
      <p:pic>
        <p:nvPicPr>
          <p:cNvPr id="2" name="Image 0" descr="Subtle glassmorphism water reflection background"/>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86384" y="676656"/>
            <a:ext cx="10899648" cy="5349240"/>
          </a:xfrm>
          <a:prstGeom prst="roundRect">
            <a:avLst>
              <a:gd name="adj" fmla="val 2222"/>
            </a:avLst>
          </a:prstGeom>
          <a:solidFill>
            <a:srgbClr val="FFFFFF">
              <a:alpha val="90000"/>
            </a:srgbClr>
          </a:solidFill>
          <a:ln w="12700">
            <a:solidFill>
              <a:srgbClr val="FFFFFF">
                <a:alpha val="90000"/>
              </a:srgbClr>
            </a:solidFill>
            <a:prstDash val="solid"/>
          </a:ln>
          <a:effectLst>
            <a:outerShdw blurRad="254000" dist="25400" dir="2700000" algn="bl" rotWithShape="0">
              <a:srgbClr val="9AB2C3">
                <a:alpha val="13000"/>
              </a:srgbClr>
            </a:outerShdw>
          </a:effectLst>
        </p:spPr>
      </p:sp>
      <p:sp>
        <p:nvSpPr>
          <p:cNvPr id="4" name="Shape 1"/>
          <p:cNvSpPr/>
          <p:nvPr/>
        </p:nvSpPr>
        <p:spPr>
          <a:xfrm>
            <a:off x="832104" y="713232"/>
            <a:ext cx="1080820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5" name="Text 2"/>
          <p:cNvSpPr/>
          <p:nvPr/>
        </p:nvSpPr>
        <p:spPr>
          <a:xfrm>
            <a:off x="1097280" y="960120"/>
            <a:ext cx="1828800" cy="219456"/>
          </a:xfrm>
          <a:prstGeom prst="rect">
            <a:avLst/>
          </a:prstGeom>
          <a:noFill/>
          <a:ln/>
        </p:spPr>
        <p:txBody>
          <a:bodyPr wrap="square" lIns="0" tIns="0" rIns="0" bIns="0" rtlCol="0" anchor="t">
            <a:normAutofit/>
          </a:bodyPr>
          <a:lstStyle/>
          <a:p>
            <a:pPr marL="0" indent="0" algn="l">
              <a:buNone/>
            </a:pPr>
            <a:r>
              <a:rPr lang="en-US" sz="1300" b="1" kern="0" spc="80" dirty="0">
                <a:solidFill>
                  <a:srgbClr val="00A8C8"/>
                </a:solidFill>
                <a:latin typeface="Aptos" pitchFamily="34" charset="0"/>
                <a:ea typeface="Aptos" pitchFamily="34" charset="-122"/>
                <a:cs typeface="Aptos" pitchFamily="34" charset="-120"/>
              </a:rPr>
              <a:t>Future scope</a:t>
            </a:r>
            <a:endParaRPr lang="en-US" sz="1300" dirty="0"/>
          </a:p>
        </p:txBody>
      </p:sp>
      <p:sp>
        <p:nvSpPr>
          <p:cNvPr id="6" name="Text 3"/>
          <p:cNvSpPr/>
          <p:nvPr/>
        </p:nvSpPr>
        <p:spPr>
          <a:xfrm>
            <a:off x="1078992" y="1353312"/>
            <a:ext cx="3703320" cy="1389888"/>
          </a:xfrm>
          <a:prstGeom prst="rect">
            <a:avLst/>
          </a:prstGeom>
          <a:noFill/>
          <a:ln/>
        </p:spPr>
        <p:txBody>
          <a:bodyPr wrap="square" lIns="0" tIns="0" rIns="0" bIns="0" rtlCol="0" anchor="t">
            <a:normAutofit/>
          </a:bodyPr>
          <a:lstStyle/>
          <a:p>
            <a:pPr marL="0" indent="0" algn="l">
              <a:lnSpc>
                <a:spcPct val="86000"/>
              </a:lnSpc>
              <a:buNone/>
            </a:pPr>
            <a:r>
              <a:rPr lang="en-US" sz="2900" b="1" dirty="0">
                <a:solidFill>
                  <a:srgbClr val="102033"/>
                </a:solidFill>
                <a:latin typeface="Aptos Display" pitchFamily="34" charset="0"/>
                <a:ea typeface="Aptos Display" pitchFamily="34" charset="-122"/>
                <a:cs typeface="Aptos Display" pitchFamily="34" charset="-120"/>
              </a:rPr>
              <a:t>From batch analysis</a:t>
            </a:r>
            <a:endParaRPr lang="en-US" sz="2900" dirty="0"/>
          </a:p>
          <a:p>
            <a:pPr marL="0" indent="0" algn="l">
              <a:lnSpc>
                <a:spcPct val="86000"/>
              </a:lnSpc>
              <a:buNone/>
            </a:pPr>
            <a:r>
              <a:rPr lang="en-US" sz="2900" b="1" dirty="0">
                <a:solidFill>
                  <a:srgbClr val="102033"/>
                </a:solidFill>
                <a:latin typeface="Aptos Display" pitchFamily="34" charset="0"/>
                <a:ea typeface="Aptos Display" pitchFamily="34" charset="-122"/>
                <a:cs typeface="Aptos Display" pitchFamily="34" charset="-120"/>
              </a:rPr>
              <a:t>to real-time</a:t>
            </a:r>
            <a:endParaRPr lang="en-US" sz="2900" dirty="0"/>
          </a:p>
          <a:p>
            <a:pPr marL="0" indent="0" algn="l">
              <a:lnSpc>
                <a:spcPct val="86000"/>
              </a:lnSpc>
              <a:buNone/>
            </a:pPr>
            <a:r>
              <a:rPr lang="en-US" sz="2900" b="1" dirty="0">
                <a:solidFill>
                  <a:srgbClr val="102033"/>
                </a:solidFill>
                <a:latin typeface="Aptos Display" pitchFamily="34" charset="0"/>
                <a:ea typeface="Aptos Display" pitchFamily="34" charset="-122"/>
                <a:cs typeface="Aptos Display" pitchFamily="34" charset="-120"/>
              </a:rPr>
              <a:t>observability AI</a:t>
            </a:r>
            <a:endParaRPr lang="en-US" sz="2900" dirty="0"/>
          </a:p>
        </p:txBody>
      </p:sp>
      <p:sp>
        <p:nvSpPr>
          <p:cNvPr id="7" name="Text 4"/>
          <p:cNvSpPr/>
          <p:nvPr/>
        </p:nvSpPr>
        <p:spPr>
          <a:xfrm>
            <a:off x="1115568" y="4974336"/>
            <a:ext cx="1993392" cy="256032"/>
          </a:xfrm>
          <a:prstGeom prst="rect">
            <a:avLst/>
          </a:prstGeom>
          <a:noFill/>
          <a:ln/>
        </p:spPr>
        <p:txBody>
          <a:bodyPr wrap="square" lIns="0" tIns="0" rIns="0" bIns="0" rtlCol="0" anchor="t">
            <a:normAutofit fontScale="92500" lnSpcReduction="20000"/>
          </a:bodyPr>
          <a:lstStyle/>
          <a:p>
            <a:pPr marL="0" indent="0" algn="l">
              <a:buNone/>
            </a:pPr>
            <a:r>
              <a:rPr lang="en-US" sz="2000" b="1" dirty="0">
                <a:solidFill>
                  <a:srgbClr val="102033"/>
                </a:solidFill>
                <a:latin typeface="Aptos Display" pitchFamily="34" charset="0"/>
                <a:ea typeface="Aptos Display" pitchFamily="34" charset="-122"/>
                <a:cs typeface="Aptos Display" pitchFamily="34" charset="-120"/>
              </a:rPr>
              <a:t>Thank you</a:t>
            </a:r>
            <a:endParaRPr lang="en-US" sz="2000" dirty="0"/>
          </a:p>
        </p:txBody>
      </p:sp>
      <p:sp>
        <p:nvSpPr>
          <p:cNvPr id="8" name="Text 5"/>
          <p:cNvSpPr/>
          <p:nvPr/>
        </p:nvSpPr>
        <p:spPr>
          <a:xfrm>
            <a:off x="1133856" y="5376672"/>
            <a:ext cx="1298448" cy="128016"/>
          </a:xfrm>
          <a:prstGeom prst="rect">
            <a:avLst/>
          </a:prstGeom>
          <a:noFill/>
          <a:ln/>
        </p:spPr>
        <p:txBody>
          <a:bodyPr wrap="square" lIns="0" tIns="0" rIns="0" bIns="0" rtlCol="0" anchor="t">
            <a:normAutofit/>
          </a:bodyPr>
          <a:lstStyle/>
          <a:p>
            <a:pPr marL="0" indent="0" algn="l">
              <a:buNone/>
            </a:pPr>
            <a:r>
              <a:rPr lang="en-US" sz="820" b="1" kern="0" spc="100" dirty="0">
                <a:solidFill>
                  <a:srgbClr val="00A8C8"/>
                </a:solidFill>
                <a:latin typeface="Aptos" pitchFamily="34" charset="0"/>
                <a:ea typeface="Aptos" pitchFamily="34" charset="-122"/>
                <a:cs typeface="Aptos" pitchFamily="34" charset="-120"/>
              </a:rPr>
              <a:t>LogInsight AI</a:t>
            </a:r>
            <a:endParaRPr lang="en-US" sz="820" dirty="0"/>
          </a:p>
        </p:txBody>
      </p:sp>
      <p:sp>
        <p:nvSpPr>
          <p:cNvPr id="9" name="Shape 6"/>
          <p:cNvSpPr/>
          <p:nvPr/>
        </p:nvSpPr>
        <p:spPr>
          <a:xfrm>
            <a:off x="5687568" y="1298448"/>
            <a:ext cx="5230368" cy="4261104"/>
          </a:xfrm>
          <a:prstGeom prst="roundRect">
            <a:avLst>
              <a:gd name="adj" fmla="val 2790"/>
            </a:avLst>
          </a:prstGeom>
          <a:solidFill>
            <a:srgbClr val="FFFFFF">
              <a:alpha val="88000"/>
            </a:srgbClr>
          </a:solidFill>
          <a:ln w="12700">
            <a:solidFill>
              <a:srgbClr val="FFFFFF">
                <a:alpha val="90000"/>
              </a:srgbClr>
            </a:solidFill>
            <a:prstDash val="solid"/>
          </a:ln>
          <a:effectLst>
            <a:outerShdw blurRad="203200" dist="25400" dir="2700000" algn="bl" rotWithShape="0">
              <a:srgbClr val="9AB2C3">
                <a:alpha val="13000"/>
              </a:srgbClr>
            </a:outerShdw>
          </a:effectLst>
        </p:spPr>
      </p:sp>
      <p:sp>
        <p:nvSpPr>
          <p:cNvPr id="10" name="Shape 7"/>
          <p:cNvSpPr/>
          <p:nvPr/>
        </p:nvSpPr>
        <p:spPr>
          <a:xfrm>
            <a:off x="5733288" y="1335024"/>
            <a:ext cx="5138928"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1" name="Text 8"/>
          <p:cNvSpPr/>
          <p:nvPr/>
        </p:nvSpPr>
        <p:spPr>
          <a:xfrm>
            <a:off x="6016752" y="1600200"/>
            <a:ext cx="1261872" cy="201168"/>
          </a:xfrm>
          <a:prstGeom prst="rect">
            <a:avLst/>
          </a:prstGeom>
          <a:noFill/>
          <a:ln/>
        </p:spPr>
        <p:txBody>
          <a:bodyPr wrap="square" lIns="0" tIns="0" rIns="0" bIns="0" rtlCol="0" anchor="t">
            <a:normAutofit lnSpcReduction="10000"/>
          </a:bodyPr>
          <a:lstStyle/>
          <a:p>
            <a:pPr marL="0" indent="0" algn="l">
              <a:buNone/>
            </a:pPr>
            <a:r>
              <a:rPr lang="en-US" sz="1360" b="1" dirty="0">
                <a:solidFill>
                  <a:srgbClr val="00A8C8"/>
                </a:solidFill>
                <a:latin typeface="Aptos Display" pitchFamily="34" charset="0"/>
                <a:ea typeface="Aptos Display" pitchFamily="34" charset="-122"/>
                <a:cs typeface="Aptos Display" pitchFamily="34" charset="-120"/>
              </a:rPr>
              <a:t>Roadmap</a:t>
            </a:r>
            <a:endParaRPr lang="en-US" sz="1360" dirty="0"/>
          </a:p>
        </p:txBody>
      </p:sp>
      <p:sp>
        <p:nvSpPr>
          <p:cNvPr id="12" name="Shape 9"/>
          <p:cNvSpPr/>
          <p:nvPr/>
        </p:nvSpPr>
        <p:spPr>
          <a:xfrm>
            <a:off x="6199632" y="2121408"/>
            <a:ext cx="0" cy="2971800"/>
          </a:xfrm>
          <a:prstGeom prst="line">
            <a:avLst/>
          </a:prstGeom>
          <a:noFill/>
          <a:ln w="17780">
            <a:solidFill>
              <a:srgbClr val="D7E7F0">
                <a:alpha val="90000"/>
              </a:srgbClr>
            </a:solidFill>
            <a:prstDash val="solid"/>
          </a:ln>
        </p:spPr>
      </p:sp>
      <p:sp>
        <p:nvSpPr>
          <p:cNvPr id="13" name="Shape 10"/>
          <p:cNvSpPr/>
          <p:nvPr/>
        </p:nvSpPr>
        <p:spPr>
          <a:xfrm>
            <a:off x="6080760" y="2139696"/>
            <a:ext cx="237744" cy="237744"/>
          </a:xfrm>
          <a:prstGeom prst="ellipse">
            <a:avLst/>
          </a:prstGeom>
          <a:solidFill>
            <a:srgbClr val="00A8C8"/>
          </a:solidFill>
          <a:ln w="12700">
            <a:solidFill>
              <a:srgbClr val="00A8C8"/>
            </a:solidFill>
            <a:prstDash val="solid"/>
          </a:ln>
        </p:spPr>
      </p:sp>
      <p:sp>
        <p:nvSpPr>
          <p:cNvPr id="14" name="Shape 11"/>
          <p:cNvSpPr/>
          <p:nvPr/>
        </p:nvSpPr>
        <p:spPr>
          <a:xfrm>
            <a:off x="6446520" y="1975104"/>
            <a:ext cx="3986784" cy="512064"/>
          </a:xfrm>
          <a:prstGeom prst="roundRect">
            <a:avLst>
              <a:gd name="adj" fmla="val 23214"/>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15" name="Shape 12"/>
          <p:cNvSpPr/>
          <p:nvPr/>
        </p:nvSpPr>
        <p:spPr>
          <a:xfrm>
            <a:off x="6492240" y="2011680"/>
            <a:ext cx="3895344"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16" name="Shape 13"/>
          <p:cNvSpPr/>
          <p:nvPr/>
        </p:nvSpPr>
        <p:spPr>
          <a:xfrm>
            <a:off x="6601968" y="2084832"/>
            <a:ext cx="301752" cy="30175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17" name="Image 1" descr="wave icon"/>
          <p:cNvPicPr>
            <a:picLocks noChangeAspect="1"/>
          </p:cNvPicPr>
          <p:nvPr/>
        </p:nvPicPr>
        <p:blipFill>
          <a:blip r:embed="rId4"/>
          <a:stretch>
            <a:fillRect/>
          </a:stretch>
        </p:blipFill>
        <p:spPr>
          <a:xfrm>
            <a:off x="6668353" y="2151217"/>
            <a:ext cx="168981" cy="168981"/>
          </a:xfrm>
          <a:prstGeom prst="rect">
            <a:avLst/>
          </a:prstGeom>
        </p:spPr>
      </p:pic>
      <p:sp>
        <p:nvSpPr>
          <p:cNvPr id="18" name="Text 14"/>
          <p:cNvSpPr/>
          <p:nvPr/>
        </p:nvSpPr>
        <p:spPr>
          <a:xfrm>
            <a:off x="7059168" y="2075688"/>
            <a:ext cx="2103120" cy="11887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Real-time log streaming</a:t>
            </a:r>
            <a:endParaRPr lang="en-US" sz="1400" dirty="0"/>
          </a:p>
        </p:txBody>
      </p:sp>
      <p:sp>
        <p:nvSpPr>
          <p:cNvPr id="19" name="Text 15"/>
          <p:cNvSpPr/>
          <p:nvPr/>
        </p:nvSpPr>
        <p:spPr>
          <a:xfrm>
            <a:off x="9235440" y="2084832"/>
            <a:ext cx="786384" cy="91440"/>
          </a:xfrm>
          <a:prstGeom prst="rect">
            <a:avLst/>
          </a:prstGeom>
          <a:noFill/>
          <a:ln/>
        </p:spPr>
        <p:txBody>
          <a:bodyPr wrap="square" lIns="0" tIns="0" rIns="0" bIns="0" rtlCol="0" anchor="t">
            <a:noAutofit/>
          </a:bodyPr>
          <a:lstStyle/>
          <a:p>
            <a:pPr marL="0" indent="0" algn="r">
              <a:buNone/>
            </a:pPr>
            <a:r>
              <a:rPr lang="en-US" sz="1100" dirty="0">
                <a:solidFill>
                  <a:srgbClr val="64748B"/>
                </a:solidFill>
                <a:latin typeface="Aptos" pitchFamily="34" charset="0"/>
                <a:ea typeface="Aptos" pitchFamily="34" charset="-122"/>
                <a:cs typeface="Aptos" pitchFamily="34" charset="-120"/>
              </a:rPr>
              <a:t>WebSocket</a:t>
            </a:r>
            <a:endParaRPr lang="en-US" sz="1100" dirty="0"/>
          </a:p>
        </p:txBody>
      </p:sp>
      <p:sp>
        <p:nvSpPr>
          <p:cNvPr id="20" name="Shape 16"/>
          <p:cNvSpPr/>
          <p:nvPr/>
        </p:nvSpPr>
        <p:spPr>
          <a:xfrm>
            <a:off x="6080760" y="2770632"/>
            <a:ext cx="237744" cy="237744"/>
          </a:xfrm>
          <a:prstGeom prst="ellipse">
            <a:avLst/>
          </a:prstGeom>
          <a:solidFill>
            <a:srgbClr val="8B5CF6"/>
          </a:solidFill>
          <a:ln w="12700">
            <a:solidFill>
              <a:srgbClr val="8B5CF6"/>
            </a:solidFill>
            <a:prstDash val="solid"/>
          </a:ln>
        </p:spPr>
      </p:sp>
      <p:sp>
        <p:nvSpPr>
          <p:cNvPr id="21" name="Shape 17"/>
          <p:cNvSpPr/>
          <p:nvPr/>
        </p:nvSpPr>
        <p:spPr>
          <a:xfrm>
            <a:off x="6446520" y="2606040"/>
            <a:ext cx="3986784" cy="512064"/>
          </a:xfrm>
          <a:prstGeom prst="roundRect">
            <a:avLst>
              <a:gd name="adj" fmla="val 23214"/>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22" name="Shape 18"/>
          <p:cNvSpPr/>
          <p:nvPr/>
        </p:nvSpPr>
        <p:spPr>
          <a:xfrm>
            <a:off x="6492240" y="2642616"/>
            <a:ext cx="3895344"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23" name="Shape 19"/>
          <p:cNvSpPr/>
          <p:nvPr/>
        </p:nvSpPr>
        <p:spPr>
          <a:xfrm>
            <a:off x="6601968" y="2715768"/>
            <a:ext cx="301752" cy="30175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24" name="Image 2" descr="flow icon"/>
          <p:cNvPicPr>
            <a:picLocks noChangeAspect="1"/>
          </p:cNvPicPr>
          <p:nvPr/>
        </p:nvPicPr>
        <p:blipFill>
          <a:blip r:embed="rId5"/>
          <a:stretch>
            <a:fillRect/>
          </a:stretch>
        </p:blipFill>
        <p:spPr>
          <a:xfrm>
            <a:off x="6668353" y="2782153"/>
            <a:ext cx="168981" cy="168981"/>
          </a:xfrm>
          <a:prstGeom prst="rect">
            <a:avLst/>
          </a:prstGeom>
        </p:spPr>
      </p:pic>
      <p:sp>
        <p:nvSpPr>
          <p:cNvPr id="25" name="Text 20"/>
          <p:cNvSpPr/>
          <p:nvPr/>
        </p:nvSpPr>
        <p:spPr>
          <a:xfrm>
            <a:off x="7059168" y="2706624"/>
            <a:ext cx="2103120" cy="11887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Cross-service correlation</a:t>
            </a:r>
            <a:endParaRPr lang="en-US" sz="1400" dirty="0"/>
          </a:p>
        </p:txBody>
      </p:sp>
      <p:sp>
        <p:nvSpPr>
          <p:cNvPr id="26" name="Text 21"/>
          <p:cNvSpPr/>
          <p:nvPr/>
        </p:nvSpPr>
        <p:spPr>
          <a:xfrm>
            <a:off x="9235440" y="2715768"/>
            <a:ext cx="786384" cy="91440"/>
          </a:xfrm>
          <a:prstGeom prst="rect">
            <a:avLst/>
          </a:prstGeom>
          <a:noFill/>
          <a:ln/>
        </p:spPr>
        <p:txBody>
          <a:bodyPr wrap="square" lIns="0" tIns="0" rIns="0" bIns="0" rtlCol="0" anchor="t">
            <a:noAutofit/>
          </a:bodyPr>
          <a:lstStyle/>
          <a:p>
            <a:pPr marL="0" indent="0" algn="r">
              <a:buNone/>
            </a:pPr>
            <a:r>
              <a:rPr lang="en-US" sz="1100" dirty="0">
                <a:solidFill>
                  <a:srgbClr val="64748B"/>
                </a:solidFill>
                <a:latin typeface="Aptos" pitchFamily="34" charset="0"/>
                <a:ea typeface="Aptos" pitchFamily="34" charset="-122"/>
                <a:cs typeface="Aptos" pitchFamily="34" charset="-120"/>
              </a:rPr>
              <a:t>multi-file</a:t>
            </a:r>
            <a:endParaRPr lang="en-US" sz="1100" dirty="0"/>
          </a:p>
        </p:txBody>
      </p:sp>
      <p:sp>
        <p:nvSpPr>
          <p:cNvPr id="27" name="Shape 22"/>
          <p:cNvSpPr/>
          <p:nvPr/>
        </p:nvSpPr>
        <p:spPr>
          <a:xfrm>
            <a:off x="6080760" y="3401568"/>
            <a:ext cx="237744" cy="237744"/>
          </a:xfrm>
          <a:prstGeom prst="ellipse">
            <a:avLst/>
          </a:prstGeom>
          <a:solidFill>
            <a:srgbClr val="10B981"/>
          </a:solidFill>
          <a:ln w="12700">
            <a:solidFill>
              <a:srgbClr val="10B981"/>
            </a:solidFill>
            <a:prstDash val="solid"/>
          </a:ln>
        </p:spPr>
      </p:sp>
      <p:sp>
        <p:nvSpPr>
          <p:cNvPr id="28" name="Shape 23"/>
          <p:cNvSpPr/>
          <p:nvPr/>
        </p:nvSpPr>
        <p:spPr>
          <a:xfrm>
            <a:off x="6446520" y="3236976"/>
            <a:ext cx="3986784" cy="512064"/>
          </a:xfrm>
          <a:prstGeom prst="roundRect">
            <a:avLst>
              <a:gd name="adj" fmla="val 23214"/>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29" name="Shape 24"/>
          <p:cNvSpPr/>
          <p:nvPr/>
        </p:nvSpPr>
        <p:spPr>
          <a:xfrm>
            <a:off x="6492240" y="3273552"/>
            <a:ext cx="3895344"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0" name="Shape 25"/>
          <p:cNvSpPr/>
          <p:nvPr/>
        </p:nvSpPr>
        <p:spPr>
          <a:xfrm>
            <a:off x="6601968" y="3346704"/>
            <a:ext cx="301752" cy="30175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31" name="Image 3" descr="code icon"/>
          <p:cNvPicPr>
            <a:picLocks noChangeAspect="1"/>
          </p:cNvPicPr>
          <p:nvPr/>
        </p:nvPicPr>
        <p:blipFill>
          <a:blip r:embed="rId6"/>
          <a:stretch>
            <a:fillRect/>
          </a:stretch>
        </p:blipFill>
        <p:spPr>
          <a:xfrm>
            <a:off x="6668353" y="3413089"/>
            <a:ext cx="168981" cy="168981"/>
          </a:xfrm>
          <a:prstGeom prst="rect">
            <a:avLst/>
          </a:prstGeom>
        </p:spPr>
      </p:pic>
      <p:sp>
        <p:nvSpPr>
          <p:cNvPr id="32" name="Text 26"/>
          <p:cNvSpPr/>
          <p:nvPr/>
        </p:nvSpPr>
        <p:spPr>
          <a:xfrm>
            <a:off x="7059168" y="3337560"/>
            <a:ext cx="2103120" cy="11887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Custom rule builder</a:t>
            </a:r>
            <a:endParaRPr lang="en-US" sz="1400" dirty="0"/>
          </a:p>
        </p:txBody>
      </p:sp>
      <p:sp>
        <p:nvSpPr>
          <p:cNvPr id="33" name="Text 27"/>
          <p:cNvSpPr/>
          <p:nvPr/>
        </p:nvSpPr>
        <p:spPr>
          <a:xfrm>
            <a:off x="9235440" y="3346704"/>
            <a:ext cx="786384" cy="91440"/>
          </a:xfrm>
          <a:prstGeom prst="rect">
            <a:avLst/>
          </a:prstGeom>
          <a:noFill/>
          <a:ln/>
        </p:spPr>
        <p:txBody>
          <a:bodyPr wrap="square" lIns="0" tIns="0" rIns="0" bIns="0" rtlCol="0" anchor="t">
            <a:noAutofit/>
          </a:bodyPr>
          <a:lstStyle/>
          <a:p>
            <a:pPr marL="0" indent="0" algn="r">
              <a:buNone/>
            </a:pPr>
            <a:r>
              <a:rPr lang="en-US" sz="1100" dirty="0">
                <a:solidFill>
                  <a:srgbClr val="64748B"/>
                </a:solidFill>
                <a:latin typeface="Aptos" pitchFamily="34" charset="0"/>
                <a:ea typeface="Aptos" pitchFamily="34" charset="-122"/>
                <a:cs typeface="Aptos" pitchFamily="34" charset="-120"/>
              </a:rPr>
              <a:t>security + ops</a:t>
            </a:r>
            <a:endParaRPr lang="en-US" sz="1100" dirty="0"/>
          </a:p>
        </p:txBody>
      </p:sp>
      <p:sp>
        <p:nvSpPr>
          <p:cNvPr id="34" name="Shape 28"/>
          <p:cNvSpPr/>
          <p:nvPr/>
        </p:nvSpPr>
        <p:spPr>
          <a:xfrm>
            <a:off x="6080760" y="4032504"/>
            <a:ext cx="237744" cy="237744"/>
          </a:xfrm>
          <a:prstGeom prst="ellipse">
            <a:avLst/>
          </a:prstGeom>
          <a:solidFill>
            <a:srgbClr val="F59E0B"/>
          </a:solidFill>
          <a:ln w="12700">
            <a:solidFill>
              <a:srgbClr val="F59E0B"/>
            </a:solidFill>
            <a:prstDash val="solid"/>
          </a:ln>
        </p:spPr>
      </p:sp>
      <p:sp>
        <p:nvSpPr>
          <p:cNvPr id="35" name="Shape 29"/>
          <p:cNvSpPr/>
          <p:nvPr/>
        </p:nvSpPr>
        <p:spPr>
          <a:xfrm>
            <a:off x="6446520" y="3867912"/>
            <a:ext cx="3986784" cy="512064"/>
          </a:xfrm>
          <a:prstGeom prst="roundRect">
            <a:avLst>
              <a:gd name="adj" fmla="val 23214"/>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36" name="Shape 30"/>
          <p:cNvSpPr/>
          <p:nvPr/>
        </p:nvSpPr>
        <p:spPr>
          <a:xfrm>
            <a:off x="6492240" y="3904488"/>
            <a:ext cx="3895344"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37" name="Shape 31"/>
          <p:cNvSpPr/>
          <p:nvPr/>
        </p:nvSpPr>
        <p:spPr>
          <a:xfrm>
            <a:off x="6601968" y="3977640"/>
            <a:ext cx="301752" cy="30175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38" name="Image 4" descr="chart icon"/>
          <p:cNvPicPr>
            <a:picLocks noChangeAspect="1"/>
          </p:cNvPicPr>
          <p:nvPr/>
        </p:nvPicPr>
        <p:blipFill>
          <a:blip r:embed="rId7"/>
          <a:stretch>
            <a:fillRect/>
          </a:stretch>
        </p:blipFill>
        <p:spPr>
          <a:xfrm>
            <a:off x="6668353" y="4044025"/>
            <a:ext cx="168981" cy="168981"/>
          </a:xfrm>
          <a:prstGeom prst="rect">
            <a:avLst/>
          </a:prstGeom>
        </p:spPr>
      </p:pic>
      <p:sp>
        <p:nvSpPr>
          <p:cNvPr id="39" name="Text 32"/>
          <p:cNvSpPr/>
          <p:nvPr/>
        </p:nvSpPr>
        <p:spPr>
          <a:xfrm>
            <a:off x="7059168" y="3968496"/>
            <a:ext cx="2103120" cy="11887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Historical dashboard</a:t>
            </a:r>
            <a:endParaRPr lang="en-US" sz="1400" dirty="0"/>
          </a:p>
        </p:txBody>
      </p:sp>
      <p:sp>
        <p:nvSpPr>
          <p:cNvPr id="40" name="Text 33"/>
          <p:cNvSpPr/>
          <p:nvPr/>
        </p:nvSpPr>
        <p:spPr>
          <a:xfrm>
            <a:off x="9235440" y="3977640"/>
            <a:ext cx="786384" cy="91440"/>
          </a:xfrm>
          <a:prstGeom prst="rect">
            <a:avLst/>
          </a:prstGeom>
          <a:noFill/>
          <a:ln/>
        </p:spPr>
        <p:txBody>
          <a:bodyPr wrap="square" lIns="0" tIns="0" rIns="0" bIns="0" rtlCol="0" anchor="t">
            <a:noAutofit/>
          </a:bodyPr>
          <a:lstStyle/>
          <a:p>
            <a:pPr marL="0" indent="0" algn="r">
              <a:buNone/>
            </a:pPr>
            <a:r>
              <a:rPr lang="en-US" sz="1100" dirty="0">
                <a:solidFill>
                  <a:srgbClr val="64748B"/>
                </a:solidFill>
                <a:latin typeface="Aptos" pitchFamily="34" charset="0"/>
                <a:ea typeface="Aptos" pitchFamily="34" charset="-122"/>
                <a:cs typeface="Aptos" pitchFamily="34" charset="-120"/>
              </a:rPr>
              <a:t>trend insight</a:t>
            </a:r>
            <a:endParaRPr lang="en-US" sz="1100" dirty="0"/>
          </a:p>
        </p:txBody>
      </p:sp>
      <p:sp>
        <p:nvSpPr>
          <p:cNvPr id="41" name="Shape 34"/>
          <p:cNvSpPr/>
          <p:nvPr/>
        </p:nvSpPr>
        <p:spPr>
          <a:xfrm>
            <a:off x="6080760" y="4663440"/>
            <a:ext cx="237744" cy="237744"/>
          </a:xfrm>
          <a:prstGeom prst="ellipse">
            <a:avLst/>
          </a:prstGeom>
          <a:solidFill>
            <a:srgbClr val="FF6B6B"/>
          </a:solidFill>
          <a:ln w="12700">
            <a:solidFill>
              <a:srgbClr val="FF6B6B"/>
            </a:solidFill>
            <a:prstDash val="solid"/>
          </a:ln>
        </p:spPr>
      </p:sp>
      <p:sp>
        <p:nvSpPr>
          <p:cNvPr id="42" name="Shape 35"/>
          <p:cNvSpPr/>
          <p:nvPr/>
        </p:nvSpPr>
        <p:spPr>
          <a:xfrm>
            <a:off x="6446520" y="4498848"/>
            <a:ext cx="3986784" cy="512064"/>
          </a:xfrm>
          <a:prstGeom prst="roundRect">
            <a:avLst>
              <a:gd name="adj" fmla="val 23214"/>
            </a:avLst>
          </a:prstGeom>
          <a:solidFill>
            <a:srgbClr val="FFFFFF">
              <a:alpha val="93000"/>
            </a:srgbClr>
          </a:solidFill>
          <a:ln w="12700">
            <a:solidFill>
              <a:srgbClr val="FFFFFF">
                <a:alpha val="90000"/>
              </a:srgbClr>
            </a:solidFill>
            <a:prstDash val="solid"/>
          </a:ln>
          <a:effectLst>
            <a:outerShdw blurRad="114300" dist="25400" dir="2700000" algn="bl" rotWithShape="0">
              <a:srgbClr val="9AB2C3">
                <a:alpha val="13000"/>
              </a:srgbClr>
            </a:outerShdw>
          </a:effectLst>
        </p:spPr>
      </p:sp>
      <p:sp>
        <p:nvSpPr>
          <p:cNvPr id="43" name="Shape 36"/>
          <p:cNvSpPr/>
          <p:nvPr/>
        </p:nvSpPr>
        <p:spPr>
          <a:xfrm>
            <a:off x="6492240" y="4535424"/>
            <a:ext cx="3895344" cy="32004"/>
          </a:xfrm>
          <a:prstGeom prst="roundRect">
            <a:avLst>
              <a:gd name="adj" fmla="val 57143"/>
            </a:avLst>
          </a:prstGeom>
          <a:solidFill>
            <a:srgbClr val="FFFFFF">
              <a:alpha val="64000"/>
            </a:srgbClr>
          </a:solidFill>
          <a:ln w="12700">
            <a:solidFill>
              <a:srgbClr val="FFFFFF">
                <a:alpha val="0"/>
              </a:srgbClr>
            </a:solidFill>
            <a:prstDash val="solid"/>
          </a:ln>
        </p:spPr>
      </p:sp>
      <p:sp>
        <p:nvSpPr>
          <p:cNvPr id="44" name="Shape 37"/>
          <p:cNvSpPr/>
          <p:nvPr/>
        </p:nvSpPr>
        <p:spPr>
          <a:xfrm>
            <a:off x="6601968" y="4608576"/>
            <a:ext cx="301752" cy="301752"/>
          </a:xfrm>
          <a:prstGeom prst="ellipse">
            <a:avLst/>
          </a:prstGeom>
          <a:solidFill>
            <a:srgbClr val="F4FB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45" name="Image 5" descr="spark icon"/>
          <p:cNvPicPr>
            <a:picLocks noChangeAspect="1"/>
          </p:cNvPicPr>
          <p:nvPr/>
        </p:nvPicPr>
        <p:blipFill>
          <a:blip r:embed="rId8"/>
          <a:stretch>
            <a:fillRect/>
          </a:stretch>
        </p:blipFill>
        <p:spPr>
          <a:xfrm>
            <a:off x="6668353" y="4674961"/>
            <a:ext cx="168981" cy="168981"/>
          </a:xfrm>
          <a:prstGeom prst="rect">
            <a:avLst/>
          </a:prstGeom>
        </p:spPr>
      </p:pic>
      <p:sp>
        <p:nvSpPr>
          <p:cNvPr id="46" name="Text 38"/>
          <p:cNvSpPr/>
          <p:nvPr/>
        </p:nvSpPr>
        <p:spPr>
          <a:xfrm>
            <a:off x="7059168" y="4599432"/>
            <a:ext cx="2103120" cy="118872"/>
          </a:xfrm>
          <a:prstGeom prst="rect">
            <a:avLst/>
          </a:prstGeom>
          <a:noFill/>
          <a:ln/>
        </p:spPr>
        <p:txBody>
          <a:bodyPr wrap="square" lIns="0" tIns="0" rIns="0" bIns="0" rtlCol="0" anchor="t">
            <a:noAutofit/>
          </a:bodyPr>
          <a:lstStyle/>
          <a:p>
            <a:pPr marL="0" indent="0" algn="l">
              <a:buNone/>
            </a:pPr>
            <a:r>
              <a:rPr lang="en-US" sz="1400" b="1" dirty="0">
                <a:solidFill>
                  <a:srgbClr val="102033"/>
                </a:solidFill>
                <a:latin typeface="Aptos" pitchFamily="34" charset="0"/>
                <a:ea typeface="Aptos" pitchFamily="34" charset="-122"/>
                <a:cs typeface="Aptos" pitchFamily="34" charset="-120"/>
              </a:rPr>
              <a:t>PDF/JSON export</a:t>
            </a:r>
            <a:endParaRPr lang="en-US" sz="1400" dirty="0"/>
          </a:p>
        </p:txBody>
      </p:sp>
      <p:sp>
        <p:nvSpPr>
          <p:cNvPr id="47" name="Text 39"/>
          <p:cNvSpPr/>
          <p:nvPr/>
        </p:nvSpPr>
        <p:spPr>
          <a:xfrm>
            <a:off x="9235440" y="4608576"/>
            <a:ext cx="786384" cy="91440"/>
          </a:xfrm>
          <a:prstGeom prst="rect">
            <a:avLst/>
          </a:prstGeom>
          <a:noFill/>
          <a:ln/>
        </p:spPr>
        <p:txBody>
          <a:bodyPr wrap="square" lIns="0" tIns="0" rIns="0" bIns="0" rtlCol="0" anchor="t">
            <a:noAutofit/>
          </a:bodyPr>
          <a:lstStyle/>
          <a:p>
            <a:pPr marL="0" indent="0" algn="r">
              <a:buNone/>
            </a:pPr>
            <a:r>
              <a:rPr lang="en-US" sz="1200" dirty="0">
                <a:solidFill>
                  <a:srgbClr val="64748B"/>
                </a:solidFill>
                <a:latin typeface="Aptos" pitchFamily="34" charset="0"/>
                <a:ea typeface="Aptos" pitchFamily="34" charset="-122"/>
                <a:cs typeface="Aptos" pitchFamily="34" charset="-120"/>
              </a:rPr>
              <a:t>alerts</a:t>
            </a:r>
            <a:endParaRPr lang="en-US" sz="1200" dirty="0"/>
          </a:p>
        </p:txBody>
      </p:sp>
      <p:sp>
        <p:nvSpPr>
          <p:cNvPr id="48" name="Shape 40"/>
          <p:cNvSpPr/>
          <p:nvPr/>
        </p:nvSpPr>
        <p:spPr>
          <a:xfrm>
            <a:off x="9890608" y="1248156"/>
            <a:ext cx="822960" cy="822960"/>
          </a:xfrm>
          <a:prstGeom prst="ellipse">
            <a:avLst/>
          </a:prstGeom>
          <a:solidFill>
            <a:srgbClr val="ECFEFF">
              <a:alpha val="88000"/>
            </a:srgbClr>
          </a:solidFill>
          <a:ln w="12700">
            <a:solidFill>
              <a:srgbClr val="BFEFFF">
                <a:alpha val="76000"/>
              </a:srgbClr>
            </a:solidFill>
            <a:prstDash val="solid"/>
          </a:ln>
        </p:spPr>
      </p:sp>
      <p:sp>
        <p:nvSpPr>
          <p:cNvPr id="49" name="Shape 41"/>
          <p:cNvSpPr/>
          <p:nvPr/>
        </p:nvSpPr>
        <p:spPr>
          <a:xfrm>
            <a:off x="10021824" y="1477316"/>
            <a:ext cx="457200" cy="457200"/>
          </a:xfrm>
          <a:prstGeom prst="ellipse">
            <a:avLst/>
          </a:prstGeom>
          <a:solidFill>
            <a:srgbClr val="FFFFFF">
              <a:alpha val="96000"/>
            </a:srgbClr>
          </a:solidFill>
          <a:ln w="12700">
            <a:solidFill>
              <a:srgbClr val="FFFFFF">
                <a:alpha val="75000"/>
              </a:srgbClr>
            </a:solidFill>
            <a:prstDash val="solid"/>
          </a:ln>
          <a:effectLst>
            <a:outerShdw blurRad="114300" dist="12700" dir="2700000" algn="bl" rotWithShape="0">
              <a:srgbClr val="96AFC0">
                <a:alpha val="13000"/>
              </a:srgbClr>
            </a:outerShdw>
          </a:effectLst>
        </p:spPr>
      </p:sp>
      <p:pic>
        <p:nvPicPr>
          <p:cNvPr id="50" name="Image 6" descr="brain icon"/>
          <p:cNvPicPr>
            <a:picLocks noChangeAspect="1"/>
          </p:cNvPicPr>
          <p:nvPr/>
        </p:nvPicPr>
        <p:blipFill>
          <a:blip r:embed="rId9"/>
          <a:stretch>
            <a:fillRect/>
          </a:stretch>
        </p:blipFill>
        <p:spPr>
          <a:xfrm>
            <a:off x="10165623" y="1540764"/>
            <a:ext cx="256032" cy="256032"/>
          </a:xfrm>
          <a:prstGeom prst="rect">
            <a:avLst/>
          </a:prstGeom>
        </p:spPr>
      </p:pic>
      <p:sp>
        <p:nvSpPr>
          <p:cNvPr id="53" name="Text 44"/>
          <p:cNvSpPr/>
          <p:nvPr/>
        </p:nvSpPr>
        <p:spPr>
          <a:xfrm>
            <a:off x="10588752" y="6419088"/>
            <a:ext cx="411480" cy="182880"/>
          </a:xfrm>
          <a:prstGeom prst="rect">
            <a:avLst/>
          </a:prstGeom>
          <a:noFill/>
          <a:ln/>
        </p:spPr>
        <p:txBody>
          <a:bodyPr wrap="square" lIns="0" tIns="0" rIns="0" bIns="0" rtlCol="0" anchor="t">
            <a:normAutofit/>
          </a:bodyPr>
          <a:lstStyle/>
          <a:p>
            <a:pPr marL="0" indent="0" algn="r">
              <a:buNone/>
            </a:pPr>
            <a:r>
              <a:rPr lang="en-US" sz="780" b="1" dirty="0">
                <a:solidFill>
                  <a:srgbClr val="00A8C8"/>
                </a:solidFill>
                <a:latin typeface="Aptos" pitchFamily="34" charset="0"/>
                <a:ea typeface="Aptos" pitchFamily="34" charset="-122"/>
                <a:cs typeface="Aptos" pitchFamily="34" charset="-120"/>
              </a:rPr>
              <a:t>10</a:t>
            </a:r>
            <a:endParaRPr lang="en-US" sz="780" dirty="0"/>
          </a:p>
        </p:txBody>
      </p:sp>
      <p:sp>
        <p:nvSpPr>
          <p:cNvPr id="54" name="Text 45"/>
          <p:cNvSpPr/>
          <p:nvPr/>
        </p:nvSpPr>
        <p:spPr>
          <a:xfrm>
            <a:off x="11009376" y="6419088"/>
            <a:ext cx="402336" cy="182880"/>
          </a:xfrm>
          <a:prstGeom prst="rect">
            <a:avLst/>
          </a:prstGeom>
          <a:noFill/>
          <a:ln/>
        </p:spPr>
        <p:txBody>
          <a:bodyPr wrap="square" lIns="0" tIns="0" rIns="0" bIns="0" rtlCol="0" anchor="t">
            <a:normAutofit/>
          </a:bodyPr>
          <a:lstStyle/>
          <a:p>
            <a:pPr marL="0" indent="0" algn="l">
              <a:buNone/>
            </a:pPr>
            <a:r>
              <a:rPr lang="en-US" sz="780" dirty="0">
                <a:solidFill>
                  <a:srgbClr val="64748B"/>
                </a:solidFill>
                <a:latin typeface="Aptos" pitchFamily="34" charset="0"/>
                <a:ea typeface="Aptos" pitchFamily="34" charset="-122"/>
                <a:cs typeface="Aptos" pitchFamily="34" charset="-120"/>
              </a:rPr>
              <a:t>/ 10</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2224</Words>
  <Application>Microsoft Office PowerPoint</Application>
  <PresentationFormat>Widescreen</PresentationFormat>
  <Paragraphs>254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LogInsight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LogInsight AI - Final 10 Slides</dc:title>
  <dc:subject>AI-powered enterprise log analysis</dc:subject>
  <dc:creator>LogInsight AI</dc:creator>
  <cp:lastModifiedBy>shaik Mohammad</cp:lastModifiedBy>
  <cp:revision>5</cp:revision>
  <dcterms:created xsi:type="dcterms:W3CDTF">2026-04-28T10:49:03Z</dcterms:created>
  <dcterms:modified xsi:type="dcterms:W3CDTF">2026-04-28T12:53:07Z</dcterms:modified>
</cp:coreProperties>
</file>